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02" y="91"/>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86230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secondes. Se présenter, annoncer le titre du mémoire et la directrice. Ne pas commenter davantage : « Mesdames et Messieurs les membres du jury, je vais vous présenter mon travail de mémoire consacré à l'optimisation du dispatching camion-pelle en mine à ciel ouvert par apprentissage par renforcement.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secondes. Lire le plan sans le commenter. Annoncer une durée d'exposé de 15 à 20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clé : « le dispatching est la décision la plus fréquente et la plus coûteuse d'une mine ». Insister sur le contexte du Katanga : le transport représente 50 à 60 % des coûts opérationnels, chaque point de productivité gagné a un impact économique direct. Décrire le cycle sur la figure : la pelle charge, le camion transporte à pleine charge vers le concasseur ou la halde, revient à vide, et c'est à cet instant que la décision de dispatching est prise.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Passer les quatre heuristiques en revue rapidement, insister sur Nearest Shovel : le chiffre de 200 minutes d'attente sera repris dans les résultats high_load — c'est une connexion forte de l'exposé. Conclure : les méthodes statiques échouent quand l'environnement change ; c'est précisément la question de recherche.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Message : « l'idée centrale est de remplacer la règle fixe par un agent qui apprend ». Expliquer la boucle : état (files, positions, disponibilités) → action (affectation) → récompense (tonnage, équité, carburant). Formuler H1 explicitement, car toute la partie résultats y répondra. Transition : « pour construire cet agent, il faut d'abord modéliser le problème mathématiquement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Trois générations d'approches : la RO classique optimale mais statique ; les FMS industriels réactifs mais non prédictifs ; le RL récent, prometteur mais encore peu benchmarké. La littérature (Hazrathosseini &amp; Afrapoli) souligne que les cadres RL existants restent insuffisamment validés — d'où la valeur du protocole comparatif systématique de ce mémoire.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CRISP-RL est l'adaptation au RL de la démarche CRISP-DM : six phases itératives. Insister sur le fait que la démarche part des KPIs métier (tonnage horaire, équité entre pelles, litres par tonne) et les traduit en signal de récompense — c'est ce qui garantit que l'agent optimise des objectifs opérationnels réels et non une métrique abstraite. Le cycle est itératif : le diagnostic du signal de récompense (phase 6) a conduit à revenir en phase 1 pour ajouter le terme w4.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Question probable du jury : « pourquoi 147 features ? » — réponse : 12 camions × 7 positions one-hot = 84, plus files des 3 pelles et 2 dumps, disponibilités, temps courant et distances = 147. Souligner deux choix : (1) la normalisation min-max [0,1] indispensable au réseau de neurones ; (2) la stochasticité log-normale des trajets (σ = 0,12), qui reproduit la variabilité réelle des routes minières, plus les pannes uniformes 10–30 minutes. L'action ATTENDRE est essentielle : elle permet à l'agent de temporiser plutôt que d'alimenter une file saturée.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Décrire la topologie sur la figure : le yard à gauche, la jonction centrale J1, les trois pelles et les deux dumps. Les paramètres (distances, pentes, temps de cycle) proviennent de la littérature minière. Insister sur la validation formelle par check_env() de Gymnasium : l'environnement respecte le contrat de l'API standard, ce qui garantit la compatibilité avec Stable-Baselines3 et la reproductibilité.</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 slide de contribution originale, à maîtriser. Question quasi certaine : « comment avez-vous choisi w4 = 0,3 ? » Réponse : par diagnostic empirique (Tableau 5.4). Nous avons mesuré l'écart de récompense entre ATTENDRE et la meilleure action productive : sans w4, cet écart était inférieur à 6×10⁻⁴ — trop faible pour être exploité par la mise à jour TD, tout apprentissage tabulaire était impossible. Avec w4 = 0,3, le signal passe à 3,2×10⁻², soit un facteur ×53. Une valeur trop forte (w4 = 1,0) a été testée et rejetée : elle rend ATTENDRE artificiellement compétitive. C'est un exemple concret de reward shaping guidé par le diagnostic plutôt que par tâtonnement.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 « nous n'avons pas commencé par PPO ; nous y sommes arrivés après avoir testé et justifié chaque étape ». Cette progression est un choix méthodologique délibéré : elle permet d'isoler l'apport de chaque mécanisme (approximation par réseau, replay, clipping) et de répondre à la question « pourquoi le Deep RL plutôt que les méthodes tabulaires ? » avec des mesures plutôt que des arguments théoriques. Détails à donner à l'oral : (1) Tabulaire → Deep RL — l'espace d'état à 147 dimensions n'est pas discrétisable sans perte majeure d'information ; pour Q-Learning/SARSA nous avons dû le réduire à 6 features, soit 17 034 états effectifs. (2) DQN → PPO — instabilité off-policy en environnement fortement stochastique ; PPO borne ses mises à jour par clipping.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Les deux règles de mise à jour ne diffèrent que par la cible TD : max Q(s′,a′) pour Q-Learning (off-policy), Q(s′,a suivant) pour SARSA (on-policy). Hyperparamètres identiques pour garantir la comparabilité (α = 0,2, γ = 0,99, ε-greedy linéaire de 1,0 à 0,01, 30 000 épisodes). Pour rendre l'état tabulable, réduction à 6 features décisionnelles (attentes pelles/dumps + pelle la plus proche), soit 17 034 états effectivement visités. γ = 0,99 : les cycles camion sont longs, il faut valoriser les récompenses lointaines.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DQN approxime Q(s,a) par un MLP à deux couches cachées de 128 neurones. Les deux innovations qui rendent l'apprentissage stable : (1) l'experience replay — un buffer de 200 000 transitions d'où l'on tire des mini-batches aléatoires, ce qui casse la corrélation temporelle des échantillons consécutifs ; (2) le target network — une copie figée du réseau qui fournit les cibles, resynchronisée périodiquement, ce qui évite de poursuivre une cible mouvante. Budget : 2 millions de steps.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Question probable : « pourquoi PPO plutôt que DQN ? » Trois raisons : (1) on-policy, il apprend directement de ses interactions courantes, sans replay — mieux adapté aux dynamiques stochastiques ; (2) le clipped surrogate objective borne le ratio de probabilités dans [0,8 ; 1,2], donc aucune mise à jour ne peut détruire la politique ; (3) robustesse au réglage — les valeurs par défaut de Stable-Baselines3 suffisent. L'explained_variance de 0,999 signifie que le critique explique 99,9 % de la variance des retours : la convergence est confirmée. Exemple de clipping à donner si demandé : avec Â = +2,0 et r = 1,5, le terme non clippé vaudrait 3,0 mais le clipping le plafonne à 2,4.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Quatre modules découplés autour du simulateur : le même environnement sert aux heuristiques et aux agents RL, ce qui garantit une comparaison strictement équitable — mêmes graines aléatoires, mêmes perturbations, mêmes KPIs calculés par le module d'évaluation. Python, Gymnasium et Stable-Baselines3 : une pile standard qui rend le travail reproductible.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Le Match Factor est le ratio d'appariement flotte/pelles : 4,0 en nominal correspond à 12/3 = 4 camions par pelle. En high_load, il passe à 6,0 — la mine est en surcharge. En high_breakdown, la probabilité de panne par pas de décision passe de 2 % à 10 %. Chaque politique est évaluée sur 10 graines indépendantes (42 à 51), ce qui autorise des tests statistiques rigoureux : 240 simulations au total. Transition : « le protocole est en place — voici ce que ces 240 simulations ont produit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Chiffres à connaître par cœur : PPO 4 208,8 t/h, DQN 4 168,5 t/h, Fixed 4 074,0 t/h. La différence PPO–Fixed est statistiquement significative (test t de Welch unilatéral, t = 6,356, p = 3,0×10⁻⁶). Insister : ce ne serait pas remarquable de gagner en productivité en brûlant plus de carburant — or PPO consomme aussi 4,4 % de moins (0,0412 L/t contre 0,0431 ; DQN −6,0 %, t = −10,01, p &lt; 10⁻⁸). Deux critères améliorés simultanément : « H1 validée dans le scénario standard ». Précision honnête : Fixed bénéficie ici d'un Match Factor parfait (4 camions/pelle) — la comparaison est délibérément défavorable au RL.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Résultat nuancé, à assumer devant le jury. Oui, Fixed gagne en high_load (5 874,8 t/h) — mais c'est structurel : avec 18 camions et 3 pelles, le round-robin distribue exactement 6 camions par pelle, le Match Factor est parfait. Si le jury objecte « donc H1 est fausse », répondre : « Fixed gagne contre DQN de 3,6 %, mais DQN écrase Nearest Shovel de +1 725 t/h (t = 65,33, p ≈ 0) — c'est là que le RL justifie son existence ». Point d'honnêteté scientifique : PPO montre une variabilité élevée en surcharge (93,3 % d'actions ATTENDRE — l'agent temporise massivement face à la congestion) ; DQN, grâce au replay, reste stable (± 65 t/h contre ± 350 pour PPO).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Chiffres clés : DQN 3 991,8 t/h &gt; PPO 3 946,3 &gt; Fixed 3 860,5. C'est le scénario qui teste directement la promesse d'adaptativité : avec 10 % de probabilité de panne, l'affectation fixe gâche des trajets vers des pelles en panne, tandis que les agents réaffectent dynamiquement. Le gain carburant est le plus parlant : −7,4 % pour DQN (0,0416 L/t contre 0,0451). Les deux écarts sont significatifs (p = 1,3×10⁻⁵ et 2×10⁻⁶). Nuance de la figure : Fixed conserve les meilleurs temps d'attente (53 min contre 65 pour PPO) — un compromis productivité/réactivité à assumer. Conclusion du bloc résultats : « H1 validée dans 2 scénarios sur 3, sur la productivité ET le carburant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Deux niveaux de diagnostic. (1) Convergence : Q-Learning progresse de 155 à 175 de récompense cumulée (+12,5 %), SARSA plafonne à 145 — la supériorité off-policy est confirmée empiriquement ; côté Deep RL, l'explained_variance de PPO atteint 0,999. (2) Comportement décisionnel (§6.3.3) : DQN adopte une politique concentrée — 80,3 % de ses décisions sur 2 actions seulement — tandis que PPO diversifie sur les 7 actions. Si le jury demande « avez-vous regardé CE QUE font vos agents, pas seulement leurs scores ? », cette slide est la réponse. En high_load, PPO passe à 93,3 % d'ATTENDRE : l'agent temporise face à la surcharge, ce qui explique sa variabilité.</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Trois niveaux de preuve emboîtés. (1) L'ANOVA globale F(7,72) = 481,25, p &lt; 10⁻⁵⁶ : le choix de l'algorithme a un effet massif — 7 degrés de liberté inter-groupes (8 méthodes), 72 intra-groupes (8×10 − 8). (2) Le test t de Welch, choisi car il ne suppose pas l'égalité des variances entre méthodes : PPO &gt; Fixed avec p = 3×10⁻⁶. (3) Le post-hoc Tukey HSD contrôle l'erreur de type I sur l'ensemble des comparaisons par paires : il confirme la supériorité de PPO/DQN sur les heuristiques, et montre que PPO et DQN sont statistiquement équivalents entre eux (p = 0,799 en nominal, 0,813 en high_breakdown). Conclusion : les écarts observés ne sont pas dus au hasard des graines.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Cette matrice est la réponse honnête à H1 : validation partielle et différenciée. Question probable : « Fixed gagne en high_load — H1 est donc fausse ? » Réponse en deux temps : (1) c'est structurel — le Match Factor 18/3 = 6 est la configuration idéale pour un round-robin fixe ; la comparaison teste le RL dans les conditions les plus favorables à l'heuristique ; (2) même dans ce scénario, Fixed ne bat pas le RL sur le carburant, preuve que les agents sont plus efficaces dans leurs déplacements. Une validation totale et sans nuance aurait été suspecte ; cette lecture différenciée est un gage de rigueur.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Trois difficultés majeures, présentées avec leur résolution. La première — le signal de récompense non discriminant — a d'abord été un blocage complet de l'apprentissage tabulaire, avant de devenir la contribution la plus originale du mémoire. La deuxième illustre la limite fondamentale des méthodes tabulaires et justifie le passage au Deep RL. La troisième montre une lecture critique de nos propres agents : PPO n'est pas présenté comme une solution miracle, sa variabilité en surcharge est documentée et expliquée. Détails à donner à l'oral : (1) la récompense initiale à 3 termes produisait un ΔR inférieur à 6×10⁻⁴, le diagnostic empirique a conduit à l'ajout du terme w₄ = 0,3 qui multiplie le signal par 53 ; (2) l'extraction de 6 features décisionnelles a rendu l'état tabulable (17 034 états effectifs pour Q-Learning/SARSA) ; (3) l'analyse comportementale de PPO en high_load (93,3 % d'ATTENDRE) explique son écart-type élevé, d'où le choix de DQN comme alternative stable.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Trois limites honnêtes, chacune reliée à une perspective concrète. (1) La non-généralisation est en tension avec le mot « dynamique » du titre : c'est dit explicitement dans le mémoire (Limite 5) — les architectures à taille variable et le transfer learning sont les pistes. (2) Le dispatching séquentiel est une approximation assumée du « holistique » : l'agent traite un camion à la fois, comme les heuristiques, mais avec une observation globale de la flotte ; le MARL permettrait une optimisation véritablement simultanée. (3) Si le jury demande « pourquoi pas de données réelles ? » : Limite 7 explicite du mémoire, la validation terrain est l'étape naturelle suivante. Formule de clôture : « ces limites ne fragilisent pas les résultats, elles ouvrent les travaux futurs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Quatre apports vérifiables : un environnement de simulation réutilisable et conforme au standard Gymnasium ; quatre agents couvrant tout le spectre tabulaire → Deep RL ; un protocole de comparaison dont la validité statistique est complète ; et la contribution la plus originale — la calibration diagnostiquée du signal de récompense, qui a transformé un blocage technique en résultat scientifique.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final avec les chiffres forts : +1 725 t/h contre Nearest Shovel en surcharge, −7,4 % de carburant contre Fixed sous pannes, p = 3×10⁻⁶ en nominal. Ne pas dire simplement « merci » : regarder le jury, marquer une pause, et attendre les questions en silence.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8"/>
        </a:solidFill>
        <a:effectLst/>
      </p:bgPr>
    </p:bg>
    <p:spTree>
      <p:nvGrpSpPr>
        <p:cNvPr id="1" name=""/>
        <p:cNvGrpSpPr/>
        <p:nvPr/>
      </p:nvGrpSpPr>
      <p:grpSpPr>
        <a:xfrm>
          <a:off x="0" y="0"/>
          <a:ext cx="0" cy="0"/>
          <a:chOff x="0" y="0"/>
          <a:chExt cx="0" cy="0"/>
        </a:xfrm>
      </p:grpSpPr>
      <p:sp>
        <p:nvSpPr>
          <p:cNvPr id="2" name="Shape 0"/>
          <p:cNvSpPr/>
          <p:nvPr/>
        </p:nvSpPr>
        <p:spPr>
          <a:xfrm>
            <a:off x="7452360" y="-1554480"/>
            <a:ext cx="4023360" cy="4023360"/>
          </a:xfrm>
          <a:prstGeom prst="ellipse">
            <a:avLst/>
          </a:prstGeom>
          <a:solidFill>
            <a:srgbClr val="2A3A4D"/>
          </a:solidFill>
          <a:ln/>
        </p:spPr>
      </p:sp>
      <p:sp>
        <p:nvSpPr>
          <p:cNvPr id="3" name="Shape 1"/>
          <p:cNvSpPr/>
          <p:nvPr/>
        </p:nvSpPr>
        <p:spPr>
          <a:xfrm>
            <a:off x="-1463040" y="3794760"/>
            <a:ext cx="3291840" cy="3291840"/>
          </a:xfrm>
          <a:prstGeom prst="ellipse">
            <a:avLst/>
          </a:prstGeom>
          <a:solidFill>
            <a:srgbClr val="2A3A4D"/>
          </a:solidFill>
          <a:ln/>
        </p:spPr>
      </p:sp>
      <p:sp>
        <p:nvSpPr>
          <p:cNvPr id="4" name="Shape 2"/>
          <p:cNvSpPr/>
          <p:nvPr/>
        </p:nvSpPr>
        <p:spPr>
          <a:xfrm>
            <a:off x="4041648" y="292608"/>
            <a:ext cx="1060704" cy="1060704"/>
          </a:xfrm>
          <a:prstGeom prst="ellipse">
            <a:avLst/>
          </a:prstGeom>
          <a:solidFill>
            <a:srgbClr val="FFFFFF"/>
          </a:solidFill>
          <a:ln/>
        </p:spPr>
      </p:sp>
      <p:pic>
        <p:nvPicPr>
          <p:cNvPr id="5" name="Image 0" descr="logoudbl.png"/>
          <p:cNvPicPr>
            <a:picLocks noChangeAspect="1"/>
          </p:cNvPicPr>
          <p:nvPr/>
        </p:nvPicPr>
        <p:blipFill>
          <a:blip r:embed="rId3"/>
          <a:stretch>
            <a:fillRect/>
          </a:stretch>
        </p:blipFill>
        <p:spPr>
          <a:xfrm>
            <a:off x="4114800" y="365760"/>
            <a:ext cx="914400" cy="954157"/>
          </a:xfrm>
          <a:prstGeom prst="rect">
            <a:avLst/>
          </a:prstGeom>
        </p:spPr>
      </p:pic>
      <p:sp>
        <p:nvSpPr>
          <p:cNvPr id="6" name="Text 3"/>
          <p:cNvSpPr/>
          <p:nvPr/>
        </p:nvSpPr>
        <p:spPr>
          <a:xfrm>
            <a:off x="457200" y="1481328"/>
            <a:ext cx="8229600" cy="274320"/>
          </a:xfrm>
          <a:prstGeom prst="rect">
            <a:avLst/>
          </a:prstGeom>
          <a:noFill/>
          <a:ln/>
        </p:spPr>
        <p:txBody>
          <a:bodyPr wrap="square" lIns="0" tIns="0" rIns="0" bIns="0" rtlCol="0" anchor="ctr"/>
          <a:lstStyle/>
          <a:p>
            <a:pPr marL="0" indent="0" algn="ctr">
              <a:buNone/>
            </a:pPr>
            <a:r>
              <a:rPr lang="en-US" sz="1050" b="1" kern="0" spc="200" dirty="0">
                <a:solidFill>
                  <a:srgbClr val="C9A227"/>
                </a:solidFill>
                <a:latin typeface="Calibri" pitchFamily="34" charset="0"/>
                <a:ea typeface="Calibri" pitchFamily="34" charset="-122"/>
                <a:cs typeface="Calibri" pitchFamily="34" charset="-120"/>
              </a:rPr>
              <a:t>UNIVERSITÉ DON BOSCO DE LUBUMBASHI — FACULTÉ DES SCIENCES INFORMATIQUES</a:t>
            </a:r>
            <a:endParaRPr lang="en-US" sz="1050" dirty="0"/>
          </a:p>
        </p:txBody>
      </p:sp>
      <p:sp>
        <p:nvSpPr>
          <p:cNvPr id="7" name="Text 4"/>
          <p:cNvSpPr/>
          <p:nvPr/>
        </p:nvSpPr>
        <p:spPr>
          <a:xfrm>
            <a:off x="457200" y="1828800"/>
            <a:ext cx="8229600" cy="566928"/>
          </a:xfrm>
          <a:prstGeom prst="rect">
            <a:avLst/>
          </a:prstGeom>
          <a:noFill/>
          <a:ln/>
        </p:spPr>
        <p:txBody>
          <a:bodyPr wrap="square" lIns="0" tIns="0" rIns="0" bIns="0" rtlCol="0" anchor="ctr"/>
          <a:lstStyle/>
          <a:p>
            <a:pPr marL="0" indent="0" algn="ctr">
              <a:buNone/>
            </a:pPr>
            <a:r>
              <a:rPr lang="en-US" sz="3300" b="1" dirty="0">
                <a:solidFill>
                  <a:srgbClr val="FFFFFF"/>
                </a:solidFill>
                <a:latin typeface="Cambria" pitchFamily="34" charset="0"/>
                <a:ea typeface="Cambria" pitchFamily="34" charset="-122"/>
                <a:cs typeface="Cambria" pitchFamily="34" charset="-120"/>
              </a:rPr>
              <a:t>Au-delà des heuristiques statiques</a:t>
            </a:r>
            <a:endParaRPr lang="en-US" sz="3300" dirty="0"/>
          </a:p>
        </p:txBody>
      </p:sp>
      <p:sp>
        <p:nvSpPr>
          <p:cNvPr id="8" name="Text 5"/>
          <p:cNvSpPr/>
          <p:nvPr/>
        </p:nvSpPr>
        <p:spPr>
          <a:xfrm>
            <a:off x="1005840" y="2432304"/>
            <a:ext cx="7132320" cy="777240"/>
          </a:xfrm>
          <a:prstGeom prst="rect">
            <a:avLst/>
          </a:prstGeom>
          <a:noFill/>
          <a:ln/>
        </p:spPr>
        <p:txBody>
          <a:bodyPr wrap="square" lIns="0" tIns="0" rIns="0" bIns="0" rtlCol="0" anchor="ctr"/>
          <a:lstStyle/>
          <a:p>
            <a:pPr marL="0" indent="0" algn="ctr">
              <a:buNone/>
            </a:pPr>
            <a:r>
              <a:rPr lang="en-US" sz="1500" i="1" dirty="0">
                <a:solidFill>
                  <a:srgbClr val="D8C4B0"/>
                </a:solidFill>
                <a:latin typeface="Calibri" pitchFamily="34" charset="0"/>
                <a:ea typeface="Calibri" pitchFamily="34" charset="-122"/>
                <a:cs typeface="Calibri" pitchFamily="34" charset="-120"/>
              </a:rPr>
              <a:t>Conception et mise en œuvre d'un agent d'apprentissage par renforcement pour l'optimisation holistique et dynamique de la logistique minière</a:t>
            </a:r>
            <a:endParaRPr lang="en-US" sz="1500" dirty="0"/>
          </a:p>
        </p:txBody>
      </p:sp>
      <p:sp>
        <p:nvSpPr>
          <p:cNvPr id="9" name="Shape 6"/>
          <p:cNvSpPr/>
          <p:nvPr/>
        </p:nvSpPr>
        <p:spPr>
          <a:xfrm>
            <a:off x="3977640" y="3401568"/>
            <a:ext cx="1188720" cy="0"/>
          </a:xfrm>
          <a:prstGeom prst="line">
            <a:avLst/>
          </a:prstGeom>
          <a:noFill/>
          <a:ln w="25400">
            <a:solidFill>
              <a:srgbClr val="B4622D"/>
            </a:solidFill>
            <a:prstDash val="solid"/>
          </a:ln>
        </p:spPr>
      </p:sp>
      <p:sp>
        <p:nvSpPr>
          <p:cNvPr id="10" name="Text 7"/>
          <p:cNvSpPr/>
          <p:nvPr/>
        </p:nvSpPr>
        <p:spPr>
          <a:xfrm>
            <a:off x="457200" y="3547872"/>
            <a:ext cx="8229600" cy="292608"/>
          </a:xfrm>
          <a:prstGeom prst="rect">
            <a:avLst/>
          </a:prstGeom>
          <a:noFill/>
          <a:ln/>
        </p:spPr>
        <p:txBody>
          <a:bodyPr wrap="square" lIns="0" tIns="0" rIns="0" bIns="0" rtlCol="0" anchor="ctr"/>
          <a:lstStyle/>
          <a:p>
            <a:pPr marL="0" indent="0" algn="ctr">
              <a:buNone/>
            </a:pPr>
            <a:r>
              <a:rPr lang="en-US" sz="1400" dirty="0">
                <a:solidFill>
                  <a:srgbClr val="8B96A0"/>
                </a:solidFill>
                <a:latin typeface="Calibri" pitchFamily="34" charset="0"/>
                <a:ea typeface="Calibri" pitchFamily="34" charset="-122"/>
                <a:cs typeface="Calibri" pitchFamily="34" charset="-120"/>
              </a:rPr>
              <a:t xml:space="preserve">Présenté par : </a:t>
            </a:r>
            <a:r>
              <a:rPr lang="en-US" sz="1400" b="1" dirty="0">
                <a:solidFill>
                  <a:srgbClr val="FFFFFF"/>
                </a:solidFill>
                <a:latin typeface="Calibri" pitchFamily="34" charset="0"/>
                <a:ea typeface="Calibri" pitchFamily="34" charset="-122"/>
                <a:cs typeface="Calibri" pitchFamily="34" charset="-120"/>
              </a:rPr>
              <a:t>Jean-Luc MUPASA KALUNGA</a:t>
            </a:r>
            <a:endParaRPr lang="en-US" sz="1400" dirty="0"/>
          </a:p>
        </p:txBody>
      </p:sp>
      <p:sp>
        <p:nvSpPr>
          <p:cNvPr id="11" name="Text 8"/>
          <p:cNvSpPr/>
          <p:nvPr/>
        </p:nvSpPr>
        <p:spPr>
          <a:xfrm>
            <a:off x="457200" y="3858768"/>
            <a:ext cx="8229600" cy="292608"/>
          </a:xfrm>
          <a:prstGeom prst="rect">
            <a:avLst/>
          </a:prstGeom>
          <a:noFill/>
          <a:ln/>
        </p:spPr>
        <p:txBody>
          <a:bodyPr wrap="square" lIns="0" tIns="0" rIns="0" bIns="0" rtlCol="0" anchor="ctr"/>
          <a:lstStyle/>
          <a:p>
            <a:pPr marL="0" indent="0" algn="ctr">
              <a:buNone/>
            </a:pPr>
            <a:r>
              <a:rPr lang="en-US" sz="1400" dirty="0">
                <a:solidFill>
                  <a:srgbClr val="8B96A0"/>
                </a:solidFill>
                <a:latin typeface="Calibri" pitchFamily="34" charset="0"/>
                <a:ea typeface="Calibri" pitchFamily="34" charset="-122"/>
                <a:cs typeface="Calibri" pitchFamily="34" charset="-120"/>
              </a:rPr>
              <a:t xml:space="preserve">Sous la direction de : </a:t>
            </a:r>
            <a:r>
              <a:rPr lang="en-US" sz="1400" b="1" dirty="0">
                <a:solidFill>
                  <a:srgbClr val="FFFFFF"/>
                </a:solidFill>
                <a:latin typeface="Calibri" pitchFamily="34" charset="0"/>
                <a:ea typeface="Calibri" pitchFamily="34" charset="-122"/>
                <a:cs typeface="Calibri" pitchFamily="34" charset="-120"/>
              </a:rPr>
              <a:t>Dr. Olfa FERCHICHI</a:t>
            </a:r>
            <a:endParaRPr lang="en-US" sz="1400" dirty="0"/>
          </a:p>
        </p:txBody>
      </p:sp>
      <p:sp>
        <p:nvSpPr>
          <p:cNvPr id="12" name="Text 9"/>
          <p:cNvSpPr/>
          <p:nvPr/>
        </p:nvSpPr>
        <p:spPr>
          <a:xfrm>
            <a:off x="457200" y="4315968"/>
            <a:ext cx="8229600" cy="274320"/>
          </a:xfrm>
          <a:prstGeom prst="rect">
            <a:avLst/>
          </a:prstGeom>
          <a:noFill/>
          <a:ln/>
        </p:spPr>
        <p:txBody>
          <a:bodyPr wrap="square" lIns="0" tIns="0" rIns="0" bIns="0" rtlCol="0" anchor="ctr"/>
          <a:lstStyle/>
          <a:p>
            <a:pPr marL="0" indent="0" algn="ctr">
              <a:buNone/>
            </a:pPr>
            <a:r>
              <a:rPr lang="en-US" sz="1200" dirty="0">
                <a:solidFill>
                  <a:srgbClr val="8B96A0"/>
                </a:solidFill>
                <a:latin typeface="Calibri" pitchFamily="34" charset="0"/>
                <a:ea typeface="Calibri" pitchFamily="34" charset="-122"/>
                <a:cs typeface="Calibri" pitchFamily="34" charset="-120"/>
              </a:rPr>
              <a:t>Mémoire de Master 2 en Data Science — Supply Chain   ·   Soutenance de juillet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SOUTENANCE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Plan de la présentation</a:t>
            </a:r>
            <a:endParaRPr lang="en-US" sz="2700" dirty="0"/>
          </a:p>
        </p:txBody>
      </p:sp>
      <p:sp>
        <p:nvSpPr>
          <p:cNvPr id="4" name="Shape 2"/>
          <p:cNvSpPr/>
          <p:nvPr/>
        </p:nvSpPr>
        <p:spPr>
          <a:xfrm>
            <a:off x="457200" y="1371600"/>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58368" y="1554480"/>
            <a:ext cx="310896" cy="310896"/>
          </a:xfrm>
          <a:prstGeom prst="ellipse">
            <a:avLst/>
          </a:prstGeom>
          <a:solidFill>
            <a:srgbClr val="B4622D"/>
          </a:solidFill>
          <a:ln/>
        </p:spPr>
      </p:sp>
      <p:sp>
        <p:nvSpPr>
          <p:cNvPr id="6" name="Text 4"/>
          <p:cNvSpPr/>
          <p:nvPr/>
        </p:nvSpPr>
        <p:spPr>
          <a:xfrm>
            <a:off x="658368" y="154076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15568" y="1490472"/>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Contexte et problématique</a:t>
            </a:r>
            <a:endParaRPr lang="en-US" sz="1450" dirty="0"/>
          </a:p>
        </p:txBody>
      </p:sp>
      <p:sp>
        <p:nvSpPr>
          <p:cNvPr id="8" name="Text 6"/>
          <p:cNvSpPr/>
          <p:nvPr/>
        </p:nvSpPr>
        <p:spPr>
          <a:xfrm>
            <a:off x="1115568" y="1792224"/>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Le dispatching minier et les limites des heuristiques statiques</a:t>
            </a:r>
            <a:endParaRPr lang="en-US" sz="1100" dirty="0"/>
          </a:p>
        </p:txBody>
      </p:sp>
      <p:sp>
        <p:nvSpPr>
          <p:cNvPr id="9" name="Shape 7"/>
          <p:cNvSpPr/>
          <p:nvPr/>
        </p:nvSpPr>
        <p:spPr>
          <a:xfrm>
            <a:off x="4800600" y="1371600"/>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Shape 8"/>
          <p:cNvSpPr/>
          <p:nvPr/>
        </p:nvSpPr>
        <p:spPr>
          <a:xfrm>
            <a:off x="5001768" y="1554480"/>
            <a:ext cx="310896" cy="310896"/>
          </a:xfrm>
          <a:prstGeom prst="ellipse">
            <a:avLst/>
          </a:prstGeom>
          <a:solidFill>
            <a:srgbClr val="B4622D"/>
          </a:solidFill>
          <a:ln/>
        </p:spPr>
      </p:sp>
      <p:sp>
        <p:nvSpPr>
          <p:cNvPr id="11" name="Text 9"/>
          <p:cNvSpPr/>
          <p:nvPr/>
        </p:nvSpPr>
        <p:spPr>
          <a:xfrm>
            <a:off x="5001768" y="154076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5458968" y="1490472"/>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Cadre méthodologique</a:t>
            </a:r>
            <a:endParaRPr lang="en-US" sz="1450" dirty="0"/>
          </a:p>
        </p:txBody>
      </p:sp>
      <p:sp>
        <p:nvSpPr>
          <p:cNvPr id="13" name="Text 11"/>
          <p:cNvSpPr/>
          <p:nvPr/>
        </p:nvSpPr>
        <p:spPr>
          <a:xfrm>
            <a:off x="5458968" y="1792224"/>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Démarche CRISP-RL et modélisation MDP du problème</a:t>
            </a:r>
            <a:endParaRPr lang="en-US" sz="1100" dirty="0"/>
          </a:p>
        </p:txBody>
      </p:sp>
      <p:sp>
        <p:nvSpPr>
          <p:cNvPr id="14" name="Shape 12"/>
          <p:cNvSpPr/>
          <p:nvPr/>
        </p:nvSpPr>
        <p:spPr>
          <a:xfrm>
            <a:off x="457200" y="2578608"/>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Shape 13"/>
          <p:cNvSpPr/>
          <p:nvPr/>
        </p:nvSpPr>
        <p:spPr>
          <a:xfrm>
            <a:off x="658368" y="2761488"/>
            <a:ext cx="310896" cy="310896"/>
          </a:xfrm>
          <a:prstGeom prst="ellipse">
            <a:avLst/>
          </a:prstGeom>
          <a:solidFill>
            <a:srgbClr val="B4622D"/>
          </a:solidFill>
          <a:ln/>
        </p:spPr>
      </p:sp>
      <p:sp>
        <p:nvSpPr>
          <p:cNvPr id="16" name="Text 14"/>
          <p:cNvSpPr/>
          <p:nvPr/>
        </p:nvSpPr>
        <p:spPr>
          <a:xfrm>
            <a:off x="658368" y="2747772"/>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15568" y="2697480"/>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Algorithmes et simulation</a:t>
            </a:r>
            <a:endParaRPr lang="en-US" sz="1450" dirty="0"/>
          </a:p>
        </p:txBody>
      </p:sp>
      <p:sp>
        <p:nvSpPr>
          <p:cNvPr id="18" name="Text 16"/>
          <p:cNvSpPr/>
          <p:nvPr/>
        </p:nvSpPr>
        <p:spPr>
          <a:xfrm>
            <a:off x="1115568" y="2999232"/>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Q-Learning, SARSA, DQN, PPO — environnement Gymnasium</a:t>
            </a:r>
            <a:endParaRPr lang="en-US" sz="1100" dirty="0"/>
          </a:p>
        </p:txBody>
      </p:sp>
      <p:sp>
        <p:nvSpPr>
          <p:cNvPr id="19" name="Shape 17"/>
          <p:cNvSpPr/>
          <p:nvPr/>
        </p:nvSpPr>
        <p:spPr>
          <a:xfrm>
            <a:off x="4800600" y="2578608"/>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20" name="Shape 18"/>
          <p:cNvSpPr/>
          <p:nvPr/>
        </p:nvSpPr>
        <p:spPr>
          <a:xfrm>
            <a:off x="5001768" y="2761488"/>
            <a:ext cx="310896" cy="310896"/>
          </a:xfrm>
          <a:prstGeom prst="ellipse">
            <a:avLst/>
          </a:prstGeom>
          <a:solidFill>
            <a:srgbClr val="B4622D"/>
          </a:solidFill>
          <a:ln/>
        </p:spPr>
      </p:sp>
      <p:sp>
        <p:nvSpPr>
          <p:cNvPr id="21" name="Text 19"/>
          <p:cNvSpPr/>
          <p:nvPr/>
        </p:nvSpPr>
        <p:spPr>
          <a:xfrm>
            <a:off x="5001768" y="2747772"/>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5458968" y="2697480"/>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Résultats expérimentaux</a:t>
            </a:r>
            <a:endParaRPr lang="en-US" sz="1450" dirty="0"/>
          </a:p>
        </p:txBody>
      </p:sp>
      <p:sp>
        <p:nvSpPr>
          <p:cNvPr id="23" name="Text 21"/>
          <p:cNvSpPr/>
          <p:nvPr/>
        </p:nvSpPr>
        <p:spPr>
          <a:xfrm>
            <a:off x="5458968" y="2999232"/>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3 scénarios, 8 politiques, 240 simulations, validation statistique</a:t>
            </a:r>
            <a:endParaRPr lang="en-US" sz="1100" dirty="0"/>
          </a:p>
        </p:txBody>
      </p:sp>
      <p:sp>
        <p:nvSpPr>
          <p:cNvPr id="24" name="Shape 22"/>
          <p:cNvSpPr/>
          <p:nvPr/>
        </p:nvSpPr>
        <p:spPr>
          <a:xfrm>
            <a:off x="457200" y="3785616"/>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25" name="Shape 23"/>
          <p:cNvSpPr/>
          <p:nvPr/>
        </p:nvSpPr>
        <p:spPr>
          <a:xfrm>
            <a:off x="658368" y="3968496"/>
            <a:ext cx="310896" cy="310896"/>
          </a:xfrm>
          <a:prstGeom prst="ellipse">
            <a:avLst/>
          </a:prstGeom>
          <a:solidFill>
            <a:srgbClr val="B4622D"/>
          </a:solidFill>
          <a:ln/>
        </p:spPr>
      </p:sp>
      <p:sp>
        <p:nvSpPr>
          <p:cNvPr id="26" name="Text 24"/>
          <p:cNvSpPr/>
          <p:nvPr/>
        </p:nvSpPr>
        <p:spPr>
          <a:xfrm>
            <a:off x="658368" y="3954780"/>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1115568" y="3904488"/>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Analyse critique et limites</a:t>
            </a:r>
            <a:endParaRPr lang="en-US" sz="1450" dirty="0"/>
          </a:p>
        </p:txBody>
      </p:sp>
      <p:sp>
        <p:nvSpPr>
          <p:cNvPr id="28" name="Text 26"/>
          <p:cNvSpPr/>
          <p:nvPr/>
        </p:nvSpPr>
        <p:spPr>
          <a:xfrm>
            <a:off x="1115568" y="4206240"/>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Validation de l'hypothèse H1, limites assumées</a:t>
            </a:r>
            <a:endParaRPr lang="en-US" sz="1100" dirty="0"/>
          </a:p>
        </p:txBody>
      </p:sp>
      <p:sp>
        <p:nvSpPr>
          <p:cNvPr id="29" name="Shape 27"/>
          <p:cNvSpPr/>
          <p:nvPr/>
        </p:nvSpPr>
        <p:spPr>
          <a:xfrm>
            <a:off x="4800600" y="3785616"/>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30" name="Shape 28"/>
          <p:cNvSpPr/>
          <p:nvPr/>
        </p:nvSpPr>
        <p:spPr>
          <a:xfrm>
            <a:off x="5001768" y="3968496"/>
            <a:ext cx="310896" cy="310896"/>
          </a:xfrm>
          <a:prstGeom prst="ellipse">
            <a:avLst/>
          </a:prstGeom>
          <a:solidFill>
            <a:srgbClr val="B4622D"/>
          </a:solidFill>
          <a:ln/>
        </p:spPr>
      </p:sp>
      <p:sp>
        <p:nvSpPr>
          <p:cNvPr id="31" name="Text 29"/>
          <p:cNvSpPr/>
          <p:nvPr/>
        </p:nvSpPr>
        <p:spPr>
          <a:xfrm>
            <a:off x="5001768" y="3954780"/>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5458968" y="3904488"/>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Contributions et perspectives</a:t>
            </a:r>
            <a:endParaRPr lang="en-US" sz="1450" dirty="0"/>
          </a:p>
        </p:txBody>
      </p:sp>
      <p:sp>
        <p:nvSpPr>
          <p:cNvPr id="33" name="Text 31"/>
          <p:cNvSpPr/>
          <p:nvPr/>
        </p:nvSpPr>
        <p:spPr>
          <a:xfrm>
            <a:off x="5458968" y="4206240"/>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Apports du mémoire et travaux futurs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La logistique minière : le cœur des coûts d'une mine à ciel ouvert</a:t>
            </a:r>
            <a:endParaRPr lang="en-US" sz="2700" dirty="0"/>
          </a:p>
        </p:txBody>
      </p:sp>
      <p:sp>
        <p:nvSpPr>
          <p:cNvPr id="4" name="Shape 2"/>
          <p:cNvSpPr/>
          <p:nvPr/>
        </p:nvSpPr>
        <p:spPr>
          <a:xfrm>
            <a:off x="457200" y="1325880"/>
            <a:ext cx="4663440" cy="2286000"/>
          </a:xfrm>
          <a:prstGeom prst="roundRect">
            <a:avLst>
              <a:gd name="adj" fmla="val 24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Description_du_système_de_transport_minier_drawio.png"/>
          <p:cNvPicPr>
            <a:picLocks noChangeAspect="1"/>
          </p:cNvPicPr>
          <p:nvPr/>
        </p:nvPicPr>
        <p:blipFill>
          <a:blip r:embed="rId3"/>
          <a:stretch>
            <a:fillRect/>
          </a:stretch>
        </p:blipFill>
        <p:spPr>
          <a:xfrm>
            <a:off x="598170" y="1417320"/>
            <a:ext cx="4381500" cy="2103120"/>
          </a:xfrm>
          <a:prstGeom prst="rect">
            <a:avLst/>
          </a:prstGeom>
        </p:spPr>
      </p:pic>
      <p:sp>
        <p:nvSpPr>
          <p:cNvPr id="6" name="Text 3"/>
          <p:cNvSpPr/>
          <p:nvPr/>
        </p:nvSpPr>
        <p:spPr>
          <a:xfrm>
            <a:off x="457200" y="3703320"/>
            <a:ext cx="4663440" cy="640080"/>
          </a:xfrm>
          <a:prstGeom prst="rect">
            <a:avLst/>
          </a:prstGeom>
          <a:noFill/>
          <a:ln/>
        </p:spPr>
        <p:txBody>
          <a:bodyPr wrap="square" lIns="0" tIns="0" rIns="0" bIns="0" rtlCol="0" anchor="ctr"/>
          <a:lstStyle/>
          <a:p>
            <a:pPr marL="0" indent="0">
              <a:buNone/>
            </a:pPr>
            <a:r>
              <a:rPr lang="en-US" sz="1100" i="1" dirty="0">
                <a:solidFill>
                  <a:srgbClr val="5A6672"/>
                </a:solidFill>
                <a:latin typeface="Calibri" pitchFamily="34" charset="0"/>
                <a:ea typeface="Calibri" pitchFamily="34" charset="-122"/>
                <a:cs typeface="Calibri" pitchFamily="34" charset="-120"/>
              </a:rPr>
              <a:t>Cycle camion-pelle : chargement → transport → déchargement → retour. La décision de dispatching intervient à chaque libération d'un camion.</a:t>
            </a:r>
            <a:endParaRPr lang="en-US" sz="1100" dirty="0"/>
          </a:p>
        </p:txBody>
      </p:sp>
      <p:sp>
        <p:nvSpPr>
          <p:cNvPr id="7" name="Shape 4"/>
          <p:cNvSpPr/>
          <p:nvPr/>
        </p:nvSpPr>
        <p:spPr>
          <a:xfrm>
            <a:off x="5349240" y="1325880"/>
            <a:ext cx="3337560" cy="1170432"/>
          </a:xfrm>
          <a:prstGeom prst="roundRect">
            <a:avLst>
              <a:gd name="adj" fmla="val 468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440680" y="1481328"/>
            <a:ext cx="3154680" cy="566928"/>
          </a:xfrm>
          <a:prstGeom prst="rect">
            <a:avLst/>
          </a:prstGeom>
          <a:noFill/>
          <a:ln/>
        </p:spPr>
        <p:txBody>
          <a:bodyPr wrap="square" lIns="0" tIns="0" rIns="0" bIns="0" rtlCol="0" anchor="ctr"/>
          <a:lstStyle/>
          <a:p>
            <a:pPr marL="0" indent="0" algn="ctr">
              <a:buNone/>
            </a:pPr>
            <a:r>
              <a:rPr lang="en-US" sz="3000" b="1" dirty="0">
                <a:solidFill>
                  <a:srgbClr val="B4622D"/>
                </a:solidFill>
                <a:latin typeface="Cambria" pitchFamily="34" charset="0"/>
                <a:ea typeface="Cambria" pitchFamily="34" charset="-122"/>
                <a:cs typeface="Cambria" pitchFamily="34" charset="-120"/>
              </a:rPr>
              <a:t>50 – 60 %</a:t>
            </a:r>
            <a:endParaRPr lang="en-US" sz="3000" dirty="0"/>
          </a:p>
        </p:txBody>
      </p:sp>
      <p:sp>
        <p:nvSpPr>
          <p:cNvPr id="9" name="Text 6"/>
          <p:cNvSpPr/>
          <p:nvPr/>
        </p:nvSpPr>
        <p:spPr>
          <a:xfrm>
            <a:off x="5440680" y="2029968"/>
            <a:ext cx="315468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des coûts opérationnels d'une mine à ciel ouvert proviennent du transport</a:t>
            </a:r>
            <a:endParaRPr lang="en-US" sz="1150" dirty="0"/>
          </a:p>
        </p:txBody>
      </p:sp>
      <p:sp>
        <p:nvSpPr>
          <p:cNvPr id="10" name="Shape 7"/>
          <p:cNvSpPr/>
          <p:nvPr/>
        </p:nvSpPr>
        <p:spPr>
          <a:xfrm>
            <a:off x="5349240" y="2670048"/>
            <a:ext cx="3337560" cy="2057400"/>
          </a:xfrm>
          <a:prstGeom prst="roundRect">
            <a:avLst>
              <a:gd name="adj" fmla="val 2667"/>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532120" y="2816352"/>
            <a:ext cx="301752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Le problème opérationnel</a:t>
            </a:r>
            <a:endParaRPr lang="en-US" sz="1300" dirty="0"/>
          </a:p>
        </p:txBody>
      </p:sp>
      <p:sp>
        <p:nvSpPr>
          <p:cNvPr id="12" name="Text 9"/>
          <p:cNvSpPr/>
          <p:nvPr/>
        </p:nvSpPr>
        <p:spPr>
          <a:xfrm>
            <a:off x="5532120" y="3127248"/>
            <a:ext cx="3035808" cy="15087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Dispatching : à quel couple (pelle, dump) affecter chaque camion libre ?</a:t>
            </a:r>
            <a:endParaRPr lang="en-US" sz="1150" dirty="0"/>
          </a:p>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12 camions, 3 pelles, 2 dumps — décision en temps réel</a:t>
            </a:r>
            <a:endParaRPr lang="en-US" sz="1150" dirty="0"/>
          </a:p>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Environnement stochastique : pannes, congestion, dégradation des routes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Les approches actuelles échouent quand l'environnement change</a:t>
            </a:r>
            <a:endParaRPr lang="en-US" sz="2700" dirty="0"/>
          </a:p>
        </p:txBody>
      </p:sp>
      <p:sp>
        <p:nvSpPr>
          <p:cNvPr id="4" name="Shape 2"/>
          <p:cNvSpPr/>
          <p:nvPr/>
        </p:nvSpPr>
        <p:spPr>
          <a:xfrm>
            <a:off x="457200" y="1371600"/>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63040"/>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FIFO</a:t>
            </a:r>
            <a:endParaRPr lang="en-US" sz="1350" dirty="0"/>
          </a:p>
        </p:txBody>
      </p:sp>
      <p:sp>
        <p:nvSpPr>
          <p:cNvPr id="6" name="Text 4"/>
          <p:cNvSpPr/>
          <p:nvPr/>
        </p:nvSpPr>
        <p:spPr>
          <a:xfrm>
            <a:off x="2514600" y="1463040"/>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Premier arrivé, premier servi</a:t>
            </a:r>
            <a:endParaRPr lang="en-US" sz="1150" dirty="0"/>
          </a:p>
        </p:txBody>
      </p:sp>
      <p:sp>
        <p:nvSpPr>
          <p:cNvPr id="7" name="Text 5"/>
          <p:cNvSpPr/>
          <p:nvPr/>
        </p:nvSpPr>
        <p:spPr>
          <a:xfrm>
            <a:off x="5029200" y="1463040"/>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Ignore totalement la distance et la congestion du réseau</a:t>
            </a:r>
            <a:endParaRPr lang="en-US" sz="1150" dirty="0"/>
          </a:p>
        </p:txBody>
      </p:sp>
      <p:sp>
        <p:nvSpPr>
          <p:cNvPr id="8" name="Shape 6"/>
          <p:cNvSpPr/>
          <p:nvPr/>
        </p:nvSpPr>
        <p:spPr>
          <a:xfrm>
            <a:off x="457200" y="2157984"/>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249424"/>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Fixed Assignment</a:t>
            </a:r>
            <a:endParaRPr lang="en-US" sz="1350" dirty="0"/>
          </a:p>
        </p:txBody>
      </p:sp>
      <p:sp>
        <p:nvSpPr>
          <p:cNvPr id="10" name="Text 8"/>
          <p:cNvSpPr/>
          <p:nvPr/>
        </p:nvSpPr>
        <p:spPr>
          <a:xfrm>
            <a:off x="2514600" y="2249424"/>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Affectation fixe camion → pelle</a:t>
            </a:r>
            <a:endParaRPr lang="en-US" sz="1150" dirty="0"/>
          </a:p>
        </p:txBody>
      </p:sp>
      <p:sp>
        <p:nvSpPr>
          <p:cNvPr id="11" name="Text 9"/>
          <p:cNvSpPr/>
          <p:nvPr/>
        </p:nvSpPr>
        <p:spPr>
          <a:xfrm>
            <a:off x="5029200" y="2249424"/>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Rigide : aucune adaptation aux pannes ni aux files d'attente</a:t>
            </a:r>
            <a:endParaRPr lang="en-US" sz="1150" dirty="0"/>
          </a:p>
        </p:txBody>
      </p:sp>
      <p:sp>
        <p:nvSpPr>
          <p:cNvPr id="12" name="Shape 10"/>
          <p:cNvSpPr/>
          <p:nvPr/>
        </p:nvSpPr>
        <p:spPr>
          <a:xfrm>
            <a:off x="457200" y="2944368"/>
            <a:ext cx="8229600" cy="676656"/>
          </a:xfrm>
          <a:prstGeom prst="roundRect">
            <a:avLst>
              <a:gd name="adj" fmla="val 810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035808"/>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Nearest Shovel</a:t>
            </a:r>
            <a:endParaRPr lang="en-US" sz="1350" dirty="0"/>
          </a:p>
        </p:txBody>
      </p:sp>
      <p:sp>
        <p:nvSpPr>
          <p:cNvPr id="14" name="Text 12"/>
          <p:cNvSpPr/>
          <p:nvPr/>
        </p:nvSpPr>
        <p:spPr>
          <a:xfrm>
            <a:off x="2514600" y="3035808"/>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Pelle la plus proche</a:t>
            </a:r>
            <a:endParaRPr lang="en-US" sz="1150" dirty="0"/>
          </a:p>
        </p:txBody>
      </p:sp>
      <p:sp>
        <p:nvSpPr>
          <p:cNvPr id="15" name="Text 13"/>
          <p:cNvSpPr/>
          <p:nvPr/>
        </p:nvSpPr>
        <p:spPr>
          <a:xfrm>
            <a:off x="5029200" y="3035808"/>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Toute la flotte converge → saturation (jusqu'à 200 min d'attente)</a:t>
            </a:r>
            <a:endParaRPr lang="en-US" sz="1150" dirty="0"/>
          </a:p>
        </p:txBody>
      </p:sp>
      <p:sp>
        <p:nvSpPr>
          <p:cNvPr id="16" name="Shape 14"/>
          <p:cNvSpPr/>
          <p:nvPr/>
        </p:nvSpPr>
        <p:spPr>
          <a:xfrm>
            <a:off x="457200" y="3730752"/>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85800" y="3822192"/>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Shortest Path</a:t>
            </a:r>
            <a:endParaRPr lang="en-US" sz="1350" dirty="0"/>
          </a:p>
        </p:txBody>
      </p:sp>
      <p:sp>
        <p:nvSpPr>
          <p:cNvPr id="18" name="Text 16"/>
          <p:cNvSpPr/>
          <p:nvPr/>
        </p:nvSpPr>
        <p:spPr>
          <a:xfrm>
            <a:off x="2514600" y="3822192"/>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Trajet le plus court</a:t>
            </a:r>
            <a:endParaRPr lang="en-US" sz="1150" dirty="0"/>
          </a:p>
        </p:txBody>
      </p:sp>
      <p:sp>
        <p:nvSpPr>
          <p:cNvPr id="19" name="Text 17"/>
          <p:cNvSpPr/>
          <p:nvPr/>
        </p:nvSpPr>
        <p:spPr>
          <a:xfrm>
            <a:off x="5029200" y="3822192"/>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Optimise le trajet, pas le système : myope face aux files</a:t>
            </a:r>
            <a:endParaRPr lang="en-US" sz="1150" dirty="0"/>
          </a:p>
        </p:txBody>
      </p:sp>
      <p:sp>
        <p:nvSpPr>
          <p:cNvPr id="20" name="Text 18"/>
          <p:cNvSpPr/>
          <p:nvPr/>
        </p:nvSpPr>
        <p:spPr>
          <a:xfrm>
            <a:off x="457200" y="4572000"/>
            <a:ext cx="8229600" cy="457200"/>
          </a:xfrm>
          <a:prstGeom prst="rect">
            <a:avLst/>
          </a:prstGeom>
          <a:noFill/>
          <a:ln/>
        </p:spPr>
        <p:txBody>
          <a:bodyPr wrap="square" lIns="0" tIns="0" rIns="0" bIns="0" rtlCol="0" anchor="ctr"/>
          <a:lstStyle/>
          <a:p>
            <a:pPr marL="0" indent="0">
              <a:buNone/>
            </a:pPr>
            <a:r>
              <a:rPr lang="en-US" sz="1250" b="1" i="1" dirty="0">
                <a:solidFill>
                  <a:srgbClr val="8C4A1F"/>
                </a:solidFill>
                <a:latin typeface="Calibri" pitchFamily="34" charset="0"/>
                <a:ea typeface="Calibri" pitchFamily="34" charset="-122"/>
                <a:cs typeface="Calibri" pitchFamily="34" charset="-120"/>
              </a:rPr>
              <a:t>Constat : des règles déterministes, réactives mais jamais prédictives — efficaces en régime stable, structurellement incapables de s'adapter aux perturbations.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Notre approche : remplacer la règle fixe par un agent qui apprend</a:t>
            </a:r>
            <a:endParaRPr lang="en-US" sz="2700" dirty="0"/>
          </a:p>
        </p:txBody>
      </p:sp>
      <p:sp>
        <p:nvSpPr>
          <p:cNvPr id="4" name="Shape 2"/>
          <p:cNvSpPr/>
          <p:nvPr/>
        </p:nvSpPr>
        <p:spPr>
          <a:xfrm>
            <a:off x="457200" y="1325880"/>
            <a:ext cx="4846320" cy="2395728"/>
          </a:xfrm>
          <a:prstGeom prst="roundRect">
            <a:avLst>
              <a:gd name="adj" fmla="val 229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Formulation_du_problème_en_tant_que_MDP_drawio.png"/>
          <p:cNvPicPr>
            <a:picLocks noChangeAspect="1"/>
          </p:cNvPicPr>
          <p:nvPr/>
        </p:nvPicPr>
        <p:blipFill>
          <a:blip r:embed="rId3"/>
          <a:stretch>
            <a:fillRect/>
          </a:stretch>
        </p:blipFill>
        <p:spPr>
          <a:xfrm>
            <a:off x="874967" y="1417320"/>
            <a:ext cx="4010787" cy="2212848"/>
          </a:xfrm>
          <a:prstGeom prst="rect">
            <a:avLst/>
          </a:prstGeom>
        </p:spPr>
      </p:pic>
      <p:sp>
        <p:nvSpPr>
          <p:cNvPr id="6" name="Text 3"/>
          <p:cNvSpPr/>
          <p:nvPr/>
        </p:nvSpPr>
        <p:spPr>
          <a:xfrm>
            <a:off x="457200" y="3794760"/>
            <a:ext cx="4846320" cy="566928"/>
          </a:xfrm>
          <a:prstGeom prst="rect">
            <a:avLst/>
          </a:prstGeom>
          <a:noFill/>
          <a:ln/>
        </p:spPr>
        <p:txBody>
          <a:bodyPr wrap="square" lIns="0" tIns="0" rIns="0" bIns="0" rtlCol="0" anchor="ctr"/>
          <a:lstStyle/>
          <a:p>
            <a:pPr marL="0" indent="0">
              <a:buNone/>
            </a:pPr>
            <a:r>
              <a:rPr lang="en-US" sz="1050" i="1" dirty="0">
                <a:solidFill>
                  <a:srgbClr val="5A6672"/>
                </a:solidFill>
                <a:latin typeface="Calibri" pitchFamily="34" charset="0"/>
                <a:ea typeface="Calibri" pitchFamily="34" charset="-122"/>
                <a:cs typeface="Calibri" pitchFamily="34" charset="-120"/>
              </a:rPr>
              <a:t>Boucle agent–environnement : l'agent observe l'état sₜ, choisit une action aₜ (affectation camion → pelle), reçoit une récompense rₜ.</a:t>
            </a:r>
            <a:endParaRPr lang="en-US" sz="1050" dirty="0"/>
          </a:p>
        </p:txBody>
      </p:sp>
      <p:sp>
        <p:nvSpPr>
          <p:cNvPr id="7" name="Shape 4"/>
          <p:cNvSpPr/>
          <p:nvPr/>
        </p:nvSpPr>
        <p:spPr>
          <a:xfrm>
            <a:off x="5532120" y="1325880"/>
            <a:ext cx="315468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715000" y="1463040"/>
            <a:ext cx="2788920" cy="256032"/>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Principe</a:t>
            </a:r>
            <a:endParaRPr lang="en-US" sz="1250" dirty="0"/>
          </a:p>
        </p:txBody>
      </p:sp>
      <p:sp>
        <p:nvSpPr>
          <p:cNvPr id="9" name="Text 6"/>
          <p:cNvSpPr/>
          <p:nvPr/>
        </p:nvSpPr>
        <p:spPr>
          <a:xfrm>
            <a:off x="5715000" y="1737360"/>
            <a:ext cx="2880360" cy="109728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L'agent apprend par essai-erreur sur des milliers d'épisodes simulés</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Résultat : une politique adaptative face aux pannes, congestions et surcharges</a:t>
            </a:r>
            <a:endParaRPr lang="en-US" sz="1100" dirty="0"/>
          </a:p>
        </p:txBody>
      </p:sp>
      <p:sp>
        <p:nvSpPr>
          <p:cNvPr id="10" name="Shape 7"/>
          <p:cNvSpPr/>
          <p:nvPr/>
        </p:nvSpPr>
        <p:spPr>
          <a:xfrm>
            <a:off x="5532120" y="3035808"/>
            <a:ext cx="3154680" cy="1691640"/>
          </a:xfrm>
          <a:prstGeom prst="roundRect">
            <a:avLst>
              <a:gd name="adj" fmla="val 3243"/>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715000" y="3172968"/>
            <a:ext cx="2788920" cy="256032"/>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Hypothèse centrale H1</a:t>
            </a:r>
            <a:endParaRPr lang="en-US" sz="1250" dirty="0"/>
          </a:p>
        </p:txBody>
      </p:sp>
      <p:sp>
        <p:nvSpPr>
          <p:cNvPr id="12" name="Text 9"/>
          <p:cNvSpPr/>
          <p:nvPr/>
        </p:nvSpPr>
        <p:spPr>
          <a:xfrm>
            <a:off x="5715000" y="3456432"/>
            <a:ext cx="2834640" cy="1188720"/>
          </a:xfrm>
          <a:prstGeom prst="rect">
            <a:avLst/>
          </a:prstGeom>
          <a:noFill/>
          <a:ln/>
        </p:spPr>
        <p:txBody>
          <a:bodyPr wrap="square" lIns="0" tIns="0" rIns="0" bIns="0" rtlCol="0" anchor="ctr"/>
          <a:lstStyle/>
          <a:p>
            <a:pPr marL="0" indent="0">
              <a:buNone/>
            </a:pPr>
            <a:r>
              <a:rPr lang="en-US" sz="1150" dirty="0">
                <a:solidFill>
                  <a:srgbClr val="22303F"/>
                </a:solidFill>
                <a:latin typeface="Calibri" pitchFamily="34" charset="0"/>
                <a:ea typeface="Calibri" pitchFamily="34" charset="-122"/>
                <a:cs typeface="Calibri" pitchFamily="34" charset="-120"/>
              </a:rPr>
              <a:t>Un agent RL peut surpasser les heuristiques industrielles en productivité, en consommation de carburant et en robustesse aux perturbations.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Positionnement dans l'état de l'art</a:t>
            </a:r>
            <a:endParaRPr lang="en-US" sz="2700" dirty="0"/>
          </a:p>
        </p:txBody>
      </p:sp>
      <p:sp>
        <p:nvSpPr>
          <p:cNvPr id="4" name="Shape 2"/>
          <p:cNvSpPr/>
          <p:nvPr/>
        </p:nvSpPr>
        <p:spPr>
          <a:xfrm>
            <a:off x="457200" y="137160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Recherche opérationnelle classique</a:t>
            </a:r>
            <a:endParaRPr lang="en-US" sz="1250" dirty="0"/>
          </a:p>
        </p:txBody>
      </p:sp>
      <p:sp>
        <p:nvSpPr>
          <p:cNvPr id="6" name="Text 4"/>
          <p:cNvSpPr/>
          <p:nvPr/>
        </p:nvSpPr>
        <p:spPr>
          <a:xfrm>
            <a:off x="3429000" y="148132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Programmation linéaire, files d'attente (années 1980–2000)</a:t>
            </a:r>
            <a:endParaRPr lang="en-US" sz="1050" dirty="0"/>
          </a:p>
        </p:txBody>
      </p:sp>
      <p:sp>
        <p:nvSpPr>
          <p:cNvPr id="7" name="Text 5"/>
          <p:cNvSpPr/>
          <p:nvPr/>
        </p:nvSpPr>
        <p:spPr>
          <a:xfrm>
            <a:off x="6217920" y="148132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Optimalité statique : replanification coûteuse à chaque perturbation</a:t>
            </a:r>
            <a:endParaRPr lang="en-US" sz="1050" dirty="0"/>
          </a:p>
        </p:txBody>
      </p:sp>
      <p:sp>
        <p:nvSpPr>
          <p:cNvPr id="8" name="Shape 6"/>
          <p:cNvSpPr/>
          <p:nvPr/>
        </p:nvSpPr>
        <p:spPr>
          <a:xfrm>
            <a:off x="457200" y="242316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53288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Systèmes FMS industriels</a:t>
            </a:r>
            <a:endParaRPr lang="en-US" sz="1250" dirty="0"/>
          </a:p>
        </p:txBody>
      </p:sp>
      <p:sp>
        <p:nvSpPr>
          <p:cNvPr id="10" name="Text 8"/>
          <p:cNvSpPr/>
          <p:nvPr/>
        </p:nvSpPr>
        <p:spPr>
          <a:xfrm>
            <a:off x="3429000" y="253288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DISPATCH, Modular Mining — règles déterministes embarquées</a:t>
            </a:r>
            <a:endParaRPr lang="en-US" sz="1050" dirty="0"/>
          </a:p>
        </p:txBody>
      </p:sp>
      <p:sp>
        <p:nvSpPr>
          <p:cNvPr id="11" name="Text 9"/>
          <p:cNvSpPr/>
          <p:nvPr/>
        </p:nvSpPr>
        <p:spPr>
          <a:xfrm>
            <a:off x="6217920" y="253288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Réactifs mais non prédictifs : aucune anticipation des états futurs</a:t>
            </a:r>
            <a:endParaRPr lang="en-US" sz="1050" dirty="0"/>
          </a:p>
        </p:txBody>
      </p:sp>
      <p:sp>
        <p:nvSpPr>
          <p:cNvPr id="12" name="Shape 10"/>
          <p:cNvSpPr/>
          <p:nvPr/>
        </p:nvSpPr>
        <p:spPr>
          <a:xfrm>
            <a:off x="457200" y="347472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58444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RL appliqué au dispatching minier</a:t>
            </a:r>
            <a:endParaRPr lang="en-US" sz="1250" dirty="0"/>
          </a:p>
        </p:txBody>
      </p:sp>
      <p:sp>
        <p:nvSpPr>
          <p:cNvPr id="14" name="Text 12"/>
          <p:cNvSpPr/>
          <p:nvPr/>
        </p:nvSpPr>
        <p:spPr>
          <a:xfrm>
            <a:off x="3429000" y="358444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Travaux récents (Hazrathosseini &amp; Afrapoli 2022 ; de Carvalho &amp; Dimitrakopoulos)</a:t>
            </a:r>
            <a:endParaRPr lang="en-US" sz="1050" dirty="0"/>
          </a:p>
        </p:txBody>
      </p:sp>
      <p:sp>
        <p:nvSpPr>
          <p:cNvPr id="15" name="Text 13"/>
          <p:cNvSpPr/>
          <p:nvPr/>
        </p:nvSpPr>
        <p:spPr>
          <a:xfrm>
            <a:off x="6217920" y="358444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Cadres encore incomplets : peu de benchmarks systématiques multi-scénarios</a:t>
            </a:r>
            <a:endParaRPr lang="en-US" sz="1050" dirty="0"/>
          </a:p>
        </p:txBody>
      </p:sp>
      <p:sp>
        <p:nvSpPr>
          <p:cNvPr id="16" name="Text 14"/>
          <p:cNvSpPr/>
          <p:nvPr/>
        </p:nvSpPr>
        <p:spPr>
          <a:xfrm>
            <a:off x="457200" y="4572000"/>
            <a:ext cx="8229600" cy="457200"/>
          </a:xfrm>
          <a:prstGeom prst="rect">
            <a:avLst/>
          </a:prstGeom>
          <a:noFill/>
          <a:ln/>
        </p:spPr>
        <p:txBody>
          <a:bodyPr wrap="square" lIns="0" tIns="0" rIns="0" bIns="0" rtlCol="0" anchor="ctr"/>
          <a:lstStyle/>
          <a:p>
            <a:pPr marL="0" indent="0">
              <a:buNone/>
            </a:pPr>
            <a:r>
              <a:rPr lang="en-US" sz="1250" b="1" i="1" dirty="0">
                <a:solidFill>
                  <a:srgbClr val="8C4A1F"/>
                </a:solidFill>
                <a:latin typeface="Calibri" pitchFamily="34" charset="0"/>
                <a:ea typeface="Calibri" pitchFamily="34" charset="-122"/>
                <a:cs typeface="Calibri" pitchFamily="34" charset="-120"/>
              </a:rPr>
              <a:t>Notre positionnement : un benchmark rigoureux et reproductible — 4 agents RL contre 4 heuristiques industrielles, 3 scénarios, validation statistique complète.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CRISP-RL : un cycle de vie structuré pour le projet</a:t>
            </a:r>
            <a:endParaRPr lang="en-US" sz="2700" dirty="0"/>
          </a:p>
        </p:txBody>
      </p:sp>
      <p:sp>
        <p:nvSpPr>
          <p:cNvPr id="4" name="Shape 2"/>
          <p:cNvSpPr/>
          <p:nvPr/>
        </p:nvSpPr>
        <p:spPr>
          <a:xfrm>
            <a:off x="457200" y="1325880"/>
            <a:ext cx="429768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cycle_CRISPRL_drawio.png"/>
          <p:cNvPicPr>
            <a:picLocks noChangeAspect="1"/>
          </p:cNvPicPr>
          <p:nvPr/>
        </p:nvPicPr>
        <p:blipFill>
          <a:blip r:embed="rId3"/>
          <a:stretch>
            <a:fillRect/>
          </a:stretch>
        </p:blipFill>
        <p:spPr>
          <a:xfrm>
            <a:off x="577215" y="1417320"/>
            <a:ext cx="4057650" cy="3246120"/>
          </a:xfrm>
          <a:prstGeom prst="rect">
            <a:avLst/>
          </a:prstGeom>
        </p:spPr>
      </p:pic>
      <p:sp>
        <p:nvSpPr>
          <p:cNvPr id="6" name="Shape 3"/>
          <p:cNvSpPr/>
          <p:nvPr/>
        </p:nvSpPr>
        <p:spPr>
          <a:xfrm>
            <a:off x="4983480" y="1325880"/>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138928" y="1435608"/>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1–2</a:t>
            </a:r>
            <a:endParaRPr lang="en-US" sz="1700" dirty="0"/>
          </a:p>
        </p:txBody>
      </p:sp>
      <p:sp>
        <p:nvSpPr>
          <p:cNvPr id="8" name="Text 5"/>
          <p:cNvSpPr/>
          <p:nvPr/>
        </p:nvSpPr>
        <p:spPr>
          <a:xfrm>
            <a:off x="5742432" y="1417320"/>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Définition des buts et modélisation</a:t>
            </a:r>
            <a:endParaRPr lang="en-US" sz="1150" dirty="0"/>
          </a:p>
        </p:txBody>
      </p:sp>
      <p:sp>
        <p:nvSpPr>
          <p:cNvPr id="9" name="Text 6"/>
          <p:cNvSpPr/>
          <p:nvPr/>
        </p:nvSpPr>
        <p:spPr>
          <a:xfrm>
            <a:off x="5742432" y="1719072"/>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Traduction des KPIs métier (tonnage, équité, carburant) en fonction de récompense ; simulateur Gymnasium</a:t>
            </a:r>
            <a:endParaRPr lang="en-US" sz="950" dirty="0"/>
          </a:p>
        </p:txBody>
      </p:sp>
      <p:sp>
        <p:nvSpPr>
          <p:cNvPr id="10" name="Shape 7"/>
          <p:cNvSpPr/>
          <p:nvPr/>
        </p:nvSpPr>
        <p:spPr>
          <a:xfrm>
            <a:off x="4983480" y="2496312"/>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138928" y="2606040"/>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3–4</a:t>
            </a:r>
            <a:endParaRPr lang="en-US" sz="1700" dirty="0"/>
          </a:p>
        </p:txBody>
      </p:sp>
      <p:sp>
        <p:nvSpPr>
          <p:cNvPr id="12" name="Text 9"/>
          <p:cNvSpPr/>
          <p:nvPr/>
        </p:nvSpPr>
        <p:spPr>
          <a:xfrm>
            <a:off x="5742432" y="2587752"/>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Formulation MDP et conception de l'agent</a:t>
            </a:r>
            <a:endParaRPr lang="en-US" sz="1150" dirty="0"/>
          </a:p>
        </p:txBody>
      </p:sp>
      <p:sp>
        <p:nvSpPr>
          <p:cNvPr id="13" name="Text 10"/>
          <p:cNvSpPr/>
          <p:nvPr/>
        </p:nvSpPr>
        <p:spPr>
          <a:xfrm>
            <a:off x="5742432" y="2889504"/>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Variables d'état et d'action ; architecture DRL (MLP 128×2, ReLU/Softmax)</a:t>
            </a:r>
            <a:endParaRPr lang="en-US" sz="950" dirty="0"/>
          </a:p>
        </p:txBody>
      </p:sp>
      <p:sp>
        <p:nvSpPr>
          <p:cNvPr id="14" name="Shape 11"/>
          <p:cNvSpPr/>
          <p:nvPr/>
        </p:nvSpPr>
        <p:spPr>
          <a:xfrm>
            <a:off x="4983480" y="3666744"/>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2"/>
          <p:cNvSpPr/>
          <p:nvPr/>
        </p:nvSpPr>
        <p:spPr>
          <a:xfrm>
            <a:off x="5138928" y="3776472"/>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5–6</a:t>
            </a:r>
            <a:endParaRPr lang="en-US" sz="1700" dirty="0"/>
          </a:p>
        </p:txBody>
      </p:sp>
      <p:sp>
        <p:nvSpPr>
          <p:cNvPr id="16" name="Text 13"/>
          <p:cNvSpPr/>
          <p:nvPr/>
        </p:nvSpPr>
        <p:spPr>
          <a:xfrm>
            <a:off x="5742432" y="3758184"/>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Entraînement, test et évaluation robustesse</a:t>
            </a:r>
            <a:endParaRPr lang="en-US" sz="1150" dirty="0"/>
          </a:p>
        </p:txBody>
      </p:sp>
      <p:sp>
        <p:nvSpPr>
          <p:cNvPr id="17" name="Text 14"/>
          <p:cNvSpPr/>
          <p:nvPr/>
        </p:nvSpPr>
        <p:spPr>
          <a:xfrm>
            <a:off x="5742432" y="4059936"/>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Exploration/exploitation, hyperparamètres ; benchmark contre les heuristiques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Formulation du problème en Processus de Décision Markovien</a:t>
            </a:r>
            <a:endParaRPr lang="en-US" sz="2700" dirty="0"/>
          </a:p>
        </p:txBody>
      </p:sp>
      <p:sp>
        <p:nvSpPr>
          <p:cNvPr id="4" name="Shape 2"/>
          <p:cNvSpPr/>
          <p:nvPr/>
        </p:nvSpPr>
        <p:spPr>
          <a:xfrm>
            <a:off x="457200" y="1371600"/>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63040"/>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État  sₜ</a:t>
            </a:r>
            <a:endParaRPr lang="en-US" sz="1400" dirty="0"/>
          </a:p>
        </p:txBody>
      </p:sp>
      <p:sp>
        <p:nvSpPr>
          <p:cNvPr id="6" name="Text 4"/>
          <p:cNvSpPr/>
          <p:nvPr/>
        </p:nvSpPr>
        <p:spPr>
          <a:xfrm>
            <a:off x="2377440" y="1463040"/>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Files des pelles, positions des camions, disponibilités, temps courant</a:t>
            </a:r>
            <a:endParaRPr lang="en-US" sz="1100" dirty="0"/>
          </a:p>
        </p:txBody>
      </p:sp>
      <p:sp>
        <p:nvSpPr>
          <p:cNvPr id="7" name="Text 5"/>
          <p:cNvSpPr/>
          <p:nvPr/>
        </p:nvSpPr>
        <p:spPr>
          <a:xfrm>
            <a:off x="5943600" y="1463040"/>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147 features normalisées [0, 1]</a:t>
            </a:r>
            <a:endParaRPr lang="en-US" sz="1050" dirty="0"/>
          </a:p>
        </p:txBody>
      </p:sp>
      <p:sp>
        <p:nvSpPr>
          <p:cNvPr id="8" name="Shape 6"/>
          <p:cNvSpPr/>
          <p:nvPr/>
        </p:nvSpPr>
        <p:spPr>
          <a:xfrm>
            <a:off x="457200" y="2212848"/>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304288"/>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Action  aₜ</a:t>
            </a:r>
            <a:endParaRPr lang="en-US" sz="1400" dirty="0"/>
          </a:p>
        </p:txBody>
      </p:sp>
      <p:sp>
        <p:nvSpPr>
          <p:cNvPr id="10" name="Text 8"/>
          <p:cNvSpPr/>
          <p:nvPr/>
        </p:nvSpPr>
        <p:spPr>
          <a:xfrm>
            <a:off x="2377440" y="2304288"/>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Paire (pelle pᵢ, dump dⱼ) ou ATTENDRE</a:t>
            </a:r>
            <a:endParaRPr lang="en-US" sz="1100" dirty="0"/>
          </a:p>
        </p:txBody>
      </p:sp>
      <p:sp>
        <p:nvSpPr>
          <p:cNvPr id="11" name="Text 9"/>
          <p:cNvSpPr/>
          <p:nvPr/>
        </p:nvSpPr>
        <p:spPr>
          <a:xfrm>
            <a:off x="5943600" y="2304288"/>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Espace Discrete(7) : 3×2 affectations + attente</a:t>
            </a:r>
            <a:endParaRPr lang="en-US" sz="1050" dirty="0"/>
          </a:p>
        </p:txBody>
      </p:sp>
      <p:sp>
        <p:nvSpPr>
          <p:cNvPr id="12" name="Shape 10"/>
          <p:cNvSpPr/>
          <p:nvPr/>
        </p:nvSpPr>
        <p:spPr>
          <a:xfrm>
            <a:off x="457200" y="3054096"/>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145536"/>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Transition  𝒫</a:t>
            </a:r>
            <a:endParaRPr lang="en-US" sz="1400" dirty="0"/>
          </a:p>
        </p:txBody>
      </p:sp>
      <p:sp>
        <p:nvSpPr>
          <p:cNvPr id="14" name="Text 12"/>
          <p:cNvSpPr/>
          <p:nvPr/>
        </p:nvSpPr>
        <p:spPr>
          <a:xfrm>
            <a:off x="2377440" y="3145536"/>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Simulateur stochastique : temps de trajet log-normaux</a:t>
            </a:r>
            <a:endParaRPr lang="en-US" sz="1100" dirty="0"/>
          </a:p>
        </p:txBody>
      </p:sp>
      <p:sp>
        <p:nvSpPr>
          <p:cNvPr id="15" name="Text 13"/>
          <p:cNvSpPr/>
          <p:nvPr/>
        </p:nvSpPr>
        <p:spPr>
          <a:xfrm>
            <a:off x="5943600" y="3145536"/>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Tᵢⱼ ~ LogNormale(T̄, σ = 0,12) + pannes 𝒰[10, 30] min</a:t>
            </a:r>
            <a:endParaRPr lang="en-US" sz="1050" dirty="0"/>
          </a:p>
        </p:txBody>
      </p:sp>
      <p:sp>
        <p:nvSpPr>
          <p:cNvPr id="16" name="Shape 14"/>
          <p:cNvSpPr/>
          <p:nvPr/>
        </p:nvSpPr>
        <p:spPr>
          <a:xfrm>
            <a:off x="457200" y="3895344"/>
            <a:ext cx="822960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85800" y="3986784"/>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Récompense  Rₜ</a:t>
            </a:r>
            <a:endParaRPr lang="en-US" sz="1400" dirty="0"/>
          </a:p>
        </p:txBody>
      </p:sp>
      <p:sp>
        <p:nvSpPr>
          <p:cNvPr id="18" name="Text 16"/>
          <p:cNvSpPr/>
          <p:nvPr/>
        </p:nvSpPr>
        <p:spPr>
          <a:xfrm>
            <a:off x="2377440" y="3986784"/>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Somme pondérée : rendement + équité + coût + attente</a:t>
            </a:r>
            <a:endParaRPr lang="en-US" sz="1100" dirty="0"/>
          </a:p>
        </p:txBody>
      </p:sp>
      <p:sp>
        <p:nvSpPr>
          <p:cNvPr id="19" name="Text 17"/>
          <p:cNvSpPr/>
          <p:nvPr/>
        </p:nvSpPr>
        <p:spPr>
          <a:xfrm>
            <a:off x="5943600" y="3986784"/>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w₁ = 1,0 · w₂ = 0,1 · w₃ = 0,05 · w₄ = 0,3</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L'environnement simulé : un réseau routier minier réaliste</a:t>
            </a:r>
            <a:endParaRPr lang="en-US" sz="2700" dirty="0"/>
          </a:p>
        </p:txBody>
      </p:sp>
      <p:sp>
        <p:nvSpPr>
          <p:cNvPr id="4" name="Shape 2"/>
          <p:cNvSpPr/>
          <p:nvPr/>
        </p:nvSpPr>
        <p:spPr>
          <a:xfrm>
            <a:off x="457200" y="1325880"/>
            <a:ext cx="539496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graphe_reseau_minier.png"/>
          <p:cNvPicPr>
            <a:picLocks noChangeAspect="1"/>
          </p:cNvPicPr>
          <p:nvPr/>
        </p:nvPicPr>
        <p:blipFill>
          <a:blip r:embed="rId3"/>
          <a:stretch>
            <a:fillRect/>
          </a:stretch>
        </p:blipFill>
        <p:spPr>
          <a:xfrm>
            <a:off x="548640" y="1536895"/>
            <a:ext cx="5212080" cy="3006969"/>
          </a:xfrm>
          <a:prstGeom prst="rect">
            <a:avLst/>
          </a:prstGeom>
        </p:spPr>
      </p:pic>
      <p:sp>
        <p:nvSpPr>
          <p:cNvPr id="6" name="Shape 3"/>
          <p:cNvSpPr/>
          <p:nvPr/>
        </p:nvSpPr>
        <p:spPr>
          <a:xfrm>
            <a:off x="5989320" y="1325880"/>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6144768" y="1408176"/>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7 nœuds</a:t>
            </a:r>
            <a:endParaRPr lang="en-US" sz="1150" dirty="0"/>
          </a:p>
        </p:txBody>
      </p:sp>
      <p:sp>
        <p:nvSpPr>
          <p:cNvPr id="8" name="Text 5"/>
          <p:cNvSpPr/>
          <p:nvPr/>
        </p:nvSpPr>
        <p:spPr>
          <a:xfrm>
            <a:off x="6144768" y="1664208"/>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1 yard, 1 jonction, 3 pelles (P1–P3), 2 dumps (D1–D2) — 24 arêtes orientées</a:t>
            </a:r>
            <a:endParaRPr lang="en-US" sz="900" dirty="0"/>
          </a:p>
        </p:txBody>
      </p:sp>
      <p:sp>
        <p:nvSpPr>
          <p:cNvPr id="9" name="Shape 6"/>
          <p:cNvSpPr/>
          <p:nvPr/>
        </p:nvSpPr>
        <p:spPr>
          <a:xfrm>
            <a:off x="5989320" y="2203704"/>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6144768" y="2286000"/>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Distances 0,8 – 4,3 km</a:t>
            </a:r>
            <a:endParaRPr lang="en-US" sz="1150" dirty="0"/>
          </a:p>
        </p:txBody>
      </p:sp>
      <p:sp>
        <p:nvSpPr>
          <p:cNvPr id="11" name="Text 8"/>
          <p:cNvSpPr/>
          <p:nvPr/>
        </p:nvSpPr>
        <p:spPr>
          <a:xfrm>
            <a:off x="6144768" y="2542032"/>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Pentes de 2 à 8 % intégrées au calcul de consommation</a:t>
            </a:r>
            <a:endParaRPr lang="en-US" sz="900" dirty="0"/>
          </a:p>
        </p:txBody>
      </p:sp>
      <p:sp>
        <p:nvSpPr>
          <p:cNvPr id="12" name="Shape 9"/>
          <p:cNvSpPr/>
          <p:nvPr/>
        </p:nvSpPr>
        <p:spPr>
          <a:xfrm>
            <a:off x="5989320" y="3081528"/>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6144768" y="3163824"/>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Stochasticité</a:t>
            </a:r>
            <a:endParaRPr lang="en-US" sz="1150" dirty="0"/>
          </a:p>
        </p:txBody>
      </p:sp>
      <p:sp>
        <p:nvSpPr>
          <p:cNvPr id="14" name="Text 11"/>
          <p:cNvSpPr/>
          <p:nvPr/>
        </p:nvSpPr>
        <p:spPr>
          <a:xfrm>
            <a:off x="6144768" y="3419856"/>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Trajets log-normaux (σ = 0,12), pannes 𝒰[10, 30] min, dégradation des routes</a:t>
            </a:r>
            <a:endParaRPr lang="en-US" sz="900" dirty="0"/>
          </a:p>
        </p:txBody>
      </p:sp>
      <p:sp>
        <p:nvSpPr>
          <p:cNvPr id="15" name="Shape 12"/>
          <p:cNvSpPr/>
          <p:nvPr/>
        </p:nvSpPr>
        <p:spPr>
          <a:xfrm>
            <a:off x="5989320" y="3959352"/>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6144768" y="4041648"/>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Conformité Gymnasium</a:t>
            </a:r>
            <a:endParaRPr lang="en-US" sz="1150" dirty="0"/>
          </a:p>
        </p:txBody>
      </p:sp>
      <p:sp>
        <p:nvSpPr>
          <p:cNvPr id="17" name="Text 14"/>
          <p:cNvSpPr/>
          <p:nvPr/>
        </p:nvSpPr>
        <p:spPr>
          <a:xfrm>
            <a:off x="6144768" y="4297680"/>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API reset / step / render — validé par gymnasium.utils.check_env() ✓</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 — CONTRIBUTION ORIGINALE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Calibration du signal de récompense : le terme w₄</a:t>
            </a:r>
            <a:endParaRPr lang="en-US" sz="2700" dirty="0"/>
          </a:p>
        </p:txBody>
      </p:sp>
      <p:sp>
        <p:nvSpPr>
          <p:cNvPr id="4" name="Text 2"/>
          <p:cNvSpPr/>
          <p:nvPr/>
        </p:nvSpPr>
        <p:spPr>
          <a:xfrm>
            <a:off x="457200" y="1298448"/>
            <a:ext cx="8229600" cy="347472"/>
          </a:xfrm>
          <a:prstGeom prst="rect">
            <a:avLst/>
          </a:prstGeom>
          <a:noFill/>
          <a:ln/>
        </p:spPr>
        <p:txBody>
          <a:bodyPr wrap="square" lIns="0" tIns="0" rIns="0" bIns="0" rtlCol="0" anchor="ctr"/>
          <a:lstStyle/>
          <a:p>
            <a:pPr marL="0" indent="0" algn="ctr">
              <a:buNone/>
            </a:pPr>
            <a:r>
              <a:rPr lang="en-US" sz="1400" b="1" dirty="0">
                <a:solidFill>
                  <a:srgbClr val="22303F"/>
                </a:solidFill>
                <a:latin typeface="Cambria" pitchFamily="34" charset="0"/>
                <a:ea typeface="Cambria" pitchFamily="34" charset="-122"/>
                <a:cs typeface="Cambria" pitchFamily="34" charset="-120"/>
              </a:rPr>
              <a:t>Rₜ  =  w₁·R_rendement  +  w₂·R_équité  +  w₃·R_coût  +  w₄·R_attente        avec  w₁ = 1,0 · w₂ = 0,1 · w₃ = 0,05 · w₄ = 0,3</a:t>
            </a:r>
            <a:endParaRPr lang="en-US" sz="1400" dirty="0"/>
          </a:p>
        </p:txBody>
      </p:sp>
      <p:sp>
        <p:nvSpPr>
          <p:cNvPr id="5" name="Shape 3"/>
          <p:cNvSpPr/>
          <p:nvPr/>
        </p:nvSpPr>
        <p:spPr>
          <a:xfrm>
            <a:off x="457200" y="1828800"/>
            <a:ext cx="2651760" cy="1737360"/>
          </a:xfrm>
          <a:prstGeom prst="roundRect">
            <a:avLst>
              <a:gd name="adj" fmla="val 315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6" name="Text 4"/>
          <p:cNvSpPr/>
          <p:nvPr/>
        </p:nvSpPr>
        <p:spPr>
          <a:xfrm>
            <a:off x="62179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Sans w₄</a:t>
            </a:r>
            <a:endParaRPr lang="en-US" sz="1250" dirty="0"/>
          </a:p>
        </p:txBody>
      </p:sp>
      <p:sp>
        <p:nvSpPr>
          <p:cNvPr id="7" name="Text 5"/>
          <p:cNvSpPr/>
          <p:nvPr/>
        </p:nvSpPr>
        <p:spPr>
          <a:xfrm>
            <a:off x="621792" y="2258568"/>
            <a:ext cx="2331720" cy="365760"/>
          </a:xfrm>
          <a:prstGeom prst="rect">
            <a:avLst/>
          </a:prstGeom>
          <a:noFill/>
          <a:ln/>
        </p:spPr>
        <p:txBody>
          <a:bodyPr wrap="square" lIns="0" tIns="0" rIns="0" bIns="0" rtlCol="0" anchor="ctr"/>
          <a:lstStyle/>
          <a:p>
            <a:pPr marL="0" indent="0">
              <a:buNone/>
            </a:pPr>
            <a:r>
              <a:rPr lang="en-US" sz="1700" b="1" dirty="0">
                <a:solidFill>
                  <a:srgbClr val="B03A2E"/>
                </a:solidFill>
                <a:latin typeface="Cambria" pitchFamily="34" charset="0"/>
                <a:ea typeface="Cambria" pitchFamily="34" charset="-122"/>
                <a:cs typeface="Cambria" pitchFamily="34" charset="-120"/>
              </a:rPr>
              <a:t>ΔR &lt; 6 × 10⁻⁴</a:t>
            </a:r>
            <a:endParaRPr lang="en-US" sz="1700" dirty="0"/>
          </a:p>
        </p:txBody>
      </p:sp>
      <p:sp>
        <p:nvSpPr>
          <p:cNvPr id="8" name="Text 6"/>
          <p:cNvSpPr/>
          <p:nvPr/>
        </p:nvSpPr>
        <p:spPr>
          <a:xfrm>
            <a:off x="62179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ATTENDRE indiscernable d'une action productive — apprentissage tabulaire impossible</a:t>
            </a:r>
            <a:endParaRPr lang="en-US" sz="980" dirty="0"/>
          </a:p>
        </p:txBody>
      </p:sp>
      <p:sp>
        <p:nvSpPr>
          <p:cNvPr id="9" name="Shape 7"/>
          <p:cNvSpPr/>
          <p:nvPr/>
        </p:nvSpPr>
        <p:spPr>
          <a:xfrm>
            <a:off x="3291840" y="1828800"/>
            <a:ext cx="2651760" cy="1737360"/>
          </a:xfrm>
          <a:prstGeom prst="roundRect">
            <a:avLst>
              <a:gd name="adj" fmla="val 315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0" name="Text 8"/>
          <p:cNvSpPr/>
          <p:nvPr/>
        </p:nvSpPr>
        <p:spPr>
          <a:xfrm>
            <a:off x="345643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w₄ = 0,3  (retenu)</a:t>
            </a:r>
            <a:endParaRPr lang="en-US" sz="1250" dirty="0"/>
          </a:p>
        </p:txBody>
      </p:sp>
      <p:sp>
        <p:nvSpPr>
          <p:cNvPr id="11" name="Text 9"/>
          <p:cNvSpPr/>
          <p:nvPr/>
        </p:nvSpPr>
        <p:spPr>
          <a:xfrm>
            <a:off x="3456432" y="2258568"/>
            <a:ext cx="2331720" cy="365760"/>
          </a:xfrm>
          <a:prstGeom prst="rect">
            <a:avLst/>
          </a:prstGeom>
          <a:noFill/>
          <a:ln/>
        </p:spPr>
        <p:txBody>
          <a:bodyPr wrap="square" lIns="0" tIns="0" rIns="0" bIns="0" rtlCol="0" anchor="ctr"/>
          <a:lstStyle/>
          <a:p>
            <a:pPr marL="0" indent="0">
              <a:buNone/>
            </a:pPr>
            <a:r>
              <a:rPr lang="en-US" sz="1700" b="1" dirty="0">
                <a:solidFill>
                  <a:srgbClr val="2E7D32"/>
                </a:solidFill>
                <a:latin typeface="Cambria" pitchFamily="34" charset="0"/>
                <a:ea typeface="Cambria" pitchFamily="34" charset="-122"/>
                <a:cs typeface="Cambria" pitchFamily="34" charset="-120"/>
              </a:rPr>
              <a:t>ΔR = 3,2 × 10⁻²</a:t>
            </a:r>
            <a:endParaRPr lang="en-US" sz="1700" dirty="0"/>
          </a:p>
        </p:txBody>
      </p:sp>
      <p:sp>
        <p:nvSpPr>
          <p:cNvPr id="12" name="Text 10"/>
          <p:cNvSpPr/>
          <p:nvPr/>
        </p:nvSpPr>
        <p:spPr>
          <a:xfrm>
            <a:off x="345643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Signal multiplié ×53 : tout cycle productif surpasse ATTENDRE — convergence effective</a:t>
            </a:r>
            <a:endParaRPr lang="en-US" sz="980" dirty="0"/>
          </a:p>
        </p:txBody>
      </p:sp>
      <p:sp>
        <p:nvSpPr>
          <p:cNvPr id="13" name="Shape 11"/>
          <p:cNvSpPr/>
          <p:nvPr/>
        </p:nvSpPr>
        <p:spPr>
          <a:xfrm>
            <a:off x="6126480" y="1828800"/>
            <a:ext cx="2651760" cy="1737360"/>
          </a:xfrm>
          <a:prstGeom prst="roundRect">
            <a:avLst>
              <a:gd name="adj" fmla="val 315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629107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w₄ = 1,0  (rejeté)</a:t>
            </a:r>
            <a:endParaRPr lang="en-US" sz="1250" dirty="0"/>
          </a:p>
        </p:txBody>
      </p:sp>
      <p:sp>
        <p:nvSpPr>
          <p:cNvPr id="15" name="Text 13"/>
          <p:cNvSpPr/>
          <p:nvPr/>
        </p:nvSpPr>
        <p:spPr>
          <a:xfrm>
            <a:off x="6291072" y="2258568"/>
            <a:ext cx="2331720" cy="365760"/>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Pénalité excessive</a:t>
            </a:r>
            <a:endParaRPr lang="en-US" sz="1700" dirty="0"/>
          </a:p>
        </p:txBody>
      </p:sp>
      <p:sp>
        <p:nvSpPr>
          <p:cNvPr id="16" name="Text 14"/>
          <p:cNvSpPr/>
          <p:nvPr/>
        </p:nvSpPr>
        <p:spPr>
          <a:xfrm>
            <a:off x="629107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ATTENDRE devient trop compétitive : l'agent sur-pénalise les files et fige la flotte</a:t>
            </a:r>
            <a:endParaRPr lang="en-US" sz="980" dirty="0"/>
          </a:p>
        </p:txBody>
      </p:sp>
      <p:sp>
        <p:nvSpPr>
          <p:cNvPr id="17" name="Shape 15"/>
          <p:cNvSpPr/>
          <p:nvPr/>
        </p:nvSpPr>
        <p:spPr>
          <a:xfrm>
            <a:off x="457200" y="3749040"/>
            <a:ext cx="8229600" cy="694944"/>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8" name="Text 16"/>
          <p:cNvSpPr/>
          <p:nvPr/>
        </p:nvSpPr>
        <p:spPr>
          <a:xfrm>
            <a:off x="658368" y="3877056"/>
            <a:ext cx="7863840" cy="256032"/>
          </a:xfrm>
          <a:prstGeom prst="rect">
            <a:avLst/>
          </a:prstGeom>
          <a:noFill/>
          <a:ln/>
        </p:spPr>
        <p:txBody>
          <a:bodyPr wrap="square" lIns="0" tIns="0" rIns="0" bIns="0" rtlCol="0" anchor="ctr"/>
          <a:lstStyle/>
          <a:p>
            <a:pPr marL="0" indent="0">
              <a:buNone/>
            </a:pPr>
            <a:r>
              <a:rPr lang="en-US" sz="1200" b="1" dirty="0">
                <a:solidFill>
                  <a:srgbClr val="8C4A1F"/>
                </a:solidFill>
                <a:latin typeface="Calibri" pitchFamily="34" charset="0"/>
                <a:ea typeface="Calibri" pitchFamily="34" charset="-122"/>
                <a:cs typeface="Calibri" pitchFamily="34" charset="-120"/>
              </a:rPr>
              <a:t>Démarche de calibration (Tableau 5.4 du mémoire)</a:t>
            </a:r>
            <a:endParaRPr lang="en-US" sz="1200" dirty="0"/>
          </a:p>
        </p:txBody>
      </p:sp>
      <p:sp>
        <p:nvSpPr>
          <p:cNvPr id="19" name="Text 17"/>
          <p:cNvSpPr/>
          <p:nvPr/>
        </p:nvSpPr>
        <p:spPr>
          <a:xfrm>
            <a:off x="658368" y="4133088"/>
            <a:ext cx="7863840" cy="256032"/>
          </a:xfrm>
          <a:prstGeom prst="rect">
            <a:avLst/>
          </a:prstGeom>
          <a:noFill/>
          <a:ln/>
        </p:spPr>
        <p:txBody>
          <a:bodyPr wrap="square" lIns="0" tIns="0" rIns="0" bIns="0" rtlCol="0" anchor="ctr"/>
          <a:lstStyle/>
          <a:p>
            <a:pPr marL="0" indent="0">
              <a:buNone/>
            </a:pPr>
            <a:r>
              <a:rPr lang="en-US" sz="1050" dirty="0">
                <a:solidFill>
                  <a:srgbClr val="22303F"/>
                </a:solidFill>
                <a:latin typeface="Calibri" pitchFamily="34" charset="0"/>
                <a:ea typeface="Calibri" pitchFamily="34" charset="-122"/>
                <a:cs typeface="Calibri" pitchFamily="34" charset="-120"/>
              </a:rPr>
              <a:t>Diagnostic empirique de ΔR → l'ajout de w₄ = 0,3 débloque la convergence tabulaire.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Une progression algorithmique justifiée à chaque étape</a:t>
            </a:r>
            <a:endParaRPr lang="en-US" sz="2700" dirty="0"/>
          </a:p>
        </p:txBody>
      </p:sp>
      <p:sp>
        <p:nvSpPr>
          <p:cNvPr id="4" name="Shape 2"/>
          <p:cNvSpPr/>
          <p:nvPr/>
        </p:nvSpPr>
        <p:spPr>
          <a:xfrm>
            <a:off x="457200"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21792" y="1627632"/>
            <a:ext cx="310896" cy="310896"/>
          </a:xfrm>
          <a:prstGeom prst="ellipse">
            <a:avLst/>
          </a:prstGeom>
          <a:solidFill>
            <a:srgbClr val="5A6672"/>
          </a:solidFill>
          <a:ln/>
        </p:spPr>
      </p:sp>
      <p:sp>
        <p:nvSpPr>
          <p:cNvPr id="6" name="Text 4"/>
          <p:cNvSpPr/>
          <p:nvPr/>
        </p:nvSpPr>
        <p:spPr>
          <a:xfrm>
            <a:off x="621792"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24128"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Q-Learning</a:t>
            </a:r>
            <a:endParaRPr lang="en-US" sz="1350" dirty="0"/>
          </a:p>
        </p:txBody>
      </p:sp>
      <p:sp>
        <p:nvSpPr>
          <p:cNvPr id="8" name="Text 6"/>
          <p:cNvSpPr/>
          <p:nvPr/>
        </p:nvSpPr>
        <p:spPr>
          <a:xfrm>
            <a:off x="621792"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Tabulaire · off-policy</a:t>
            </a:r>
            <a:endParaRPr lang="en-US" sz="1000" dirty="0"/>
          </a:p>
        </p:txBody>
      </p:sp>
      <p:sp>
        <p:nvSpPr>
          <p:cNvPr id="9" name="Text 7"/>
          <p:cNvSpPr/>
          <p:nvPr/>
        </p:nvSpPr>
        <p:spPr>
          <a:xfrm>
            <a:off x="621792"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Référence pédagogique : converge, mais requiert une discrétisation de l'état</a:t>
            </a:r>
            <a:endParaRPr lang="en-US" sz="950" dirty="0"/>
          </a:p>
        </p:txBody>
      </p:sp>
      <p:sp>
        <p:nvSpPr>
          <p:cNvPr id="10" name="Text 8"/>
          <p:cNvSpPr/>
          <p:nvPr/>
        </p:nvSpPr>
        <p:spPr>
          <a:xfrm>
            <a:off x="2414016"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2633472"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2" name="Shape 10"/>
          <p:cNvSpPr/>
          <p:nvPr/>
        </p:nvSpPr>
        <p:spPr>
          <a:xfrm>
            <a:off x="2798064" y="1627632"/>
            <a:ext cx="310896" cy="310896"/>
          </a:xfrm>
          <a:prstGeom prst="ellipse">
            <a:avLst/>
          </a:prstGeom>
          <a:solidFill>
            <a:srgbClr val="5A6672"/>
          </a:solidFill>
          <a:ln/>
        </p:spPr>
      </p:sp>
      <p:sp>
        <p:nvSpPr>
          <p:cNvPr id="13" name="Text 11"/>
          <p:cNvSpPr/>
          <p:nvPr/>
        </p:nvSpPr>
        <p:spPr>
          <a:xfrm>
            <a:off x="2798064"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3200400"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SARSA</a:t>
            </a:r>
            <a:endParaRPr lang="en-US" sz="1350" dirty="0"/>
          </a:p>
        </p:txBody>
      </p:sp>
      <p:sp>
        <p:nvSpPr>
          <p:cNvPr id="15" name="Text 13"/>
          <p:cNvSpPr/>
          <p:nvPr/>
        </p:nvSpPr>
        <p:spPr>
          <a:xfrm>
            <a:off x="2798064"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Tabulaire · on-policy</a:t>
            </a:r>
            <a:endParaRPr lang="en-US" sz="1000" dirty="0"/>
          </a:p>
        </p:txBody>
      </p:sp>
      <p:sp>
        <p:nvSpPr>
          <p:cNvPr id="16" name="Text 14"/>
          <p:cNvSpPr/>
          <p:nvPr/>
        </p:nvSpPr>
        <p:spPr>
          <a:xfrm>
            <a:off x="2798064"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Comparaison on/off-policy : plus conservateur, plafonne plus bas</a:t>
            </a:r>
            <a:endParaRPr lang="en-US" sz="950" dirty="0"/>
          </a:p>
        </p:txBody>
      </p:sp>
      <p:sp>
        <p:nvSpPr>
          <p:cNvPr id="17" name="Text 15"/>
          <p:cNvSpPr/>
          <p:nvPr/>
        </p:nvSpPr>
        <p:spPr>
          <a:xfrm>
            <a:off x="4590288"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4809744"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9" name="Shape 17"/>
          <p:cNvSpPr/>
          <p:nvPr/>
        </p:nvSpPr>
        <p:spPr>
          <a:xfrm>
            <a:off x="4974336" y="1627632"/>
            <a:ext cx="310896" cy="310896"/>
          </a:xfrm>
          <a:prstGeom prst="ellipse">
            <a:avLst/>
          </a:prstGeom>
          <a:solidFill>
            <a:srgbClr val="5A6672"/>
          </a:solidFill>
          <a:ln/>
        </p:spPr>
      </p:sp>
      <p:sp>
        <p:nvSpPr>
          <p:cNvPr id="20" name="Text 18"/>
          <p:cNvSpPr/>
          <p:nvPr/>
        </p:nvSpPr>
        <p:spPr>
          <a:xfrm>
            <a:off x="4974336"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p:nvPr/>
        </p:nvSpPr>
        <p:spPr>
          <a:xfrm>
            <a:off x="5376672"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DQN</a:t>
            </a:r>
            <a:endParaRPr lang="en-US" sz="1350" dirty="0"/>
          </a:p>
        </p:txBody>
      </p:sp>
      <p:sp>
        <p:nvSpPr>
          <p:cNvPr id="22" name="Text 20"/>
          <p:cNvSpPr/>
          <p:nvPr/>
        </p:nvSpPr>
        <p:spPr>
          <a:xfrm>
            <a:off x="4974336"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Deep RL · valeur</a:t>
            </a:r>
            <a:endParaRPr lang="en-US" sz="1000" dirty="0"/>
          </a:p>
        </p:txBody>
      </p:sp>
      <p:sp>
        <p:nvSpPr>
          <p:cNvPr id="23" name="Text 21"/>
          <p:cNvSpPr/>
          <p:nvPr/>
        </p:nvSpPr>
        <p:spPr>
          <a:xfrm>
            <a:off x="4974336"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Le réseau remplace la Q-table : exploite les 147 dimensions sans discrétisation</a:t>
            </a:r>
            <a:endParaRPr lang="en-US" sz="950" dirty="0"/>
          </a:p>
        </p:txBody>
      </p:sp>
      <p:sp>
        <p:nvSpPr>
          <p:cNvPr id="24" name="Text 22"/>
          <p:cNvSpPr/>
          <p:nvPr/>
        </p:nvSpPr>
        <p:spPr>
          <a:xfrm>
            <a:off x="6766560"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25" name="Shape 23"/>
          <p:cNvSpPr/>
          <p:nvPr/>
        </p:nvSpPr>
        <p:spPr>
          <a:xfrm>
            <a:off x="6986016" y="1463040"/>
            <a:ext cx="1993392" cy="1965960"/>
          </a:xfrm>
          <a:prstGeom prst="roundRect">
            <a:avLst>
              <a:gd name="adj" fmla="val 27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6" name="Shape 24"/>
          <p:cNvSpPr/>
          <p:nvPr/>
        </p:nvSpPr>
        <p:spPr>
          <a:xfrm>
            <a:off x="7150608" y="1627632"/>
            <a:ext cx="310896" cy="310896"/>
          </a:xfrm>
          <a:prstGeom prst="ellipse">
            <a:avLst/>
          </a:prstGeom>
          <a:solidFill>
            <a:srgbClr val="B4622D"/>
          </a:solidFill>
          <a:ln/>
        </p:spPr>
      </p:sp>
      <p:sp>
        <p:nvSpPr>
          <p:cNvPr id="27" name="Text 25"/>
          <p:cNvSpPr/>
          <p:nvPr/>
        </p:nvSpPr>
        <p:spPr>
          <a:xfrm>
            <a:off x="7150608"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8" name="Text 26"/>
          <p:cNvSpPr/>
          <p:nvPr/>
        </p:nvSpPr>
        <p:spPr>
          <a:xfrm>
            <a:off x="7552944"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PPO</a:t>
            </a:r>
            <a:endParaRPr lang="en-US" sz="1350" dirty="0"/>
          </a:p>
        </p:txBody>
      </p:sp>
      <p:sp>
        <p:nvSpPr>
          <p:cNvPr id="29" name="Text 27"/>
          <p:cNvSpPr/>
          <p:nvPr/>
        </p:nvSpPr>
        <p:spPr>
          <a:xfrm>
            <a:off x="7150608"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Deep RL · politique</a:t>
            </a:r>
            <a:endParaRPr lang="en-US" sz="1000" dirty="0"/>
          </a:p>
        </p:txBody>
      </p:sp>
      <p:sp>
        <p:nvSpPr>
          <p:cNvPr id="30" name="Text 28"/>
          <p:cNvSpPr/>
          <p:nvPr/>
        </p:nvSpPr>
        <p:spPr>
          <a:xfrm>
            <a:off x="7150608"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Algorithme final : on-policy stable, clipping, adapté au stochastique</a:t>
            </a:r>
            <a:endParaRPr lang="en-US" sz="950" dirty="0"/>
          </a:p>
        </p:txBody>
      </p:sp>
      <p:sp>
        <p:nvSpPr>
          <p:cNvPr id="31" name="Shape 29"/>
          <p:cNvSpPr/>
          <p:nvPr/>
        </p:nvSpPr>
        <p:spPr>
          <a:xfrm>
            <a:off x="457200" y="3703320"/>
            <a:ext cx="8229600" cy="1051560"/>
          </a:xfrm>
          <a:prstGeom prst="roundRect">
            <a:avLst>
              <a:gd name="adj" fmla="val 5217"/>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32" name="Text 30"/>
          <p:cNvSpPr/>
          <p:nvPr/>
        </p:nvSpPr>
        <p:spPr>
          <a:xfrm>
            <a:off x="658368" y="3822192"/>
            <a:ext cx="7863840" cy="256032"/>
          </a:xfrm>
          <a:prstGeom prst="rect">
            <a:avLst/>
          </a:prstGeom>
          <a:noFill/>
          <a:ln/>
        </p:spPr>
        <p:txBody>
          <a:bodyPr wrap="square" lIns="0" tIns="0" rIns="0" bIns="0" rtlCol="0" anchor="ctr"/>
          <a:lstStyle/>
          <a:p>
            <a:pPr marL="0" indent="0">
              <a:buNone/>
            </a:pPr>
            <a:r>
              <a:rPr lang="en-US" sz="1200" b="1" dirty="0">
                <a:solidFill>
                  <a:srgbClr val="8C4A1F"/>
                </a:solidFill>
                <a:latin typeface="Calibri" pitchFamily="34" charset="0"/>
                <a:ea typeface="Calibri" pitchFamily="34" charset="-122"/>
                <a:cs typeface="Calibri" pitchFamily="34" charset="-120"/>
              </a:rPr>
              <a:t>Deux transitions clés, chacune motivée par la limite de l'étape précédente</a:t>
            </a:r>
            <a:endParaRPr lang="en-US" sz="1200" dirty="0"/>
          </a:p>
        </p:txBody>
      </p:sp>
      <p:sp>
        <p:nvSpPr>
          <p:cNvPr id="33" name="Text 31"/>
          <p:cNvSpPr/>
          <p:nvPr/>
        </p:nvSpPr>
        <p:spPr>
          <a:xfrm>
            <a:off x="658368" y="4087368"/>
            <a:ext cx="7863840" cy="621792"/>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22303F"/>
                </a:solidFill>
                <a:latin typeface="Calibri" pitchFamily="34" charset="0"/>
                <a:ea typeface="Calibri" pitchFamily="34" charset="-122"/>
                <a:cs typeface="Calibri" pitchFamily="34" charset="-120"/>
              </a:rPr>
              <a:t>Tabulaire → Deep RL : 147 dimensions non discrétisables sans perte majeure</a:t>
            </a:r>
            <a:endParaRPr lang="en-US" sz="1050" dirty="0"/>
          </a:p>
          <a:p>
            <a:pPr marL="342900" indent="-342900">
              <a:spcAft>
                <a:spcPts val="400"/>
              </a:spcAft>
              <a:buSzPct val="100000"/>
              <a:buChar char="•"/>
            </a:pPr>
            <a:r>
              <a:rPr lang="en-US" sz="1050" dirty="0">
                <a:solidFill>
                  <a:srgbClr val="22303F"/>
                </a:solidFill>
                <a:latin typeface="Calibri" pitchFamily="34" charset="0"/>
                <a:ea typeface="Calibri" pitchFamily="34" charset="-122"/>
                <a:cs typeface="Calibri" pitchFamily="34" charset="-120"/>
              </a:rPr>
              <a:t>DQN → PPO : le clipping stabilise l'apprentissage en environnement stochastique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Méthodes tabulaires : Q-Learning (off-policy) vs SARSA (on-policy)</a:t>
            </a:r>
            <a:endParaRPr lang="en-US" sz="2700" dirty="0"/>
          </a:p>
        </p:txBody>
      </p:sp>
      <p:sp>
        <p:nvSpPr>
          <p:cNvPr id="4" name="Shape 2"/>
          <p:cNvSpPr/>
          <p:nvPr/>
        </p:nvSpPr>
        <p:spPr>
          <a:xfrm>
            <a:off x="457200" y="1371600"/>
            <a:ext cx="402336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99616"/>
            <a:ext cx="365760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Q-Learning — off-policy</a:t>
            </a:r>
            <a:endParaRPr lang="en-US" sz="1300" dirty="0"/>
          </a:p>
        </p:txBody>
      </p:sp>
      <p:sp>
        <p:nvSpPr>
          <p:cNvPr id="6" name="Text 4"/>
          <p:cNvSpPr/>
          <p:nvPr/>
        </p:nvSpPr>
        <p:spPr>
          <a:xfrm>
            <a:off x="640080" y="1810512"/>
            <a:ext cx="3703320" cy="320040"/>
          </a:xfrm>
          <a:prstGeom prst="rect">
            <a:avLst/>
          </a:prstGeom>
          <a:noFill/>
          <a:ln/>
        </p:spPr>
        <p:txBody>
          <a:bodyPr wrap="square" lIns="0" tIns="0" rIns="0" bIns="0" rtlCol="0" anchor="ctr"/>
          <a:lstStyle/>
          <a:p>
            <a:pPr marL="0" indent="0">
              <a:buNone/>
            </a:pPr>
            <a:r>
              <a:rPr lang="en-US" sz="1100" b="1" dirty="0">
                <a:solidFill>
                  <a:srgbClr val="22303F"/>
                </a:solidFill>
                <a:latin typeface="Courier New" pitchFamily="34" charset="0"/>
                <a:ea typeface="Courier New" pitchFamily="34" charset="-122"/>
                <a:cs typeface="Courier New" pitchFamily="34" charset="-120"/>
              </a:rPr>
              <a:t>Q(s,a) ← Q(s,a) + α [ r + γ·max Q(s′,a′) − Q(s,a) ]</a:t>
            </a:r>
            <a:endParaRPr lang="en-US" sz="1100" dirty="0"/>
          </a:p>
        </p:txBody>
      </p:sp>
      <p:sp>
        <p:nvSpPr>
          <p:cNvPr id="7" name="Text 5"/>
          <p:cNvSpPr/>
          <p:nvPr/>
        </p:nvSpPr>
        <p:spPr>
          <a:xfrm>
            <a:off x="640080" y="2176272"/>
            <a:ext cx="3703320" cy="658368"/>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Apprend la politique optimale en utilisant le meilleur a′ possible, indépendamment de l'action réellement exécutée.</a:t>
            </a:r>
            <a:endParaRPr lang="en-US" sz="1050" dirty="0"/>
          </a:p>
        </p:txBody>
      </p:sp>
      <p:sp>
        <p:nvSpPr>
          <p:cNvPr id="8" name="Shape 6"/>
          <p:cNvSpPr/>
          <p:nvPr/>
        </p:nvSpPr>
        <p:spPr>
          <a:xfrm>
            <a:off x="4663440" y="1371600"/>
            <a:ext cx="402336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4846320" y="1499616"/>
            <a:ext cx="365760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SARSA — on-policy</a:t>
            </a:r>
            <a:endParaRPr lang="en-US" sz="1300" dirty="0"/>
          </a:p>
        </p:txBody>
      </p:sp>
      <p:sp>
        <p:nvSpPr>
          <p:cNvPr id="10" name="Text 8"/>
          <p:cNvSpPr/>
          <p:nvPr/>
        </p:nvSpPr>
        <p:spPr>
          <a:xfrm>
            <a:off x="4846320" y="1810512"/>
            <a:ext cx="3703320" cy="320040"/>
          </a:xfrm>
          <a:prstGeom prst="rect">
            <a:avLst/>
          </a:prstGeom>
          <a:noFill/>
          <a:ln/>
        </p:spPr>
        <p:txBody>
          <a:bodyPr wrap="square" lIns="0" tIns="0" rIns="0" bIns="0" rtlCol="0" anchor="ctr"/>
          <a:lstStyle/>
          <a:p>
            <a:pPr marL="0" indent="0">
              <a:buNone/>
            </a:pPr>
            <a:r>
              <a:rPr lang="en-US" sz="1100" b="1" dirty="0">
                <a:solidFill>
                  <a:srgbClr val="22303F"/>
                </a:solidFill>
                <a:latin typeface="Courier New" pitchFamily="34" charset="0"/>
                <a:ea typeface="Courier New" pitchFamily="34" charset="-122"/>
                <a:cs typeface="Courier New" pitchFamily="34" charset="-120"/>
              </a:rPr>
              <a:t>Q(s,a) ← Q(s,a) + α [ r + γ·Q(s′,aₜ₊₁) − Q(s,a) ]</a:t>
            </a:r>
            <a:endParaRPr lang="en-US" sz="1100" dirty="0"/>
          </a:p>
        </p:txBody>
      </p:sp>
      <p:sp>
        <p:nvSpPr>
          <p:cNvPr id="11" name="Text 9"/>
          <p:cNvSpPr/>
          <p:nvPr/>
        </p:nvSpPr>
        <p:spPr>
          <a:xfrm>
            <a:off x="4846320" y="2176272"/>
            <a:ext cx="3703320" cy="658368"/>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Évalue la politique qu'il suit réellement : plus prudent, mais plafonne plus bas dans notre environnement.</a:t>
            </a:r>
            <a:endParaRPr lang="en-US" sz="1050" dirty="0"/>
          </a:p>
        </p:txBody>
      </p:sp>
      <p:sp>
        <p:nvSpPr>
          <p:cNvPr id="12" name="Text 10"/>
          <p:cNvSpPr/>
          <p:nvPr/>
        </p:nvSpPr>
        <p:spPr>
          <a:xfrm>
            <a:off x="457200" y="3063240"/>
            <a:ext cx="8229600" cy="320040"/>
          </a:xfrm>
          <a:prstGeom prst="rect">
            <a:avLst/>
          </a:prstGeom>
          <a:noFill/>
          <a:ln/>
        </p:spPr>
        <p:txBody>
          <a:bodyPr wrap="square" lIns="0" tIns="0" rIns="0" bIns="0" rtlCol="0" anchor="ctr"/>
          <a:lstStyle/>
          <a:p>
            <a:pPr marL="0" indent="0" algn="ctr">
              <a:buNone/>
            </a:pPr>
            <a:r>
              <a:rPr lang="en-US" sz="1250" b="1" i="1" dirty="0">
                <a:solidFill>
                  <a:srgbClr val="8C4A1F"/>
                </a:solidFill>
                <a:latin typeface="Calibri" pitchFamily="34" charset="0"/>
                <a:ea typeface="Calibri" pitchFamily="34" charset="-122"/>
                <a:cs typeface="Calibri" pitchFamily="34" charset="-120"/>
              </a:rPr>
              <a:t>La différence en un mot : Q-Learning apprend avec le meilleur a′ possible ; SARSA avec l'action réellement prise.</a:t>
            </a:r>
            <a:endParaRPr lang="en-US" sz="1250" dirty="0"/>
          </a:p>
        </p:txBody>
      </p:sp>
      <p:sp>
        <p:nvSpPr>
          <p:cNvPr id="13" name="Shape 11"/>
          <p:cNvSpPr/>
          <p:nvPr/>
        </p:nvSpPr>
        <p:spPr>
          <a:xfrm>
            <a:off x="457200"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548640"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α = 0,2</a:t>
            </a:r>
            <a:endParaRPr lang="en-US" sz="1500" dirty="0"/>
          </a:p>
        </p:txBody>
      </p:sp>
      <p:sp>
        <p:nvSpPr>
          <p:cNvPr id="15" name="Text 13"/>
          <p:cNvSpPr/>
          <p:nvPr/>
        </p:nvSpPr>
        <p:spPr>
          <a:xfrm>
            <a:off x="548640"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taux d'apprentissage</a:t>
            </a:r>
            <a:endParaRPr lang="en-US" sz="1050" dirty="0"/>
          </a:p>
        </p:txBody>
      </p:sp>
      <p:sp>
        <p:nvSpPr>
          <p:cNvPr id="16" name="Shape 14"/>
          <p:cNvSpPr/>
          <p:nvPr/>
        </p:nvSpPr>
        <p:spPr>
          <a:xfrm>
            <a:off x="2633472"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2724912"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γ = 0,99</a:t>
            </a:r>
            <a:endParaRPr lang="en-US" sz="1500" dirty="0"/>
          </a:p>
        </p:txBody>
      </p:sp>
      <p:sp>
        <p:nvSpPr>
          <p:cNvPr id="18" name="Text 16"/>
          <p:cNvSpPr/>
          <p:nvPr/>
        </p:nvSpPr>
        <p:spPr>
          <a:xfrm>
            <a:off x="2724912"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actualisation</a:t>
            </a:r>
            <a:endParaRPr lang="en-US" sz="1050" dirty="0"/>
          </a:p>
        </p:txBody>
      </p:sp>
      <p:sp>
        <p:nvSpPr>
          <p:cNvPr id="19" name="Shape 17"/>
          <p:cNvSpPr/>
          <p:nvPr/>
        </p:nvSpPr>
        <p:spPr>
          <a:xfrm>
            <a:off x="4809744"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Text 18"/>
          <p:cNvSpPr/>
          <p:nvPr/>
        </p:nvSpPr>
        <p:spPr>
          <a:xfrm>
            <a:off x="4901184"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ε : 1,0 → 0,01</a:t>
            </a:r>
            <a:endParaRPr lang="en-US" sz="1500" dirty="0"/>
          </a:p>
        </p:txBody>
      </p:sp>
      <p:sp>
        <p:nvSpPr>
          <p:cNvPr id="21" name="Text 19"/>
          <p:cNvSpPr/>
          <p:nvPr/>
        </p:nvSpPr>
        <p:spPr>
          <a:xfrm>
            <a:off x="4901184"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décroissance linéaire</a:t>
            </a:r>
            <a:endParaRPr lang="en-US" sz="1050" dirty="0"/>
          </a:p>
        </p:txBody>
      </p:sp>
      <p:sp>
        <p:nvSpPr>
          <p:cNvPr id="22" name="Shape 20"/>
          <p:cNvSpPr/>
          <p:nvPr/>
        </p:nvSpPr>
        <p:spPr>
          <a:xfrm>
            <a:off x="6986016"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3" name="Text 21"/>
          <p:cNvSpPr/>
          <p:nvPr/>
        </p:nvSpPr>
        <p:spPr>
          <a:xfrm>
            <a:off x="7077456"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30 000 épisodes</a:t>
            </a:r>
            <a:endParaRPr lang="en-US" sz="1500" dirty="0"/>
          </a:p>
        </p:txBody>
      </p:sp>
      <p:sp>
        <p:nvSpPr>
          <p:cNvPr id="24" name="Text 22"/>
          <p:cNvSpPr/>
          <p:nvPr/>
        </p:nvSpPr>
        <p:spPr>
          <a:xfrm>
            <a:off x="7077456"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17 034 états effectifs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DQN : le réseau de neurones remplace la Q-table</a:t>
            </a:r>
            <a:endParaRPr lang="en-US" sz="2700" dirty="0"/>
          </a:p>
        </p:txBody>
      </p:sp>
      <p:sp>
        <p:nvSpPr>
          <p:cNvPr id="4" name="Shape 2"/>
          <p:cNvSpPr/>
          <p:nvPr/>
        </p:nvSpPr>
        <p:spPr>
          <a:xfrm>
            <a:off x="457200" y="1371600"/>
            <a:ext cx="5074920" cy="1600200"/>
          </a:xfrm>
          <a:prstGeom prst="roundRect">
            <a:avLst>
              <a:gd name="adj" fmla="val 3429"/>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Architecture_du_réseau_de_neurones_MLP_de_lagent_PPO_drawio.png"/>
          <p:cNvPicPr>
            <a:picLocks noChangeAspect="1"/>
          </p:cNvPicPr>
          <p:nvPr/>
        </p:nvPicPr>
        <p:blipFill>
          <a:blip r:embed="rId3"/>
          <a:stretch>
            <a:fillRect/>
          </a:stretch>
        </p:blipFill>
        <p:spPr>
          <a:xfrm>
            <a:off x="566928" y="1546368"/>
            <a:ext cx="4846320" cy="1250663"/>
          </a:xfrm>
          <a:prstGeom prst="rect">
            <a:avLst/>
          </a:prstGeom>
        </p:spPr>
      </p:pic>
      <p:sp>
        <p:nvSpPr>
          <p:cNvPr id="6" name="Text 3"/>
          <p:cNvSpPr/>
          <p:nvPr/>
        </p:nvSpPr>
        <p:spPr>
          <a:xfrm>
            <a:off x="457200" y="3035808"/>
            <a:ext cx="5074920" cy="566928"/>
          </a:xfrm>
          <a:prstGeom prst="rect">
            <a:avLst/>
          </a:prstGeom>
          <a:noFill/>
          <a:ln/>
        </p:spPr>
        <p:txBody>
          <a:bodyPr wrap="square" lIns="0" tIns="0" rIns="0" bIns="0" rtlCol="0" anchor="ctr"/>
          <a:lstStyle/>
          <a:p>
            <a:pPr marL="0" indent="0">
              <a:buNone/>
            </a:pPr>
            <a:r>
              <a:rPr lang="en-US" sz="1050" i="1" dirty="0">
                <a:solidFill>
                  <a:srgbClr val="5A6672"/>
                </a:solidFill>
                <a:latin typeface="Calibri" pitchFamily="34" charset="0"/>
                <a:ea typeface="Calibri" pitchFamily="34" charset="-122"/>
                <a:cs typeface="Calibri" pitchFamily="34" charset="-120"/>
              </a:rPr>
              <a:t>MLP [147 → 128 → 128 → 7], activations ReLU — la même architecture sert d'approximateur à DQN et à l'acteur de PPO.</a:t>
            </a:r>
            <a:endParaRPr lang="en-US" sz="1050" dirty="0"/>
          </a:p>
        </p:txBody>
      </p:sp>
      <p:sp>
        <p:nvSpPr>
          <p:cNvPr id="7" name="Shape 4"/>
          <p:cNvSpPr/>
          <p:nvPr/>
        </p:nvSpPr>
        <p:spPr>
          <a:xfrm>
            <a:off x="5760720" y="1371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925312" y="1463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Experience Replay</a:t>
            </a:r>
            <a:endParaRPr lang="en-US" sz="1150" dirty="0"/>
          </a:p>
        </p:txBody>
      </p:sp>
      <p:sp>
        <p:nvSpPr>
          <p:cNvPr id="9" name="Text 6"/>
          <p:cNvSpPr/>
          <p:nvPr/>
        </p:nvSpPr>
        <p:spPr>
          <a:xfrm>
            <a:off x="5925312" y="1719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Buffer de 200 000 transitions (s, a, r, s′) : les mini-batches tirés au hasard brisent les corrélations temporelles</a:t>
            </a:r>
            <a:endParaRPr lang="en-US" sz="930" dirty="0"/>
          </a:p>
        </p:txBody>
      </p:sp>
      <p:sp>
        <p:nvSpPr>
          <p:cNvPr id="10" name="Shape 7"/>
          <p:cNvSpPr/>
          <p:nvPr/>
        </p:nvSpPr>
        <p:spPr>
          <a:xfrm>
            <a:off x="5760720" y="2514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925312" y="2606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Target Network</a:t>
            </a:r>
            <a:endParaRPr lang="en-US" sz="1150" dirty="0"/>
          </a:p>
        </p:txBody>
      </p:sp>
      <p:sp>
        <p:nvSpPr>
          <p:cNvPr id="12" name="Text 9"/>
          <p:cNvSpPr/>
          <p:nvPr/>
        </p:nvSpPr>
        <p:spPr>
          <a:xfrm>
            <a:off x="5925312" y="2862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Réseau cible figé, synchronisé périodiquement : stabilise les cibles d'apprentissage et évite la divergence</a:t>
            </a:r>
            <a:endParaRPr lang="en-US" sz="930" dirty="0"/>
          </a:p>
        </p:txBody>
      </p:sp>
      <p:sp>
        <p:nvSpPr>
          <p:cNvPr id="13" name="Shape 10"/>
          <p:cNvSpPr/>
          <p:nvPr/>
        </p:nvSpPr>
        <p:spPr>
          <a:xfrm>
            <a:off x="5760720" y="3657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1"/>
          <p:cNvSpPr/>
          <p:nvPr/>
        </p:nvSpPr>
        <p:spPr>
          <a:xfrm>
            <a:off x="5925312" y="3749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2 000 000 steps</a:t>
            </a:r>
            <a:endParaRPr lang="en-US" sz="1150" dirty="0"/>
          </a:p>
        </p:txBody>
      </p:sp>
      <p:sp>
        <p:nvSpPr>
          <p:cNvPr id="15" name="Text 12"/>
          <p:cNvSpPr/>
          <p:nvPr/>
        </p:nvSpPr>
        <p:spPr>
          <a:xfrm>
            <a:off x="5925312" y="4005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Budget d'entraînement, learning rate 3×10⁻⁴, batch 64 — implémentation Stable-Baselines3</a:t>
            </a:r>
            <a:endParaRPr lang="en-US" sz="930" dirty="0"/>
          </a:p>
        </p:txBody>
      </p:sp>
      <p:sp>
        <p:nvSpPr>
          <p:cNvPr id="16" name="Text 13"/>
          <p:cNvSpPr/>
          <p:nvPr/>
        </p:nvSpPr>
        <p:spPr>
          <a:xfrm>
            <a:off x="510639" y="4640580"/>
            <a:ext cx="8229600" cy="502920"/>
          </a:xfrm>
          <a:prstGeom prst="rect">
            <a:avLst/>
          </a:prstGeom>
          <a:noFill/>
          <a:ln/>
        </p:spPr>
        <p:txBody>
          <a:bodyPr wrap="square" lIns="0" tIns="0" rIns="0" bIns="0" rtlCol="0" anchor="ctr"/>
          <a:lstStyle/>
          <a:p>
            <a:pPr marL="0" indent="0">
              <a:buNone/>
            </a:pPr>
            <a:r>
              <a:rPr lang="en-US" sz="1200" b="1" i="1" dirty="0">
                <a:solidFill>
                  <a:srgbClr val="8C4A1F"/>
                </a:solidFill>
                <a:latin typeface="Calibri" pitchFamily="34" charset="0"/>
                <a:ea typeface="Calibri" pitchFamily="34" charset="-122"/>
                <a:cs typeface="Calibri" pitchFamily="34" charset="-120"/>
              </a:rPr>
              <a:t>Pourquoi le Deep RL ? Il exploite directement les 147 dimensions continues — positions exactes, files, disponibilités — sans discrétisation ni perte d'information.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PPO : l'algorithme final — acteur-critique avec objectif tronqué</a:t>
            </a:r>
            <a:endParaRPr lang="en-US" sz="2700" dirty="0"/>
          </a:p>
        </p:txBody>
      </p:sp>
      <p:sp>
        <p:nvSpPr>
          <p:cNvPr id="4" name="Shape 2"/>
          <p:cNvSpPr/>
          <p:nvPr/>
        </p:nvSpPr>
        <p:spPr>
          <a:xfrm>
            <a:off x="457200" y="1371600"/>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81328"/>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Acteur  πθ</a:t>
            </a:r>
            <a:endParaRPr lang="en-US" sz="1250" dirty="0"/>
          </a:p>
        </p:txBody>
      </p:sp>
      <p:sp>
        <p:nvSpPr>
          <p:cNvPr id="6" name="Text 4"/>
          <p:cNvSpPr/>
          <p:nvPr/>
        </p:nvSpPr>
        <p:spPr>
          <a:xfrm>
            <a:off x="640080" y="1773936"/>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Produit une distribution de probabilités sur les 7 actions : choisit la paire (pelle, dump) ou ATTENDRE</a:t>
            </a:r>
            <a:endParaRPr lang="en-US" sz="1000" dirty="0"/>
          </a:p>
        </p:txBody>
      </p:sp>
      <p:sp>
        <p:nvSpPr>
          <p:cNvPr id="7" name="Shape 5"/>
          <p:cNvSpPr/>
          <p:nvPr/>
        </p:nvSpPr>
        <p:spPr>
          <a:xfrm>
            <a:off x="4709160" y="1371600"/>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6"/>
          <p:cNvSpPr/>
          <p:nvPr/>
        </p:nvSpPr>
        <p:spPr>
          <a:xfrm>
            <a:off x="4892040" y="1481328"/>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Critique  Vφ</a:t>
            </a:r>
            <a:endParaRPr lang="en-US" sz="1250" dirty="0"/>
          </a:p>
        </p:txBody>
      </p:sp>
      <p:sp>
        <p:nvSpPr>
          <p:cNvPr id="9" name="Text 7"/>
          <p:cNvSpPr/>
          <p:nvPr/>
        </p:nvSpPr>
        <p:spPr>
          <a:xfrm>
            <a:off x="4892040" y="1773936"/>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Estime la valeur de l'état : « cette situation de la mine est-elle bonne ? » — réduit la variance du gradient</a:t>
            </a:r>
            <a:endParaRPr lang="en-US" sz="1000" dirty="0"/>
          </a:p>
        </p:txBody>
      </p:sp>
      <p:sp>
        <p:nvSpPr>
          <p:cNvPr id="10" name="Shape 8"/>
          <p:cNvSpPr/>
          <p:nvPr/>
        </p:nvSpPr>
        <p:spPr>
          <a:xfrm>
            <a:off x="457200" y="2578608"/>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640080" y="2688336"/>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Clipping  ε = 0,2</a:t>
            </a:r>
            <a:endParaRPr lang="en-US" sz="1250" dirty="0"/>
          </a:p>
        </p:txBody>
      </p:sp>
      <p:sp>
        <p:nvSpPr>
          <p:cNvPr id="12" name="Text 10"/>
          <p:cNvSpPr/>
          <p:nvPr/>
        </p:nvSpPr>
        <p:spPr>
          <a:xfrm>
            <a:off x="640080" y="2980944"/>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clip(rₜ, 0,8, 1,2) : les mises à jour de politique sont bornées → pas de changement brutal, stabilité garantie</a:t>
            </a:r>
            <a:endParaRPr lang="en-US" sz="1000" dirty="0"/>
          </a:p>
        </p:txBody>
      </p:sp>
      <p:sp>
        <p:nvSpPr>
          <p:cNvPr id="13" name="Shape 11"/>
          <p:cNvSpPr/>
          <p:nvPr/>
        </p:nvSpPr>
        <p:spPr>
          <a:xfrm>
            <a:off x="4709160" y="2578608"/>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4892040" y="2688336"/>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GAE  λ = 0,95</a:t>
            </a:r>
            <a:endParaRPr lang="en-US" sz="1250" dirty="0"/>
          </a:p>
        </p:txBody>
      </p:sp>
      <p:sp>
        <p:nvSpPr>
          <p:cNvPr id="15" name="Text 13"/>
          <p:cNvSpPr/>
          <p:nvPr/>
        </p:nvSpPr>
        <p:spPr>
          <a:xfrm>
            <a:off x="4892040" y="2980944"/>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Generalized Advantage Estimation : compromis biais-variance dans l'estimation de l'avantage Âₜ</a:t>
            </a:r>
            <a:endParaRPr lang="en-US" sz="1000" dirty="0"/>
          </a:p>
        </p:txBody>
      </p:sp>
      <p:sp>
        <p:nvSpPr>
          <p:cNvPr id="16" name="Shape 14"/>
          <p:cNvSpPr/>
          <p:nvPr/>
        </p:nvSpPr>
        <p:spPr>
          <a:xfrm>
            <a:off x="457200" y="3913632"/>
            <a:ext cx="8229600" cy="868680"/>
          </a:xfrm>
          <a:prstGeom prst="roundRect">
            <a:avLst>
              <a:gd name="adj" fmla="val 6316"/>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58368" y="4041648"/>
            <a:ext cx="7863840" cy="658368"/>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 xml:space="preserve">Pourquoi PPO plutôt que DQN ?  </a:t>
            </a:r>
            <a:r>
              <a:rPr lang="en-US" sz="1100" dirty="0">
                <a:solidFill>
                  <a:srgbClr val="22303F"/>
                </a:solidFill>
                <a:latin typeface="Calibri" pitchFamily="34" charset="0"/>
                <a:ea typeface="Calibri" pitchFamily="34" charset="-122"/>
                <a:cs typeface="Calibri" pitchFamily="34" charset="-120"/>
              </a:rPr>
              <a:t>On-policy : apprend sur ses propres interactions, sans replay buffer — plus adapté à un environnement fortement stochastique. Peu sensible aux hyperparamètres (défauts SB3 : lr = 3×10⁻⁴, γ = 0,99, batch 64). Convergence confirmée : explained_variance = 0,999.</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Architecture logicielle : un banc d'essai modulaire et reproductible</a:t>
            </a:r>
            <a:endParaRPr lang="en-US" sz="2700" dirty="0"/>
          </a:p>
        </p:txBody>
      </p:sp>
      <p:sp>
        <p:nvSpPr>
          <p:cNvPr id="4" name="Shape 2"/>
          <p:cNvSpPr/>
          <p:nvPr/>
        </p:nvSpPr>
        <p:spPr>
          <a:xfrm>
            <a:off x="457200" y="1325880"/>
            <a:ext cx="489204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Architecture_logicielle_du_projet_drawio.png"/>
          <p:cNvPicPr>
            <a:picLocks noChangeAspect="1"/>
          </p:cNvPicPr>
          <p:nvPr/>
        </p:nvPicPr>
        <p:blipFill>
          <a:blip r:embed="rId3"/>
          <a:stretch>
            <a:fillRect/>
          </a:stretch>
        </p:blipFill>
        <p:spPr>
          <a:xfrm>
            <a:off x="566928" y="1682629"/>
            <a:ext cx="4663440" cy="2715502"/>
          </a:xfrm>
          <a:prstGeom prst="rect">
            <a:avLst/>
          </a:prstGeom>
        </p:spPr>
      </p:pic>
      <p:sp>
        <p:nvSpPr>
          <p:cNvPr id="6" name="Shape 3"/>
          <p:cNvSpPr/>
          <p:nvPr/>
        </p:nvSpPr>
        <p:spPr>
          <a:xfrm>
            <a:off x="5486400" y="1325880"/>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650992" y="1408176"/>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Simulateur Gymnasium</a:t>
            </a:r>
            <a:endParaRPr lang="en-US" sz="1100" dirty="0"/>
          </a:p>
        </p:txBody>
      </p:sp>
      <p:sp>
        <p:nvSpPr>
          <p:cNvPr id="8" name="Text 5"/>
          <p:cNvSpPr/>
          <p:nvPr/>
        </p:nvSpPr>
        <p:spPr>
          <a:xfrm>
            <a:off x="5650992" y="1655064"/>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Classe MineEnv (reset, step, render) au-dessus du moteur physique (camions, pelles, graphe, pannes)</a:t>
            </a:r>
            <a:endParaRPr lang="en-US" sz="880" dirty="0"/>
          </a:p>
        </p:txBody>
      </p:sp>
      <p:sp>
        <p:nvSpPr>
          <p:cNvPr id="9" name="Shape 6"/>
          <p:cNvSpPr/>
          <p:nvPr/>
        </p:nvSpPr>
        <p:spPr>
          <a:xfrm>
            <a:off x="5486400" y="2203704"/>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5650992" y="2286000"/>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Agents RL</a:t>
            </a:r>
            <a:endParaRPr lang="en-US" sz="1100" dirty="0"/>
          </a:p>
        </p:txBody>
      </p:sp>
      <p:sp>
        <p:nvSpPr>
          <p:cNvPr id="11" name="Text 8"/>
          <p:cNvSpPr/>
          <p:nvPr/>
        </p:nvSpPr>
        <p:spPr>
          <a:xfrm>
            <a:off x="5650992" y="2532888"/>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Stable-Baselines3 (PPO, DQN) + implémentations Q-Learning / SARSA</a:t>
            </a:r>
            <a:endParaRPr lang="en-US" sz="880" dirty="0"/>
          </a:p>
        </p:txBody>
      </p:sp>
      <p:sp>
        <p:nvSpPr>
          <p:cNvPr id="12" name="Shape 9"/>
          <p:cNvSpPr/>
          <p:nvPr/>
        </p:nvSpPr>
        <p:spPr>
          <a:xfrm>
            <a:off x="5486400" y="3081528"/>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5650992" y="3163824"/>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Heuristiques</a:t>
            </a:r>
            <a:endParaRPr lang="en-US" sz="1100" dirty="0"/>
          </a:p>
        </p:txBody>
      </p:sp>
      <p:sp>
        <p:nvSpPr>
          <p:cNvPr id="14" name="Text 11"/>
          <p:cNvSpPr/>
          <p:nvPr/>
        </p:nvSpPr>
        <p:spPr>
          <a:xfrm>
            <a:off x="5650992" y="3410712"/>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FIFO, Fixed, Nearest Shovel, Shortest Path — mêmes interfaces que les agents</a:t>
            </a:r>
            <a:endParaRPr lang="en-US" sz="880" dirty="0"/>
          </a:p>
        </p:txBody>
      </p:sp>
      <p:sp>
        <p:nvSpPr>
          <p:cNvPr id="15" name="Shape 12"/>
          <p:cNvSpPr/>
          <p:nvPr/>
        </p:nvSpPr>
        <p:spPr>
          <a:xfrm>
            <a:off x="5486400" y="3959352"/>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5650992" y="4041648"/>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Évaluation</a:t>
            </a:r>
            <a:endParaRPr lang="en-US" sz="1100" dirty="0"/>
          </a:p>
        </p:txBody>
      </p:sp>
      <p:sp>
        <p:nvSpPr>
          <p:cNvPr id="17" name="Text 14"/>
          <p:cNvSpPr/>
          <p:nvPr/>
        </p:nvSpPr>
        <p:spPr>
          <a:xfrm>
            <a:off x="5650992" y="4288536"/>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Benchmarks, calcul des KPIs (t/h, L/t, min), analyse statistique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Protocole d'évaluation : 8 politiques × 3 scénarios × 10 réplications</a:t>
            </a:r>
            <a:endParaRPr lang="en-US" sz="2700" dirty="0"/>
          </a:p>
        </p:txBody>
      </p:sp>
      <p:sp>
        <p:nvSpPr>
          <p:cNvPr id="4" name="Shape 2"/>
          <p:cNvSpPr/>
          <p:nvPr/>
        </p:nvSpPr>
        <p:spPr>
          <a:xfrm>
            <a:off x="45720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2179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Nominal</a:t>
            </a:r>
            <a:endParaRPr lang="en-US" sz="1400" dirty="0"/>
          </a:p>
        </p:txBody>
      </p:sp>
      <p:sp>
        <p:nvSpPr>
          <p:cNvPr id="6" name="Text 4"/>
          <p:cNvSpPr/>
          <p:nvPr/>
        </p:nvSpPr>
        <p:spPr>
          <a:xfrm>
            <a:off x="62179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12 camions · 3 pelles</a:t>
            </a:r>
            <a:endParaRPr lang="en-US" sz="1150" dirty="0"/>
          </a:p>
        </p:txBody>
      </p:sp>
      <p:sp>
        <p:nvSpPr>
          <p:cNvPr id="7" name="Text 5"/>
          <p:cNvSpPr/>
          <p:nvPr/>
        </p:nvSpPr>
        <p:spPr>
          <a:xfrm>
            <a:off x="62179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2 %</a:t>
            </a:r>
            <a:endParaRPr lang="en-US" sz="1150" dirty="0"/>
          </a:p>
        </p:txBody>
      </p:sp>
      <p:sp>
        <p:nvSpPr>
          <p:cNvPr id="8" name="Text 6"/>
          <p:cNvSpPr/>
          <p:nvPr/>
        </p:nvSpPr>
        <p:spPr>
          <a:xfrm>
            <a:off x="62179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4,0 — régime standard de la mine</a:t>
            </a:r>
            <a:endParaRPr lang="en-US" sz="950" dirty="0"/>
          </a:p>
        </p:txBody>
      </p:sp>
      <p:sp>
        <p:nvSpPr>
          <p:cNvPr id="9" name="Shape 7"/>
          <p:cNvSpPr/>
          <p:nvPr/>
        </p:nvSpPr>
        <p:spPr>
          <a:xfrm>
            <a:off x="329184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8"/>
          <p:cNvSpPr/>
          <p:nvPr/>
        </p:nvSpPr>
        <p:spPr>
          <a:xfrm>
            <a:off x="345643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High Load</a:t>
            </a:r>
            <a:endParaRPr lang="en-US" sz="1400" dirty="0"/>
          </a:p>
        </p:txBody>
      </p:sp>
      <p:sp>
        <p:nvSpPr>
          <p:cNvPr id="11" name="Text 9"/>
          <p:cNvSpPr/>
          <p:nvPr/>
        </p:nvSpPr>
        <p:spPr>
          <a:xfrm>
            <a:off x="345643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18 camions · 3 pelles</a:t>
            </a:r>
            <a:endParaRPr lang="en-US" sz="1150" dirty="0"/>
          </a:p>
        </p:txBody>
      </p:sp>
      <p:sp>
        <p:nvSpPr>
          <p:cNvPr id="12" name="Text 10"/>
          <p:cNvSpPr/>
          <p:nvPr/>
        </p:nvSpPr>
        <p:spPr>
          <a:xfrm>
            <a:off x="345643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2 %</a:t>
            </a:r>
            <a:endParaRPr lang="en-US" sz="1150" dirty="0"/>
          </a:p>
        </p:txBody>
      </p:sp>
      <p:sp>
        <p:nvSpPr>
          <p:cNvPr id="13" name="Text 11"/>
          <p:cNvSpPr/>
          <p:nvPr/>
        </p:nvSpPr>
        <p:spPr>
          <a:xfrm>
            <a:off x="345643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6,0 — surcharge : test de la congestion</a:t>
            </a:r>
            <a:endParaRPr lang="en-US" sz="950" dirty="0"/>
          </a:p>
        </p:txBody>
      </p:sp>
      <p:sp>
        <p:nvSpPr>
          <p:cNvPr id="14" name="Shape 12"/>
          <p:cNvSpPr/>
          <p:nvPr/>
        </p:nvSpPr>
        <p:spPr>
          <a:xfrm>
            <a:off x="612648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3"/>
          <p:cNvSpPr/>
          <p:nvPr/>
        </p:nvSpPr>
        <p:spPr>
          <a:xfrm>
            <a:off x="629107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High Breakdown</a:t>
            </a:r>
            <a:endParaRPr lang="en-US" sz="1400" dirty="0"/>
          </a:p>
        </p:txBody>
      </p:sp>
      <p:sp>
        <p:nvSpPr>
          <p:cNvPr id="16" name="Text 14"/>
          <p:cNvSpPr/>
          <p:nvPr/>
        </p:nvSpPr>
        <p:spPr>
          <a:xfrm>
            <a:off x="629107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12 camions · 3 pelles</a:t>
            </a:r>
            <a:endParaRPr lang="en-US" sz="1150" dirty="0"/>
          </a:p>
        </p:txBody>
      </p:sp>
      <p:sp>
        <p:nvSpPr>
          <p:cNvPr id="17" name="Text 15"/>
          <p:cNvSpPr/>
          <p:nvPr/>
        </p:nvSpPr>
        <p:spPr>
          <a:xfrm>
            <a:off x="629107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10 %</a:t>
            </a:r>
            <a:endParaRPr lang="en-US" sz="1150" dirty="0"/>
          </a:p>
        </p:txBody>
      </p:sp>
      <p:sp>
        <p:nvSpPr>
          <p:cNvPr id="18" name="Text 16"/>
          <p:cNvSpPr/>
          <p:nvPr/>
        </p:nvSpPr>
        <p:spPr>
          <a:xfrm>
            <a:off x="629107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4,0 — pannes fréquentes : test de robustesse</a:t>
            </a:r>
            <a:endParaRPr lang="en-US" sz="950" dirty="0"/>
          </a:p>
        </p:txBody>
      </p:sp>
      <p:sp>
        <p:nvSpPr>
          <p:cNvPr id="19" name="Shape 17"/>
          <p:cNvSpPr/>
          <p:nvPr/>
        </p:nvSpPr>
        <p:spPr>
          <a:xfrm>
            <a:off x="457200" y="3291840"/>
            <a:ext cx="8229600" cy="1417320"/>
          </a:xfrm>
          <a:prstGeom prst="roundRect">
            <a:avLst>
              <a:gd name="adj" fmla="val 387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Text 18"/>
          <p:cNvSpPr/>
          <p:nvPr/>
        </p:nvSpPr>
        <p:spPr>
          <a:xfrm>
            <a:off x="658368" y="3419856"/>
            <a:ext cx="77724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Un protocole conçu pour la validité statistique</a:t>
            </a:r>
            <a:endParaRPr lang="en-US" sz="1250" dirty="0"/>
          </a:p>
        </p:txBody>
      </p:sp>
      <p:sp>
        <p:nvSpPr>
          <p:cNvPr id="21" name="Text 19"/>
          <p:cNvSpPr/>
          <p:nvPr/>
        </p:nvSpPr>
        <p:spPr>
          <a:xfrm>
            <a:off x="658368" y="3712464"/>
            <a:ext cx="7863840" cy="9144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8 politiques comparées : 4 heuristiques industrielles (FIFO, Fixed, Nearest, Shortest Path) + 4 agents RL (Q-Learning, SARSA, DQN, PPO)</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10 réplications indépendantes par scénario (graines 42–51) → 240 simulations au total</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Tests statistiques : ANOVA à un facteur, post-hoc Tukey HSD, tests t de Welch unilatéraux</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nominal : PPO et DQN dominent sur deux critères simultanément</a:t>
            </a:r>
            <a:endParaRPr lang="en-US" sz="2700" dirty="0"/>
          </a:p>
        </p:txBody>
      </p:sp>
      <p:sp>
        <p:nvSpPr>
          <p:cNvPr id="4" name="Shape 2"/>
          <p:cNvSpPr/>
          <p:nvPr/>
        </p:nvSpPr>
        <p:spPr>
          <a:xfrm>
            <a:off x="457200" y="1325880"/>
            <a:ext cx="5212080" cy="2880360"/>
          </a:xfrm>
          <a:prstGeom prst="roundRect">
            <a:avLst>
              <a:gd name="adj" fmla="val 1905"/>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barplot_productivite_scenarios.png"/>
          <p:cNvPicPr>
            <a:picLocks noChangeAspect="1"/>
          </p:cNvPicPr>
          <p:nvPr/>
        </p:nvPicPr>
        <p:blipFill>
          <a:blip r:embed="rId3"/>
          <a:stretch>
            <a:fillRect/>
          </a:stretch>
        </p:blipFill>
        <p:spPr>
          <a:xfrm>
            <a:off x="548640" y="1513332"/>
            <a:ext cx="5029200" cy="2514600"/>
          </a:xfrm>
          <a:prstGeom prst="rect">
            <a:avLst/>
          </a:prstGeom>
        </p:spPr>
      </p:pic>
      <p:sp>
        <p:nvSpPr>
          <p:cNvPr id="6" name="Shape 3"/>
          <p:cNvSpPr/>
          <p:nvPr/>
        </p:nvSpPr>
        <p:spPr>
          <a:xfrm>
            <a:off x="5806440" y="1325880"/>
            <a:ext cx="2880360" cy="603504"/>
          </a:xfrm>
          <a:prstGeom prst="roundRect">
            <a:avLst>
              <a:gd name="adj" fmla="val 90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989320" y="1399032"/>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PPO</a:t>
            </a:r>
            <a:endParaRPr lang="en-US" sz="1200" dirty="0"/>
          </a:p>
        </p:txBody>
      </p:sp>
      <p:sp>
        <p:nvSpPr>
          <p:cNvPr id="8" name="Text 5"/>
          <p:cNvSpPr/>
          <p:nvPr/>
        </p:nvSpPr>
        <p:spPr>
          <a:xfrm>
            <a:off x="7315200" y="1399032"/>
            <a:ext cx="1280160" cy="457200"/>
          </a:xfrm>
          <a:prstGeom prst="rect">
            <a:avLst/>
          </a:prstGeom>
          <a:noFill/>
          <a:ln/>
        </p:spPr>
        <p:txBody>
          <a:bodyPr wrap="square" lIns="0" tIns="0" rIns="0" bIns="0" rtlCol="0" anchor="ctr"/>
          <a:lstStyle/>
          <a:p>
            <a:pPr marL="0" indent="0" algn="r">
              <a:buNone/>
            </a:pPr>
            <a:r>
              <a:rPr lang="en-US" sz="1400" b="1" dirty="0">
                <a:solidFill>
                  <a:srgbClr val="2E7D32"/>
                </a:solidFill>
                <a:latin typeface="Cambria" pitchFamily="34" charset="0"/>
                <a:ea typeface="Cambria" pitchFamily="34" charset="-122"/>
                <a:cs typeface="Cambria" pitchFamily="34" charset="-120"/>
              </a:rPr>
              <a:t>4 208,8 t/h</a:t>
            </a:r>
            <a:endParaRPr lang="en-US" sz="1400" dirty="0"/>
          </a:p>
        </p:txBody>
      </p:sp>
      <p:sp>
        <p:nvSpPr>
          <p:cNvPr id="9" name="Shape 6"/>
          <p:cNvSpPr/>
          <p:nvPr/>
        </p:nvSpPr>
        <p:spPr>
          <a:xfrm>
            <a:off x="5806440" y="2039112"/>
            <a:ext cx="2880360" cy="603504"/>
          </a:xfrm>
          <a:prstGeom prst="roundRect">
            <a:avLst>
              <a:gd name="adj" fmla="val 90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5989320" y="2112264"/>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DQN</a:t>
            </a:r>
            <a:endParaRPr lang="en-US" sz="1200" dirty="0"/>
          </a:p>
        </p:txBody>
      </p:sp>
      <p:sp>
        <p:nvSpPr>
          <p:cNvPr id="11" name="Text 8"/>
          <p:cNvSpPr/>
          <p:nvPr/>
        </p:nvSpPr>
        <p:spPr>
          <a:xfrm>
            <a:off x="7315200" y="2112264"/>
            <a:ext cx="1280160" cy="457200"/>
          </a:xfrm>
          <a:prstGeom prst="rect">
            <a:avLst/>
          </a:prstGeom>
          <a:noFill/>
          <a:ln/>
        </p:spPr>
        <p:txBody>
          <a:bodyPr wrap="square" lIns="0" tIns="0" rIns="0" bIns="0" rtlCol="0" anchor="ctr"/>
          <a:lstStyle/>
          <a:p>
            <a:pPr marL="0" indent="0" algn="r">
              <a:buNone/>
            </a:pPr>
            <a:r>
              <a:rPr lang="en-US" sz="1400" b="1" dirty="0">
                <a:solidFill>
                  <a:srgbClr val="2E7D32"/>
                </a:solidFill>
                <a:latin typeface="Cambria" pitchFamily="34" charset="0"/>
                <a:ea typeface="Cambria" pitchFamily="34" charset="-122"/>
                <a:cs typeface="Cambria" pitchFamily="34" charset="-120"/>
              </a:rPr>
              <a:t>4 168,5 t/h</a:t>
            </a:r>
            <a:endParaRPr lang="en-US" sz="1400" dirty="0"/>
          </a:p>
        </p:txBody>
      </p:sp>
      <p:sp>
        <p:nvSpPr>
          <p:cNvPr id="12" name="Shape 9"/>
          <p:cNvSpPr/>
          <p:nvPr/>
        </p:nvSpPr>
        <p:spPr>
          <a:xfrm>
            <a:off x="5806440" y="2752344"/>
            <a:ext cx="2880360" cy="603504"/>
          </a:xfrm>
          <a:prstGeom prst="roundRect">
            <a:avLst>
              <a:gd name="adj" fmla="val 90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5989320" y="2825496"/>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Fixed (référence)</a:t>
            </a:r>
            <a:endParaRPr lang="en-US" sz="1200" dirty="0"/>
          </a:p>
        </p:txBody>
      </p:sp>
      <p:sp>
        <p:nvSpPr>
          <p:cNvPr id="14" name="Text 11"/>
          <p:cNvSpPr/>
          <p:nvPr/>
        </p:nvSpPr>
        <p:spPr>
          <a:xfrm>
            <a:off x="7315200" y="2825496"/>
            <a:ext cx="1280160" cy="457200"/>
          </a:xfrm>
          <a:prstGeom prst="rect">
            <a:avLst/>
          </a:prstGeom>
          <a:noFill/>
          <a:ln/>
        </p:spPr>
        <p:txBody>
          <a:bodyPr wrap="square" lIns="0" tIns="0" rIns="0" bIns="0" rtlCol="0" anchor="ctr"/>
          <a:lstStyle/>
          <a:p>
            <a:pPr marL="0" indent="0" algn="r">
              <a:buNone/>
            </a:pPr>
            <a:r>
              <a:rPr lang="en-US" sz="1400" b="1" dirty="0">
                <a:solidFill>
                  <a:srgbClr val="5A6672"/>
                </a:solidFill>
                <a:latin typeface="Cambria" pitchFamily="34" charset="0"/>
                <a:ea typeface="Cambria" pitchFamily="34" charset="-122"/>
                <a:cs typeface="Cambria" pitchFamily="34" charset="-120"/>
              </a:rPr>
              <a:t>4 074,0 t/h</a:t>
            </a:r>
            <a:endParaRPr lang="en-US" sz="1400" dirty="0"/>
          </a:p>
        </p:txBody>
      </p:sp>
      <p:sp>
        <p:nvSpPr>
          <p:cNvPr id="15" name="Shape 12"/>
          <p:cNvSpPr/>
          <p:nvPr/>
        </p:nvSpPr>
        <p:spPr>
          <a:xfrm>
            <a:off x="5806440" y="3474720"/>
            <a:ext cx="2880360" cy="1234440"/>
          </a:xfrm>
          <a:prstGeom prst="roundRect">
            <a:avLst>
              <a:gd name="adj" fmla="val 4444"/>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5989320" y="3584448"/>
            <a:ext cx="256032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Gains PPO vs Fixed</a:t>
            </a:r>
            <a:endParaRPr lang="en-US" sz="1150" dirty="0"/>
          </a:p>
        </p:txBody>
      </p:sp>
      <p:sp>
        <p:nvSpPr>
          <p:cNvPr id="17" name="Text 14"/>
          <p:cNvSpPr/>
          <p:nvPr/>
        </p:nvSpPr>
        <p:spPr>
          <a:xfrm>
            <a:off x="5989320" y="3840480"/>
            <a:ext cx="2606040" cy="82296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303F"/>
                </a:solidFill>
                <a:latin typeface="Calibri" pitchFamily="34" charset="0"/>
                <a:ea typeface="Calibri" pitchFamily="34" charset="-122"/>
                <a:cs typeface="Calibri" pitchFamily="34" charset="-120"/>
              </a:rPr>
              <a:t>+3,3 % de productivité</a:t>
            </a:r>
            <a:endParaRPr lang="en-US" sz="1050" dirty="0"/>
          </a:p>
          <a:p>
            <a:pPr marL="342900" indent="-342900">
              <a:spcAft>
                <a:spcPts val="300"/>
              </a:spcAft>
              <a:buSzPct val="100000"/>
              <a:buChar char="•"/>
            </a:pPr>
            <a:r>
              <a:rPr lang="en-US" sz="1050" dirty="0">
                <a:solidFill>
                  <a:srgbClr val="22303F"/>
                </a:solidFill>
                <a:latin typeface="Calibri" pitchFamily="34" charset="0"/>
                <a:ea typeface="Calibri" pitchFamily="34" charset="-122"/>
                <a:cs typeface="Calibri" pitchFamily="34" charset="-120"/>
              </a:rPr>
              <a:t>−4,4 % de carburant (L/t)</a:t>
            </a:r>
            <a:endParaRPr lang="en-US" sz="1050" dirty="0"/>
          </a:p>
          <a:p>
            <a:pPr marL="342900" indent="-342900">
              <a:spcAft>
                <a:spcPts val="300"/>
              </a:spcAft>
              <a:buSzPct val="100000"/>
              <a:buChar char="•"/>
            </a:pPr>
            <a:r>
              <a:rPr lang="en-US" sz="1050" b="1" dirty="0">
                <a:solidFill>
                  <a:srgbClr val="22303F"/>
                </a:solidFill>
                <a:latin typeface="Calibri" pitchFamily="34" charset="0"/>
                <a:ea typeface="Calibri" pitchFamily="34" charset="-122"/>
                <a:cs typeface="Calibri" pitchFamily="34" charset="-120"/>
              </a:rPr>
              <a:t>Welch : t = 6,36 · p = 3×10⁻⁶ ✓</a:t>
            </a:r>
            <a:endParaRPr lang="en-US" sz="1050" dirty="0"/>
          </a:p>
        </p:txBody>
      </p:sp>
      <p:sp>
        <p:nvSpPr>
          <p:cNvPr id="18" name="Text 15"/>
          <p:cNvSpPr/>
          <p:nvPr/>
        </p:nvSpPr>
        <p:spPr>
          <a:xfrm>
            <a:off x="457200" y="4389120"/>
            <a:ext cx="5212080" cy="50292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Message : les agents Deep RL surpassent la meilleure heuristique en productivité ET en carburant — H1 validée dans le scénario standard.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high_load : les heuristiques myopes s'effondrent</a:t>
            </a:r>
            <a:endParaRPr lang="en-US" sz="2700" dirty="0"/>
          </a:p>
        </p:txBody>
      </p:sp>
      <p:sp>
        <p:nvSpPr>
          <p:cNvPr id="4" name="Shape 2"/>
          <p:cNvSpPr/>
          <p:nvPr/>
        </p:nvSpPr>
        <p:spPr>
          <a:xfrm>
            <a:off x="457200" y="137160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99616"/>
            <a:ext cx="365760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Fixed Assignment gagne… par construction</a:t>
            </a:r>
            <a:endParaRPr lang="en-US" sz="1250" dirty="0"/>
          </a:p>
        </p:txBody>
      </p:sp>
      <p:sp>
        <p:nvSpPr>
          <p:cNvPr id="6" name="Text 4"/>
          <p:cNvSpPr/>
          <p:nvPr/>
        </p:nvSpPr>
        <p:spPr>
          <a:xfrm>
            <a:off x="640080" y="1792224"/>
            <a:ext cx="3703320" cy="9144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Fixed : 5 874,8 t/h — Match Factor parfait (18/3 = 6)</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DQN : 5 664,8 t/h, soit −3,6 % seulement</a:t>
            </a:r>
            <a:endParaRPr lang="en-US" sz="1100" dirty="0"/>
          </a:p>
        </p:txBody>
      </p:sp>
      <p:sp>
        <p:nvSpPr>
          <p:cNvPr id="7" name="Shape 5"/>
          <p:cNvSpPr/>
          <p:nvPr/>
        </p:nvSpPr>
        <p:spPr>
          <a:xfrm>
            <a:off x="4663440" y="1371600"/>
            <a:ext cx="4023360" cy="1463040"/>
          </a:xfrm>
          <a:prstGeom prst="roundRect">
            <a:avLst>
              <a:gd name="adj" fmla="val 375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8" name="Text 6"/>
          <p:cNvSpPr/>
          <p:nvPr/>
        </p:nvSpPr>
        <p:spPr>
          <a:xfrm>
            <a:off x="4846320" y="1499616"/>
            <a:ext cx="3657600" cy="274320"/>
          </a:xfrm>
          <a:prstGeom prst="rect">
            <a:avLst/>
          </a:prstGeom>
          <a:noFill/>
          <a:ln/>
        </p:spPr>
        <p:txBody>
          <a:bodyPr wrap="square" lIns="0" tIns="0" rIns="0" bIns="0" rtlCol="0" anchor="ctr"/>
          <a:lstStyle/>
          <a:p>
            <a:pPr marL="0" indent="0">
              <a:buNone/>
            </a:pPr>
            <a:r>
              <a:rPr lang="en-US" sz="1250" b="1" dirty="0">
                <a:solidFill>
                  <a:srgbClr val="B03A2E"/>
                </a:solidFill>
                <a:latin typeface="Calibri" pitchFamily="34" charset="0"/>
                <a:ea typeface="Calibri" pitchFamily="34" charset="-122"/>
                <a:cs typeface="Calibri" pitchFamily="34" charset="-120"/>
              </a:rPr>
              <a:t>… mais les heuristiques myopes explosent</a:t>
            </a:r>
            <a:endParaRPr lang="en-US" sz="1250" dirty="0"/>
          </a:p>
        </p:txBody>
      </p:sp>
      <p:sp>
        <p:nvSpPr>
          <p:cNvPr id="9" name="Text 7"/>
          <p:cNvSpPr/>
          <p:nvPr/>
        </p:nvSpPr>
        <p:spPr>
          <a:xfrm>
            <a:off x="4846320" y="1792224"/>
            <a:ext cx="3703320" cy="914400"/>
          </a:xfrm>
          <a:prstGeom prst="rect">
            <a:avLst/>
          </a:prstGeom>
          <a:noFill/>
          <a:ln/>
        </p:spPr>
        <p:txBody>
          <a:bodyPr wrap="square" lIns="0" tIns="0" rIns="0" bIns="0" rtlCol="0" anchor="ctr"/>
          <a:lstStyle/>
          <a:p>
            <a:pPr marL="342900" indent="-342900">
              <a:spcAft>
                <a:spcPts val="500"/>
              </a:spcAft>
              <a:buSzPct val="100000"/>
              <a:buChar char="•"/>
            </a:pPr>
            <a:r>
              <a:rPr lang="en-US" sz="1100" b="1" dirty="0">
                <a:solidFill>
                  <a:srgbClr val="22303F"/>
                </a:solidFill>
                <a:latin typeface="Calibri" pitchFamily="34" charset="0"/>
                <a:ea typeface="Calibri" pitchFamily="34" charset="-122"/>
                <a:cs typeface="Calibri" pitchFamily="34" charset="-120"/>
              </a:rPr>
              <a:t>Nearest Shovel : 200,2 min d'attente moyenne</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Toute la flotte converge vers la même pelle → saturation totale</a:t>
            </a:r>
            <a:endParaRPr lang="en-US" sz="1100" dirty="0"/>
          </a:p>
        </p:txBody>
      </p:sp>
      <p:sp>
        <p:nvSpPr>
          <p:cNvPr id="10" name="Shape 8"/>
          <p:cNvSpPr/>
          <p:nvPr/>
        </p:nvSpPr>
        <p:spPr>
          <a:xfrm>
            <a:off x="457200" y="3017520"/>
            <a:ext cx="8229600" cy="1097280"/>
          </a:xfrm>
          <a:prstGeom prst="roundRect">
            <a:avLst>
              <a:gd name="adj" fmla="val 50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731520" y="3145536"/>
            <a:ext cx="2743200" cy="566928"/>
          </a:xfrm>
          <a:prstGeom prst="rect">
            <a:avLst/>
          </a:prstGeom>
          <a:noFill/>
          <a:ln/>
        </p:spPr>
        <p:txBody>
          <a:bodyPr wrap="square" lIns="0" tIns="0" rIns="0" bIns="0" rtlCol="0" anchor="ctr"/>
          <a:lstStyle/>
          <a:p>
            <a:pPr marL="0" indent="0" algn="ctr">
              <a:buNone/>
            </a:pPr>
            <a:r>
              <a:rPr lang="en-US" sz="3000" b="1" dirty="0">
                <a:solidFill>
                  <a:srgbClr val="2E7D32"/>
                </a:solidFill>
                <a:latin typeface="Cambria" pitchFamily="34" charset="0"/>
                <a:ea typeface="Cambria" pitchFamily="34" charset="-122"/>
                <a:cs typeface="Cambria" pitchFamily="34" charset="-120"/>
              </a:rPr>
              <a:t>+1 725,5 t/h</a:t>
            </a:r>
            <a:endParaRPr lang="en-US" sz="3000" dirty="0"/>
          </a:p>
        </p:txBody>
      </p:sp>
      <p:sp>
        <p:nvSpPr>
          <p:cNvPr id="12" name="Text 10"/>
          <p:cNvSpPr/>
          <p:nvPr/>
        </p:nvSpPr>
        <p:spPr>
          <a:xfrm>
            <a:off x="731520" y="3694176"/>
            <a:ext cx="274320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écart DQN vs Nearest Shovel</a:t>
            </a:r>
            <a:endParaRPr lang="en-US" sz="1150" dirty="0"/>
          </a:p>
        </p:txBody>
      </p:sp>
      <p:sp>
        <p:nvSpPr>
          <p:cNvPr id="13" name="Text 11"/>
          <p:cNvSpPr/>
          <p:nvPr/>
        </p:nvSpPr>
        <p:spPr>
          <a:xfrm>
            <a:off x="3566160" y="3145536"/>
            <a:ext cx="2377440" cy="566928"/>
          </a:xfrm>
          <a:prstGeom prst="rect">
            <a:avLst/>
          </a:prstGeom>
          <a:noFill/>
          <a:ln/>
        </p:spPr>
        <p:txBody>
          <a:bodyPr wrap="square" lIns="0" tIns="0" rIns="0" bIns="0" rtlCol="0" anchor="ctr"/>
          <a:lstStyle/>
          <a:p>
            <a:pPr marL="0" indent="0" algn="ctr">
              <a:buNone/>
            </a:pPr>
            <a:r>
              <a:rPr lang="en-US" sz="3000" b="1" dirty="0">
                <a:solidFill>
                  <a:srgbClr val="22303F"/>
                </a:solidFill>
                <a:latin typeface="Cambria" pitchFamily="34" charset="0"/>
                <a:ea typeface="Cambria" pitchFamily="34" charset="-122"/>
                <a:cs typeface="Cambria" pitchFamily="34" charset="-120"/>
              </a:rPr>
              <a:t>t = 65,33</a:t>
            </a:r>
            <a:endParaRPr lang="en-US" sz="3000" dirty="0"/>
          </a:p>
        </p:txBody>
      </p:sp>
      <p:sp>
        <p:nvSpPr>
          <p:cNvPr id="14" name="Text 12"/>
          <p:cNvSpPr/>
          <p:nvPr/>
        </p:nvSpPr>
        <p:spPr>
          <a:xfrm>
            <a:off x="3566160" y="3694176"/>
            <a:ext cx="237744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test t de Welch · p ≈ 0</a:t>
            </a:r>
            <a:endParaRPr lang="en-US" sz="1150" dirty="0"/>
          </a:p>
        </p:txBody>
      </p:sp>
      <p:sp>
        <p:nvSpPr>
          <p:cNvPr id="15" name="Text 13"/>
          <p:cNvSpPr/>
          <p:nvPr/>
        </p:nvSpPr>
        <p:spPr>
          <a:xfrm>
            <a:off x="6035040" y="3145536"/>
            <a:ext cx="2377440" cy="566928"/>
          </a:xfrm>
          <a:prstGeom prst="rect">
            <a:avLst/>
          </a:prstGeom>
          <a:noFill/>
          <a:ln/>
        </p:spPr>
        <p:txBody>
          <a:bodyPr wrap="square" lIns="0" tIns="0" rIns="0" bIns="0" rtlCol="0" anchor="ctr"/>
          <a:lstStyle/>
          <a:p>
            <a:pPr marL="0" indent="0" algn="ctr">
              <a:buNone/>
            </a:pPr>
            <a:r>
              <a:rPr lang="en-US" sz="3000" b="1" dirty="0">
                <a:solidFill>
                  <a:srgbClr val="B8860B"/>
                </a:solidFill>
                <a:latin typeface="Cambria" pitchFamily="34" charset="0"/>
                <a:ea typeface="Cambria" pitchFamily="34" charset="-122"/>
                <a:cs typeface="Cambria" pitchFamily="34" charset="-120"/>
              </a:rPr>
              <a:t>93,3 %</a:t>
            </a:r>
            <a:endParaRPr lang="en-US" sz="3000" dirty="0"/>
          </a:p>
        </p:txBody>
      </p:sp>
      <p:sp>
        <p:nvSpPr>
          <p:cNvPr id="16" name="Text 14"/>
          <p:cNvSpPr/>
          <p:nvPr/>
        </p:nvSpPr>
        <p:spPr>
          <a:xfrm>
            <a:off x="6035040" y="3694176"/>
            <a:ext cx="237744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d'actions ATTENDRE chez PPO en surcharge</a:t>
            </a:r>
            <a:endParaRPr lang="en-US" sz="1150" dirty="0"/>
          </a:p>
        </p:txBody>
      </p:sp>
      <p:sp>
        <p:nvSpPr>
          <p:cNvPr id="17" name="Text 15"/>
          <p:cNvSpPr/>
          <p:nvPr/>
        </p:nvSpPr>
        <p:spPr>
          <a:xfrm>
            <a:off x="457200" y="4315968"/>
            <a:ext cx="8229600" cy="457200"/>
          </a:xfrm>
          <a:prstGeom prst="rect">
            <a:avLst/>
          </a:prstGeom>
          <a:noFill/>
          <a:ln/>
        </p:spPr>
        <p:txBody>
          <a:bodyPr wrap="square" lIns="0" tIns="0" rIns="0" bIns="0" rtlCol="0" anchor="ctr"/>
          <a:lstStyle/>
          <a:p>
            <a:pPr marL="0" indent="0">
              <a:buNone/>
            </a:pPr>
            <a:r>
              <a:rPr lang="en-US" sz="1200" b="1" i="1" dirty="0">
                <a:solidFill>
                  <a:srgbClr val="8C4A1F"/>
                </a:solidFill>
                <a:latin typeface="Calibri" pitchFamily="34" charset="0"/>
                <a:ea typeface="Calibri" pitchFamily="34" charset="-122"/>
                <a:cs typeface="Calibri" pitchFamily="34" charset="-120"/>
              </a:rPr>
              <a:t>Message : quand la mine sature, le RL maintient ses performances là où les règles myopes s'effondrent — c'est ici que le RL justifie son existence.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high_breakdown : le RL s'adapte aux pannes</a:t>
            </a:r>
            <a:endParaRPr lang="en-US" sz="2700" dirty="0"/>
          </a:p>
        </p:txBody>
      </p:sp>
      <p:sp>
        <p:nvSpPr>
          <p:cNvPr id="4" name="Shape 2"/>
          <p:cNvSpPr/>
          <p:nvPr/>
        </p:nvSpPr>
        <p:spPr>
          <a:xfrm>
            <a:off x="457200" y="1325880"/>
            <a:ext cx="4572000" cy="2926080"/>
          </a:xfrm>
          <a:prstGeom prst="roundRect">
            <a:avLst>
              <a:gd name="adj" fmla="val 1875"/>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wait_time_comparison.png"/>
          <p:cNvPicPr>
            <a:picLocks noChangeAspect="1"/>
          </p:cNvPicPr>
          <p:nvPr/>
        </p:nvPicPr>
        <p:blipFill>
          <a:blip r:embed="rId3"/>
          <a:stretch>
            <a:fillRect/>
          </a:stretch>
        </p:blipFill>
        <p:spPr>
          <a:xfrm>
            <a:off x="548640" y="1415512"/>
            <a:ext cx="4389120" cy="2755959"/>
          </a:xfrm>
          <a:prstGeom prst="rect">
            <a:avLst/>
          </a:prstGeom>
        </p:spPr>
      </p:pic>
      <p:sp>
        <p:nvSpPr>
          <p:cNvPr id="6" name="Shape 3"/>
          <p:cNvSpPr/>
          <p:nvPr/>
        </p:nvSpPr>
        <p:spPr>
          <a:xfrm>
            <a:off x="5212080" y="1325880"/>
            <a:ext cx="347472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394960" y="1417320"/>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DQN</a:t>
            </a:r>
            <a:endParaRPr lang="en-US" sz="1250" dirty="0"/>
          </a:p>
        </p:txBody>
      </p:sp>
      <p:sp>
        <p:nvSpPr>
          <p:cNvPr id="8" name="Text 5"/>
          <p:cNvSpPr/>
          <p:nvPr/>
        </p:nvSpPr>
        <p:spPr>
          <a:xfrm>
            <a:off x="6309360" y="1399032"/>
            <a:ext cx="1234440" cy="566928"/>
          </a:xfrm>
          <a:prstGeom prst="rect">
            <a:avLst/>
          </a:prstGeom>
          <a:noFill/>
          <a:ln/>
        </p:spPr>
        <p:txBody>
          <a:bodyPr wrap="square" lIns="0" tIns="0" rIns="0" bIns="0" rtlCol="0" anchor="ctr"/>
          <a:lstStyle/>
          <a:p>
            <a:pPr marL="0" indent="0">
              <a:buNone/>
            </a:pPr>
            <a:r>
              <a:rPr lang="en-US" sz="1400" b="1" dirty="0">
                <a:solidFill>
                  <a:srgbClr val="2E7D32"/>
                </a:solidFill>
                <a:latin typeface="Cambria" pitchFamily="34" charset="0"/>
                <a:ea typeface="Cambria" pitchFamily="34" charset="-122"/>
                <a:cs typeface="Cambria" pitchFamily="34" charset="-120"/>
              </a:rPr>
              <a:t>3 991,8 t/h</a:t>
            </a:r>
            <a:endParaRPr lang="en-US" sz="1400" dirty="0"/>
          </a:p>
        </p:txBody>
      </p:sp>
      <p:sp>
        <p:nvSpPr>
          <p:cNvPr id="9" name="Text 6"/>
          <p:cNvSpPr/>
          <p:nvPr/>
        </p:nvSpPr>
        <p:spPr>
          <a:xfrm>
            <a:off x="7452360" y="1417320"/>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+3,4 % prod. · −7,4 % carburant</a:t>
            </a:r>
            <a:endParaRPr lang="en-US" sz="900" dirty="0"/>
          </a:p>
        </p:txBody>
      </p:sp>
      <p:sp>
        <p:nvSpPr>
          <p:cNvPr id="10" name="Shape 7"/>
          <p:cNvSpPr/>
          <p:nvPr/>
        </p:nvSpPr>
        <p:spPr>
          <a:xfrm>
            <a:off x="5212080" y="2167128"/>
            <a:ext cx="347472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394960" y="2258568"/>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PPO</a:t>
            </a:r>
            <a:endParaRPr lang="en-US" sz="1250" dirty="0"/>
          </a:p>
        </p:txBody>
      </p:sp>
      <p:sp>
        <p:nvSpPr>
          <p:cNvPr id="12" name="Text 9"/>
          <p:cNvSpPr/>
          <p:nvPr/>
        </p:nvSpPr>
        <p:spPr>
          <a:xfrm>
            <a:off x="6309360" y="2240280"/>
            <a:ext cx="1234440" cy="566928"/>
          </a:xfrm>
          <a:prstGeom prst="rect">
            <a:avLst/>
          </a:prstGeom>
          <a:noFill/>
          <a:ln/>
        </p:spPr>
        <p:txBody>
          <a:bodyPr wrap="square" lIns="0" tIns="0" rIns="0" bIns="0" rtlCol="0" anchor="ctr"/>
          <a:lstStyle/>
          <a:p>
            <a:pPr marL="0" indent="0">
              <a:buNone/>
            </a:pPr>
            <a:r>
              <a:rPr lang="en-US" sz="1400" b="1" dirty="0">
                <a:solidFill>
                  <a:srgbClr val="2E7D32"/>
                </a:solidFill>
                <a:latin typeface="Cambria" pitchFamily="34" charset="0"/>
                <a:ea typeface="Cambria" pitchFamily="34" charset="-122"/>
                <a:cs typeface="Cambria" pitchFamily="34" charset="-120"/>
              </a:rPr>
              <a:t>3 946,3 t/h</a:t>
            </a:r>
            <a:endParaRPr lang="en-US" sz="1400" dirty="0"/>
          </a:p>
        </p:txBody>
      </p:sp>
      <p:sp>
        <p:nvSpPr>
          <p:cNvPr id="13" name="Text 10"/>
          <p:cNvSpPr/>
          <p:nvPr/>
        </p:nvSpPr>
        <p:spPr>
          <a:xfrm>
            <a:off x="7452360" y="2258568"/>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+2,2 % prod. · −5,6 % carburant</a:t>
            </a:r>
            <a:endParaRPr lang="en-US" sz="900" dirty="0"/>
          </a:p>
        </p:txBody>
      </p:sp>
      <p:sp>
        <p:nvSpPr>
          <p:cNvPr id="14" name="Shape 11"/>
          <p:cNvSpPr/>
          <p:nvPr/>
        </p:nvSpPr>
        <p:spPr>
          <a:xfrm>
            <a:off x="5212080" y="3008376"/>
            <a:ext cx="347472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2"/>
          <p:cNvSpPr/>
          <p:nvPr/>
        </p:nvSpPr>
        <p:spPr>
          <a:xfrm>
            <a:off x="5394960" y="3099816"/>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Fixed</a:t>
            </a:r>
            <a:endParaRPr lang="en-US" sz="1250" dirty="0"/>
          </a:p>
        </p:txBody>
      </p:sp>
      <p:sp>
        <p:nvSpPr>
          <p:cNvPr id="16" name="Text 13"/>
          <p:cNvSpPr/>
          <p:nvPr/>
        </p:nvSpPr>
        <p:spPr>
          <a:xfrm>
            <a:off x="6309360" y="3081528"/>
            <a:ext cx="1234440" cy="566928"/>
          </a:xfrm>
          <a:prstGeom prst="rect">
            <a:avLst/>
          </a:prstGeom>
          <a:noFill/>
          <a:ln/>
        </p:spPr>
        <p:txBody>
          <a:bodyPr wrap="square" lIns="0" tIns="0" rIns="0" bIns="0" rtlCol="0" anchor="ctr"/>
          <a:lstStyle/>
          <a:p>
            <a:pPr marL="0" indent="0">
              <a:buNone/>
            </a:pPr>
            <a:r>
              <a:rPr lang="en-US" sz="1400" b="1" dirty="0">
                <a:solidFill>
                  <a:srgbClr val="5A6672"/>
                </a:solidFill>
                <a:latin typeface="Cambria" pitchFamily="34" charset="0"/>
                <a:ea typeface="Cambria" pitchFamily="34" charset="-122"/>
                <a:cs typeface="Cambria" pitchFamily="34" charset="-120"/>
              </a:rPr>
              <a:t>3 860,5 t/h</a:t>
            </a:r>
            <a:endParaRPr lang="en-US" sz="1400" dirty="0"/>
          </a:p>
        </p:txBody>
      </p:sp>
      <p:sp>
        <p:nvSpPr>
          <p:cNvPr id="17" name="Text 14"/>
          <p:cNvSpPr/>
          <p:nvPr/>
        </p:nvSpPr>
        <p:spPr>
          <a:xfrm>
            <a:off x="7452360" y="3099816"/>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référence · 0,0451 L/t</a:t>
            </a:r>
            <a:endParaRPr lang="en-US" sz="900" dirty="0"/>
          </a:p>
        </p:txBody>
      </p:sp>
      <p:sp>
        <p:nvSpPr>
          <p:cNvPr id="18" name="Shape 15"/>
          <p:cNvSpPr/>
          <p:nvPr/>
        </p:nvSpPr>
        <p:spPr>
          <a:xfrm>
            <a:off x="5212080" y="3840480"/>
            <a:ext cx="3474720" cy="868680"/>
          </a:xfrm>
          <a:prstGeom prst="roundRect">
            <a:avLst>
              <a:gd name="adj" fmla="val 6316"/>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9" name="Text 16"/>
          <p:cNvSpPr/>
          <p:nvPr/>
        </p:nvSpPr>
        <p:spPr>
          <a:xfrm>
            <a:off x="5394960" y="3968496"/>
            <a:ext cx="3154680" cy="640080"/>
          </a:xfrm>
          <a:prstGeom prst="rect">
            <a:avLst/>
          </a:prstGeom>
          <a:noFill/>
          <a:ln/>
        </p:spPr>
        <p:txBody>
          <a:bodyPr wrap="square" lIns="0" tIns="0" rIns="0" bIns="0" rtlCol="0" anchor="ctr"/>
          <a:lstStyle/>
          <a:p>
            <a:pPr marL="0" indent="0">
              <a:buNone/>
            </a:pPr>
            <a:r>
              <a:rPr lang="en-US" sz="1050" b="1" dirty="0">
                <a:solidFill>
                  <a:srgbClr val="8C4A1F"/>
                </a:solidFill>
                <a:latin typeface="Calibri" pitchFamily="34" charset="0"/>
                <a:ea typeface="Calibri" pitchFamily="34" charset="-122"/>
                <a:cs typeface="Calibri" pitchFamily="34" charset="-120"/>
              </a:rPr>
              <a:t xml:space="preserve">Significativité : </a:t>
            </a:r>
            <a:r>
              <a:rPr lang="en-US" sz="1050" dirty="0">
                <a:solidFill>
                  <a:srgbClr val="22303F"/>
                </a:solidFill>
                <a:latin typeface="Calibri" pitchFamily="34" charset="0"/>
                <a:ea typeface="Calibri" pitchFamily="34" charset="-122"/>
                <a:cs typeface="Calibri" pitchFamily="34" charset="-120"/>
              </a:rPr>
              <a:t>DQN vs Fixed p = 1,3×10⁻⁵ (productivité) et p = 2×10⁻⁶ (carburant) ✓</a:t>
            </a:r>
            <a:endParaRPr lang="en-US" sz="1050" dirty="0"/>
          </a:p>
        </p:txBody>
      </p:sp>
      <p:sp>
        <p:nvSpPr>
          <p:cNvPr id="20" name="Text 17"/>
          <p:cNvSpPr/>
          <p:nvPr/>
        </p:nvSpPr>
        <p:spPr>
          <a:xfrm>
            <a:off x="457200" y="4407408"/>
            <a:ext cx="4572000" cy="548640"/>
          </a:xfrm>
          <a:prstGeom prst="rect">
            <a:avLst/>
          </a:prstGeom>
          <a:noFill/>
          <a:ln/>
        </p:spPr>
        <p:txBody>
          <a:bodyPr wrap="square" lIns="0" tIns="0" rIns="0" bIns="0" rtlCol="0" anchor="ctr"/>
          <a:lstStyle/>
          <a:p>
            <a:pPr marL="0" indent="0">
              <a:buNone/>
            </a:pPr>
            <a:r>
              <a:rPr lang="en-US" sz="1100" b="1" i="1" dirty="0">
                <a:solidFill>
                  <a:srgbClr val="8C4A1F"/>
                </a:solidFill>
                <a:latin typeface="Calibri" pitchFamily="34" charset="0"/>
                <a:ea typeface="Calibri" pitchFamily="34" charset="-122"/>
                <a:cs typeface="Calibri" pitchFamily="34" charset="-120"/>
              </a:rPr>
              <a:t>Avec 10 % de pannes, Fixed continue d'envoyer des camions vers des pelles immobilisées — le RL réaffecte et économise le carburant.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Sous le capot : convergence et comportement des agents</a:t>
            </a:r>
            <a:endParaRPr lang="en-US" sz="2700" dirty="0"/>
          </a:p>
        </p:txBody>
      </p:sp>
      <p:sp>
        <p:nvSpPr>
          <p:cNvPr id="4" name="Shape 2"/>
          <p:cNvSpPr/>
          <p:nvPr/>
        </p:nvSpPr>
        <p:spPr>
          <a:xfrm>
            <a:off x="457200" y="1325880"/>
            <a:ext cx="4114800" cy="1130808"/>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548640" y="1463040"/>
            <a:ext cx="3931920" cy="475488"/>
          </a:xfrm>
          <a:prstGeom prst="rect">
            <a:avLst/>
          </a:prstGeom>
          <a:noFill/>
          <a:ln/>
        </p:spPr>
        <p:txBody>
          <a:bodyPr wrap="square" lIns="0" tIns="0" rIns="0" bIns="0" rtlCol="0" anchor="ctr"/>
          <a:lstStyle/>
          <a:p>
            <a:pPr marL="0" indent="0" algn="ctr">
              <a:buNone/>
            </a:pPr>
            <a:r>
              <a:rPr lang="en-US" sz="2800" b="1" dirty="0">
                <a:solidFill>
                  <a:srgbClr val="B4622D"/>
                </a:solidFill>
                <a:latin typeface="Cambria" pitchFamily="34" charset="0"/>
                <a:ea typeface="Cambria" pitchFamily="34" charset="-122"/>
                <a:cs typeface="Cambria" pitchFamily="34" charset="-120"/>
              </a:rPr>
              <a:t>0,999</a:t>
            </a:r>
            <a:endParaRPr lang="en-US" sz="2800" dirty="0"/>
          </a:p>
        </p:txBody>
      </p:sp>
      <p:sp>
        <p:nvSpPr>
          <p:cNvPr id="6" name="Text 4"/>
          <p:cNvSpPr/>
          <p:nvPr/>
        </p:nvSpPr>
        <p:spPr>
          <a:xfrm>
            <a:off x="548640" y="1965960"/>
            <a:ext cx="3931920" cy="402336"/>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explained_variance de PPO — convergence confirmée</a:t>
            </a:r>
            <a:endParaRPr lang="en-US" sz="1050" dirty="0"/>
          </a:p>
        </p:txBody>
      </p:sp>
      <p:sp>
        <p:nvSpPr>
          <p:cNvPr id="11" name="Shape 8"/>
          <p:cNvSpPr/>
          <p:nvPr/>
        </p:nvSpPr>
        <p:spPr>
          <a:xfrm>
            <a:off x="457200" y="2572512"/>
            <a:ext cx="4114800" cy="1130808"/>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sp>
        <p:nvSpPr>
          <p:cNvPr id="12" name="Text 9"/>
          <p:cNvSpPr/>
          <p:nvPr/>
        </p:nvSpPr>
        <p:spPr>
          <a:xfrm>
            <a:off x="548640" y="2709672"/>
            <a:ext cx="3931920" cy="475488"/>
          </a:xfrm>
          <a:prstGeom prst="rect">
            <a:avLst/>
          </a:prstGeom>
          <a:noFill/>
          <a:ln/>
        </p:spPr>
        <p:txBody>
          <a:bodyPr wrap="square" lIns="0" tIns="0" rIns="0" bIns="0" rtlCol="0" anchor="ctr"/>
          <a:lstStyle/>
          <a:p>
            <a:pPr marL="0" indent="0" algn="ctr">
              <a:buNone/>
            </a:pPr>
            <a:r>
              <a:rPr lang="en-US" sz="2800" b="1" dirty="0">
                <a:solidFill>
                  <a:srgbClr val="B4622D"/>
                </a:solidFill>
                <a:latin typeface="Cambria" pitchFamily="34" charset="0"/>
                <a:ea typeface="Cambria" pitchFamily="34" charset="-122"/>
                <a:cs typeface="Cambria" pitchFamily="34" charset="-120"/>
              </a:rPr>
              <a:t>80,3 %</a:t>
            </a:r>
            <a:endParaRPr lang="en-US" sz="2800" dirty="0"/>
          </a:p>
        </p:txBody>
      </p:sp>
      <p:sp>
        <p:nvSpPr>
          <p:cNvPr id="13" name="Text 10"/>
          <p:cNvSpPr/>
          <p:nvPr/>
        </p:nvSpPr>
        <p:spPr>
          <a:xfrm>
            <a:off x="548640" y="3212592"/>
            <a:ext cx="3931920" cy="402336"/>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des décisions de DQN concentrées sur 2 actions</a:t>
            </a:r>
            <a:endParaRPr lang="en-US" sz="1050" dirty="0"/>
          </a:p>
        </p:txBody>
      </p:sp>
      <p:sp>
        <p:nvSpPr>
          <p:cNvPr id="7" name="Shape 4"/>
          <p:cNvSpPr/>
          <p:nvPr/>
        </p:nvSpPr>
        <p:spPr>
          <a:xfrm>
            <a:off x="4754880" y="1325880"/>
            <a:ext cx="3931920" cy="2377440"/>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8" name="Image 1" descr="action_distribution_nominal.png"/>
          <p:cNvPicPr>
            <a:picLocks noChangeAspect="1"/>
          </p:cNvPicPr>
          <p:nvPr/>
        </p:nvPicPr>
        <p:blipFill>
          <a:blip r:embed="rId4"/>
          <a:stretch>
            <a:fillRect/>
          </a:stretch>
        </p:blipFill>
        <p:spPr>
          <a:xfrm>
            <a:off x="4846320" y="1581912"/>
            <a:ext cx="3749040" cy="1874520"/>
          </a:xfrm>
          <a:prstGeom prst="rect">
            <a:avLst/>
          </a:prstGeom>
        </p:spPr>
      </p:pic>
      <p:sp>
        <p:nvSpPr>
          <p:cNvPr id="9" name="Text 5"/>
          <p:cNvSpPr/>
          <p:nvPr/>
        </p:nvSpPr>
        <p:spPr>
          <a:xfrm>
            <a:off x="4754880" y="3767328"/>
            <a:ext cx="3931920" cy="685800"/>
          </a:xfrm>
          <a:prstGeom prst="rect">
            <a:avLst/>
          </a:prstGeom>
          <a:noFill/>
          <a:ln/>
        </p:spPr>
        <p:txBody>
          <a:bodyPr wrap="square" lIns="0" tIns="0" rIns="0" bIns="0" rtlCol="0" anchor="ctr"/>
          <a:lstStyle/>
          <a:p>
            <a:pPr marL="0" indent="0">
              <a:buNone/>
            </a:pPr>
            <a:r>
              <a:rPr lang="en-US" sz="1000" i="1" dirty="0">
                <a:solidFill>
                  <a:srgbClr val="5A6672"/>
                </a:solidFill>
                <a:latin typeface="Calibri" pitchFamily="34" charset="0"/>
                <a:ea typeface="Calibri" pitchFamily="34" charset="-122"/>
                <a:cs typeface="Calibri" pitchFamily="34" charset="-120"/>
              </a:rPr>
              <a:t>Distribution des actions (nominal) — PPO diversifie sur les 7 actions.</a:t>
            </a:r>
            <a:endParaRPr lang="en-US" sz="1000" dirty="0"/>
          </a:p>
        </p:txBody>
      </p:sp>
      <p:sp>
        <p:nvSpPr>
          <p:cNvPr id="10" name="Text 6"/>
          <p:cNvSpPr/>
          <p:nvPr/>
        </p:nvSpPr>
        <p:spPr>
          <a:xfrm>
            <a:off x="457200" y="4462272"/>
            <a:ext cx="8229600" cy="45720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Au-delà des scores : nous avons analysé ce que font les agents.</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Validation statistique : des écarts robustes, pas des artefacts</a:t>
            </a:r>
            <a:endParaRPr lang="en-US" sz="2700" dirty="0"/>
          </a:p>
        </p:txBody>
      </p:sp>
      <p:sp>
        <p:nvSpPr>
          <p:cNvPr id="4" name="Shape 2"/>
          <p:cNvSpPr/>
          <p:nvPr/>
        </p:nvSpPr>
        <p:spPr>
          <a:xfrm>
            <a:off x="457200" y="1371600"/>
            <a:ext cx="8229600" cy="932688"/>
          </a:xfrm>
          <a:prstGeom prst="roundRect">
            <a:avLst>
              <a:gd name="adj" fmla="val 5882"/>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ANOVA à un facteur</a:t>
            </a:r>
            <a:endParaRPr lang="en-US" sz="1250" dirty="0"/>
          </a:p>
        </p:txBody>
      </p:sp>
      <p:sp>
        <p:nvSpPr>
          <p:cNvPr id="6" name="Text 4"/>
          <p:cNvSpPr/>
          <p:nvPr/>
        </p:nvSpPr>
        <p:spPr>
          <a:xfrm>
            <a:off x="3017520" y="1481328"/>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F(7, 72) = 481,25</a:t>
            </a:r>
            <a:endParaRPr lang="en-US" sz="1500" dirty="0"/>
          </a:p>
        </p:txBody>
      </p:sp>
      <p:sp>
        <p:nvSpPr>
          <p:cNvPr id="7" name="Text 5"/>
          <p:cNvSpPr/>
          <p:nvPr/>
        </p:nvSpPr>
        <p:spPr>
          <a:xfrm>
            <a:off x="5349240" y="1481328"/>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p &lt; 10⁻⁵⁶ : les 8 méthodes diffèrent globalement — l'algorithme explique l'essentiel de la variance</a:t>
            </a:r>
            <a:endParaRPr lang="en-US" sz="1000" dirty="0"/>
          </a:p>
        </p:txBody>
      </p:sp>
      <p:sp>
        <p:nvSpPr>
          <p:cNvPr id="8" name="Shape 6"/>
          <p:cNvSpPr/>
          <p:nvPr/>
        </p:nvSpPr>
        <p:spPr>
          <a:xfrm>
            <a:off x="457200" y="2450592"/>
            <a:ext cx="8229600" cy="932688"/>
          </a:xfrm>
          <a:prstGeom prst="roundRect">
            <a:avLst>
              <a:gd name="adj" fmla="val 588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560320"/>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Welch  PPO vs Fixed</a:t>
            </a:r>
            <a:endParaRPr lang="en-US" sz="1250" dirty="0"/>
          </a:p>
        </p:txBody>
      </p:sp>
      <p:sp>
        <p:nvSpPr>
          <p:cNvPr id="10" name="Text 8"/>
          <p:cNvSpPr/>
          <p:nvPr/>
        </p:nvSpPr>
        <p:spPr>
          <a:xfrm>
            <a:off x="3017520" y="2560320"/>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t = 6,356 · p = 3×10⁻⁶</a:t>
            </a:r>
            <a:endParaRPr lang="en-US" sz="1500" dirty="0"/>
          </a:p>
        </p:txBody>
      </p:sp>
      <p:sp>
        <p:nvSpPr>
          <p:cNvPr id="11" name="Text 9"/>
          <p:cNvSpPr/>
          <p:nvPr/>
        </p:nvSpPr>
        <p:spPr>
          <a:xfrm>
            <a:off x="5349240" y="2560320"/>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Test unilatéral (H1 : PPO &gt; Fixed), robuste aux variances inégales — significatif en nominal</a:t>
            </a:r>
            <a:endParaRPr lang="en-US" sz="1000" dirty="0"/>
          </a:p>
        </p:txBody>
      </p:sp>
      <p:sp>
        <p:nvSpPr>
          <p:cNvPr id="12" name="Shape 10"/>
          <p:cNvSpPr/>
          <p:nvPr/>
        </p:nvSpPr>
        <p:spPr>
          <a:xfrm>
            <a:off x="457200" y="3529584"/>
            <a:ext cx="8229600" cy="932688"/>
          </a:xfrm>
          <a:prstGeom prst="roundRect">
            <a:avLst>
              <a:gd name="adj" fmla="val 588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639312"/>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Tukey HSD  PPO ≈ DQN</a:t>
            </a:r>
            <a:endParaRPr lang="en-US" sz="1250" dirty="0"/>
          </a:p>
        </p:txBody>
      </p:sp>
      <p:sp>
        <p:nvSpPr>
          <p:cNvPr id="14" name="Text 12"/>
          <p:cNvSpPr/>
          <p:nvPr/>
        </p:nvSpPr>
        <p:spPr>
          <a:xfrm>
            <a:off x="3017520" y="3639312"/>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p = 0,799</a:t>
            </a:r>
            <a:endParaRPr lang="en-US" sz="1500" dirty="0"/>
          </a:p>
        </p:txBody>
      </p:sp>
      <p:sp>
        <p:nvSpPr>
          <p:cNvPr id="15" name="Text 13"/>
          <p:cNvSpPr/>
          <p:nvPr/>
        </p:nvSpPr>
        <p:spPr>
          <a:xfrm>
            <a:off x="5349240" y="3639312"/>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Après correction pour comparaisons multiples : PPO et DQN statistiquement équivalents en nominal</a:t>
            </a:r>
            <a:endParaRPr lang="en-US" sz="1000" dirty="0"/>
          </a:p>
        </p:txBody>
      </p:sp>
      <p:sp>
        <p:nvSpPr>
          <p:cNvPr id="16" name="Text 14"/>
          <p:cNvSpPr/>
          <p:nvPr/>
        </p:nvSpPr>
        <p:spPr>
          <a:xfrm>
            <a:off x="457200" y="4590288"/>
            <a:ext cx="8229600" cy="502920"/>
          </a:xfrm>
          <a:prstGeom prst="rect">
            <a:avLst/>
          </a:prstGeom>
          <a:noFill/>
          <a:ln/>
        </p:spPr>
        <p:txBody>
          <a:bodyPr wrap="square" lIns="0" tIns="0" rIns="0" bIns="0" rtlCol="0" anchor="ctr"/>
          <a:lstStyle/>
          <a:p>
            <a:pPr marL="0" indent="0">
              <a:buNone/>
            </a:pPr>
            <a:r>
              <a:rPr lang="en-US" sz="1100" i="1" dirty="0">
                <a:solidFill>
                  <a:srgbClr val="8C4A1F"/>
                </a:solidFill>
                <a:latin typeface="Calibri" pitchFamily="34" charset="0"/>
                <a:ea typeface="Calibri" pitchFamily="34" charset="-122"/>
                <a:cs typeface="Calibri" pitchFamily="34" charset="-120"/>
              </a:rPr>
              <a:t>Même rigueur dans les autres scénarios : high_load — DQN vs Nearest t = 65,33, p ≈ 0 · high_breakdown — DQN vs Fixed +131,25 t/h, Tukey p = 0,0014 ; DQN ≈ PPO, p = 0,813.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Validation de H1 : une lecture différenciée par scénario et par critère</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2267712"/>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Scénario</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Productivité</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Temps d'attente</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Carburant</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extLst>
                  <a:ext uri="{0D108BD9-81ED-4DB2-BD59-A6C34878D82A}">
                    <a16:rowId xmlns:a16="http://schemas.microsoft.com/office/drawing/2014/main" val="10000"/>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Nominal</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&gt; Fixed (p = 3×10⁻⁶)</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03A2E"/>
                          </a:solidFill>
                          <a:latin typeface="Calibri" pitchFamily="34" charset="0"/>
                          <a:ea typeface="Calibri" pitchFamily="34" charset="-122"/>
                          <a:cs typeface="Calibri" pitchFamily="34" charset="-120"/>
                        </a:rPr>
                        <a:t>✗ Fixed meilleur</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&lt; Fixed (p &lt; 10⁻⁸)</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High Load</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DQN proche de Fixed (−3,6 %)</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RL ≫ myopes (+1 725 t/h)</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comparable</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High Breakdown</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&gt; Fixed (p = 1,3×10⁻⁵)</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Fixed meilleur (53 vs 65 min)</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&lt; Fixed (p = 2×10⁻⁶)</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2"/>
          <p:cNvSpPr/>
          <p:nvPr/>
        </p:nvSpPr>
        <p:spPr>
          <a:xfrm>
            <a:off x="457200" y="3977640"/>
            <a:ext cx="8229600" cy="822960"/>
          </a:xfrm>
          <a:prstGeom prst="roundRect">
            <a:avLst>
              <a:gd name="adj" fmla="val 6667"/>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6" name="Text 3"/>
          <p:cNvSpPr/>
          <p:nvPr/>
        </p:nvSpPr>
        <p:spPr>
          <a:xfrm>
            <a:off x="658368" y="4133088"/>
            <a:ext cx="7863840" cy="594360"/>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 xml:space="preserve">H1 validée dans 2 scénarios sur 3, sur la productivité ET le carburant. </a:t>
            </a:r>
            <a:r>
              <a:rPr lang="en-US" sz="1150" dirty="0">
                <a:solidFill>
                  <a:srgbClr val="22303F"/>
                </a:solidFill>
                <a:latin typeface="Calibri" pitchFamily="34" charset="0"/>
                <a:ea typeface="Calibri" pitchFamily="34" charset="-122"/>
                <a:cs typeface="Calibri" pitchFamily="34" charset="-120"/>
              </a:rPr>
              <a:t>La nuance en high_load est assumée et expliquée : Fixed y bénéficie d'un Match Factor parfait (18/3 = 6) — et ne surpasse pas le RL sur le carburant.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Difficultés rencontrées et solutions apportées</a:t>
            </a:r>
            <a:endParaRPr lang="en-US" sz="2700" dirty="0"/>
          </a:p>
        </p:txBody>
      </p:sp>
      <p:sp>
        <p:nvSpPr>
          <p:cNvPr id="4" name="Shape 2"/>
          <p:cNvSpPr/>
          <p:nvPr/>
        </p:nvSpPr>
        <p:spPr>
          <a:xfrm>
            <a:off x="457200" y="1371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Reward shaping non discriminant</a:t>
            </a:r>
            <a:endParaRPr lang="en-US" sz="1150" dirty="0"/>
          </a:p>
        </p:txBody>
      </p:sp>
      <p:sp>
        <p:nvSpPr>
          <p:cNvPr id="6" name="Text 4"/>
          <p:cNvSpPr/>
          <p:nvPr/>
        </p:nvSpPr>
        <p:spPr>
          <a:xfrm>
            <a:off x="2926080" y="1481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ΔR &lt; 6×10⁻⁴ : signal non discriminant, apprentissage bloqué</a:t>
            </a:r>
            <a:endParaRPr lang="en-US" sz="980" dirty="0"/>
          </a:p>
        </p:txBody>
      </p:sp>
      <p:sp>
        <p:nvSpPr>
          <p:cNvPr id="7" name="Text 5"/>
          <p:cNvSpPr/>
          <p:nvPr/>
        </p:nvSpPr>
        <p:spPr>
          <a:xfrm>
            <a:off x="5806440" y="1481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Ajout de w₄ = 0,3 → ΔR ×53 — contribution du mémoire</a:t>
            </a:r>
            <a:endParaRPr lang="en-US" sz="980" dirty="0"/>
          </a:p>
        </p:txBody>
      </p:sp>
      <p:sp>
        <p:nvSpPr>
          <p:cNvPr id="8" name="Shape 6"/>
          <p:cNvSpPr/>
          <p:nvPr/>
        </p:nvSpPr>
        <p:spPr>
          <a:xfrm>
            <a:off x="457200" y="2514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624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État non tabulable</a:t>
            </a:r>
            <a:endParaRPr lang="en-US" sz="1150" dirty="0"/>
          </a:p>
        </p:txBody>
      </p:sp>
      <p:sp>
        <p:nvSpPr>
          <p:cNvPr id="10" name="Text 8"/>
          <p:cNvSpPr/>
          <p:nvPr/>
        </p:nvSpPr>
        <p:spPr>
          <a:xfrm>
            <a:off x="2926080" y="2624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147 dimensions continues : discrétisation impossible</a:t>
            </a:r>
            <a:endParaRPr lang="en-US" sz="980" dirty="0"/>
          </a:p>
        </p:txBody>
      </p:sp>
      <p:sp>
        <p:nvSpPr>
          <p:cNvPr id="11" name="Text 9"/>
          <p:cNvSpPr/>
          <p:nvPr/>
        </p:nvSpPr>
        <p:spPr>
          <a:xfrm>
            <a:off x="5806440" y="2624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6 features décisionnelles → 17 034 états effectifs</a:t>
            </a:r>
            <a:endParaRPr lang="en-US" sz="980" dirty="0"/>
          </a:p>
        </p:txBody>
      </p:sp>
      <p:sp>
        <p:nvSpPr>
          <p:cNvPr id="12" name="Shape 10"/>
          <p:cNvSpPr/>
          <p:nvPr/>
        </p:nvSpPr>
        <p:spPr>
          <a:xfrm>
            <a:off x="457200" y="3657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767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Instabilité de PPO en surcharge</a:t>
            </a:r>
            <a:endParaRPr lang="en-US" sz="1150" dirty="0"/>
          </a:p>
        </p:txBody>
      </p:sp>
      <p:sp>
        <p:nvSpPr>
          <p:cNvPr id="14" name="Text 12"/>
          <p:cNvSpPr/>
          <p:nvPr/>
        </p:nvSpPr>
        <p:spPr>
          <a:xfrm>
            <a:off x="2926080" y="3767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 350 t/h en high_load : sensible aux initialisations</a:t>
            </a:r>
            <a:endParaRPr lang="en-US" sz="980" dirty="0"/>
          </a:p>
        </p:txBody>
      </p:sp>
      <p:sp>
        <p:nvSpPr>
          <p:cNvPr id="15" name="Text 13"/>
          <p:cNvSpPr/>
          <p:nvPr/>
        </p:nvSpPr>
        <p:spPr>
          <a:xfrm>
            <a:off x="5806440" y="3767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DQN retenu comme alternative stable (± 65 t/h)</a:t>
            </a:r>
            <a:endParaRPr lang="en-US" sz="980" dirty="0"/>
          </a:p>
        </p:txBody>
      </p:sp>
      <p:sp>
        <p:nvSpPr>
          <p:cNvPr id="16" name="Text 14"/>
          <p:cNvSpPr/>
          <p:nvPr/>
        </p:nvSpPr>
        <p:spPr>
          <a:xfrm>
            <a:off x="457200" y="4846320"/>
            <a:ext cx="8229600" cy="292608"/>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Chaque difficulté a été traitée par un diagnostic mesuré plutôt que par tâtonnement — c'est la démarche CRISP-RL en pratique.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Limites assumées, perspectives directes</a:t>
            </a:r>
            <a:endParaRPr lang="en-US" sz="2700" dirty="0"/>
          </a:p>
        </p:txBody>
      </p:sp>
      <p:sp>
        <p:nvSpPr>
          <p:cNvPr id="4" name="Text 2"/>
          <p:cNvSpPr/>
          <p:nvPr/>
        </p:nvSpPr>
        <p:spPr>
          <a:xfrm>
            <a:off x="2926080" y="1298448"/>
            <a:ext cx="2743200" cy="237744"/>
          </a:xfrm>
          <a:prstGeom prst="rect">
            <a:avLst/>
          </a:prstGeom>
          <a:noFill/>
          <a:ln/>
        </p:spPr>
        <p:txBody>
          <a:bodyPr wrap="square" lIns="0" tIns="0" rIns="0" bIns="0" rtlCol="0" anchor="ctr"/>
          <a:lstStyle/>
          <a:p>
            <a:pPr marL="0" indent="0">
              <a:buNone/>
            </a:pPr>
            <a:r>
              <a:rPr lang="en-US" sz="1050" b="1" kern="0" spc="200" dirty="0">
                <a:solidFill>
                  <a:srgbClr val="B03A2E"/>
                </a:solidFill>
                <a:latin typeface="Calibri" pitchFamily="34" charset="0"/>
                <a:ea typeface="Calibri" pitchFamily="34" charset="-122"/>
                <a:cs typeface="Calibri" pitchFamily="34" charset="-120"/>
              </a:rPr>
              <a:t>LIMITE</a:t>
            </a:r>
            <a:endParaRPr lang="en-US" sz="1050" dirty="0"/>
          </a:p>
        </p:txBody>
      </p:sp>
      <p:sp>
        <p:nvSpPr>
          <p:cNvPr id="5" name="Text 3"/>
          <p:cNvSpPr/>
          <p:nvPr/>
        </p:nvSpPr>
        <p:spPr>
          <a:xfrm>
            <a:off x="5806440" y="1298448"/>
            <a:ext cx="2697480" cy="237744"/>
          </a:xfrm>
          <a:prstGeom prst="rect">
            <a:avLst/>
          </a:prstGeom>
          <a:noFill/>
          <a:ln/>
        </p:spPr>
        <p:txBody>
          <a:bodyPr wrap="square" lIns="0" tIns="0" rIns="0" bIns="0" rtlCol="0" anchor="ctr"/>
          <a:lstStyle/>
          <a:p>
            <a:pPr marL="0" indent="0">
              <a:buNone/>
            </a:pPr>
            <a:r>
              <a:rPr lang="en-US" sz="1050" b="1" kern="0" spc="200" dirty="0">
                <a:solidFill>
                  <a:srgbClr val="2E7D32"/>
                </a:solidFill>
                <a:latin typeface="Calibri" pitchFamily="34" charset="0"/>
                <a:ea typeface="Calibri" pitchFamily="34" charset="-122"/>
                <a:cs typeface="Calibri" pitchFamily="34" charset="-120"/>
              </a:rPr>
              <a:t>PERSPECTIVE</a:t>
            </a:r>
            <a:endParaRPr lang="en-US" sz="1050" dirty="0"/>
          </a:p>
        </p:txBody>
      </p:sp>
      <p:sp>
        <p:nvSpPr>
          <p:cNvPr id="6" name="Shape 4"/>
          <p:cNvSpPr/>
          <p:nvPr/>
        </p:nvSpPr>
        <p:spPr>
          <a:xfrm>
            <a:off x="457200" y="1591056"/>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5"/>
          <p:cNvSpPr/>
          <p:nvPr/>
        </p:nvSpPr>
        <p:spPr>
          <a:xfrm>
            <a:off x="685800" y="1682496"/>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Non-généralisation entre flottes</a:t>
            </a:r>
            <a:endParaRPr lang="en-US" sz="1150" dirty="0"/>
          </a:p>
        </p:txBody>
      </p:sp>
      <p:sp>
        <p:nvSpPr>
          <p:cNvPr id="8" name="Text 6"/>
          <p:cNvSpPr/>
          <p:nvPr/>
        </p:nvSpPr>
        <p:spPr>
          <a:xfrm>
            <a:off x="2926080" y="1682496"/>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Le vecteur d'état dépend de Nc : un modèle 12 camions (147 dim.) ne se déploie pas sur 18 camions (213 dim.) sans réentraînement</a:t>
            </a:r>
            <a:endParaRPr lang="en-US" sz="950" dirty="0"/>
          </a:p>
        </p:txBody>
      </p:sp>
      <p:sp>
        <p:nvSpPr>
          <p:cNvPr id="9" name="Text 7"/>
          <p:cNvSpPr/>
          <p:nvPr/>
        </p:nvSpPr>
        <p:spPr>
          <a:xfrm>
            <a:off x="5806440" y="1682496"/>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Transfer learning · meta-learning · architectures à taille variable (attention, GNN)</a:t>
            </a:r>
            <a:endParaRPr lang="en-US" sz="950" dirty="0"/>
          </a:p>
        </p:txBody>
      </p:sp>
      <p:sp>
        <p:nvSpPr>
          <p:cNvPr id="10" name="Shape 8"/>
          <p:cNvSpPr/>
          <p:nvPr/>
        </p:nvSpPr>
        <p:spPr>
          <a:xfrm>
            <a:off x="457200" y="2670048"/>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685800" y="2761488"/>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Dispatching séquentiel</a:t>
            </a:r>
            <a:endParaRPr lang="en-US" sz="1150" dirty="0"/>
          </a:p>
        </p:txBody>
      </p:sp>
      <p:sp>
        <p:nvSpPr>
          <p:cNvPr id="12" name="Text 10"/>
          <p:cNvSpPr/>
          <p:nvPr/>
        </p:nvSpPr>
        <p:spPr>
          <a:xfrm>
            <a:off x="2926080" y="2761488"/>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Un camion à la fois : approximation tractable de l'optimisation « holistique » (l'affectation globale serait en |A|^Nc)</a:t>
            </a:r>
            <a:endParaRPr lang="en-US" sz="950" dirty="0"/>
          </a:p>
        </p:txBody>
      </p:sp>
      <p:sp>
        <p:nvSpPr>
          <p:cNvPr id="13" name="Text 11"/>
          <p:cNvSpPr/>
          <p:nvPr/>
        </p:nvSpPr>
        <p:spPr>
          <a:xfrm>
            <a:off x="5806440" y="2761488"/>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MARL — chaque camion devient un agent (entraînement centralisé, exécution décentralisée)</a:t>
            </a:r>
            <a:endParaRPr lang="en-US" sz="950" dirty="0"/>
          </a:p>
        </p:txBody>
      </p:sp>
      <p:sp>
        <p:nvSpPr>
          <p:cNvPr id="14" name="Shape 12"/>
          <p:cNvSpPr/>
          <p:nvPr/>
        </p:nvSpPr>
        <p:spPr>
          <a:xfrm>
            <a:off x="457200" y="3749040"/>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3"/>
          <p:cNvSpPr/>
          <p:nvPr/>
        </p:nvSpPr>
        <p:spPr>
          <a:xfrm>
            <a:off x="685800" y="3840480"/>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Validation en simulation seule</a:t>
            </a:r>
            <a:endParaRPr lang="en-US" sz="1150" dirty="0"/>
          </a:p>
        </p:txBody>
      </p:sp>
      <p:sp>
        <p:nvSpPr>
          <p:cNvPr id="16" name="Text 14"/>
          <p:cNvSpPr/>
          <p:nvPr/>
        </p:nvSpPr>
        <p:spPr>
          <a:xfrm>
            <a:off x="2926080" y="3840480"/>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Paramètres issus de la littérature : météo, opérateurs et pannes d'infrastructure non modélisés</a:t>
            </a:r>
            <a:endParaRPr lang="en-US" sz="950" dirty="0"/>
          </a:p>
        </p:txBody>
      </p:sp>
      <p:sp>
        <p:nvSpPr>
          <p:cNvPr id="17" name="Text 15"/>
          <p:cNvSpPr/>
          <p:nvPr/>
        </p:nvSpPr>
        <p:spPr>
          <a:xfrm>
            <a:off x="5806440" y="3840480"/>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Partenariat avec une mine réelle — validation sur données historiques de terrain</a:t>
            </a:r>
            <a:endParaRPr lang="en-US" sz="950" dirty="0"/>
          </a:p>
        </p:txBody>
      </p:sp>
      <p:sp>
        <p:nvSpPr>
          <p:cNvPr id="18" name="Text 16"/>
          <p:cNvSpPr/>
          <p:nvPr/>
        </p:nvSpPr>
        <p:spPr>
          <a:xfrm>
            <a:off x="457200" y="4864608"/>
            <a:ext cx="8229600" cy="27432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Ces limites ne fragilisent pas les résultats — elles délimitent leur domaine de validité et ouvrent les travaux futurs.</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6 · CONCLUSION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Quatre contributions concrètes</a:t>
            </a:r>
            <a:endParaRPr lang="en-US" sz="2700" dirty="0"/>
          </a:p>
        </p:txBody>
      </p:sp>
      <p:sp>
        <p:nvSpPr>
          <p:cNvPr id="4" name="Shape 2"/>
          <p:cNvSpPr/>
          <p:nvPr/>
        </p:nvSpPr>
        <p:spPr>
          <a:xfrm>
            <a:off x="457200" y="141732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40080" y="1600200"/>
            <a:ext cx="310896" cy="310896"/>
          </a:xfrm>
          <a:prstGeom prst="ellipse">
            <a:avLst/>
          </a:prstGeom>
          <a:solidFill>
            <a:srgbClr val="B4622D"/>
          </a:solidFill>
          <a:ln/>
        </p:spPr>
      </p:sp>
      <p:sp>
        <p:nvSpPr>
          <p:cNvPr id="6" name="Text 4"/>
          <p:cNvSpPr/>
          <p:nvPr/>
        </p:nvSpPr>
        <p:spPr>
          <a:xfrm>
            <a:off x="640080" y="158648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78992" y="156362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Un simulateur Gymnasium réaliste</a:t>
            </a:r>
            <a:endParaRPr lang="en-US" sz="1250" dirty="0"/>
          </a:p>
        </p:txBody>
      </p:sp>
      <p:sp>
        <p:nvSpPr>
          <p:cNvPr id="8" name="Text 6"/>
          <p:cNvSpPr/>
          <p:nvPr/>
        </p:nvSpPr>
        <p:spPr>
          <a:xfrm>
            <a:off x="1078992" y="211226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7 nœuds, trajets log-normaux, pannes aléatoires, pentes — conforme à l'API standard, validé par check_env()</a:t>
            </a:r>
            <a:endParaRPr lang="en-US" sz="1000" dirty="0"/>
          </a:p>
        </p:txBody>
      </p:sp>
      <p:sp>
        <p:nvSpPr>
          <p:cNvPr id="9" name="Shape 7"/>
          <p:cNvSpPr/>
          <p:nvPr/>
        </p:nvSpPr>
        <p:spPr>
          <a:xfrm>
            <a:off x="4709160" y="141732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Shape 8"/>
          <p:cNvSpPr/>
          <p:nvPr/>
        </p:nvSpPr>
        <p:spPr>
          <a:xfrm>
            <a:off x="4892040" y="1600200"/>
            <a:ext cx="310896" cy="310896"/>
          </a:xfrm>
          <a:prstGeom prst="ellipse">
            <a:avLst/>
          </a:prstGeom>
          <a:solidFill>
            <a:srgbClr val="B4622D"/>
          </a:solidFill>
          <a:ln/>
        </p:spPr>
      </p:sp>
      <p:sp>
        <p:nvSpPr>
          <p:cNvPr id="11" name="Text 9"/>
          <p:cNvSpPr/>
          <p:nvPr/>
        </p:nvSpPr>
        <p:spPr>
          <a:xfrm>
            <a:off x="4892040" y="158648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5330952" y="156362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Quatre agents RL implémentés et calibrés</a:t>
            </a:r>
            <a:endParaRPr lang="en-US" sz="1250" dirty="0"/>
          </a:p>
        </p:txBody>
      </p:sp>
      <p:sp>
        <p:nvSpPr>
          <p:cNvPr id="13" name="Text 11"/>
          <p:cNvSpPr/>
          <p:nvPr/>
        </p:nvSpPr>
        <p:spPr>
          <a:xfrm>
            <a:off x="5330952" y="211226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Tabulaires (Q-Learning, SARSA) et Deep RL (DQN, PPO) — hyperparamètres justifiés, convergence diagnostiquée</a:t>
            </a:r>
            <a:endParaRPr lang="en-US" sz="1000" dirty="0"/>
          </a:p>
        </p:txBody>
      </p:sp>
      <p:sp>
        <p:nvSpPr>
          <p:cNvPr id="14" name="Shape 12"/>
          <p:cNvSpPr/>
          <p:nvPr/>
        </p:nvSpPr>
        <p:spPr>
          <a:xfrm>
            <a:off x="457200" y="306324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Shape 13"/>
          <p:cNvSpPr/>
          <p:nvPr/>
        </p:nvSpPr>
        <p:spPr>
          <a:xfrm>
            <a:off x="640080" y="3246120"/>
            <a:ext cx="310896" cy="310896"/>
          </a:xfrm>
          <a:prstGeom prst="ellipse">
            <a:avLst/>
          </a:prstGeom>
          <a:solidFill>
            <a:srgbClr val="B4622D"/>
          </a:solidFill>
          <a:ln/>
        </p:spPr>
      </p:sp>
      <p:sp>
        <p:nvSpPr>
          <p:cNvPr id="16" name="Text 14"/>
          <p:cNvSpPr/>
          <p:nvPr/>
        </p:nvSpPr>
        <p:spPr>
          <a:xfrm>
            <a:off x="640080" y="323240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078992" y="320954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Un benchmark systématique et reproductible</a:t>
            </a:r>
            <a:endParaRPr lang="en-US" sz="1250" dirty="0"/>
          </a:p>
        </p:txBody>
      </p:sp>
      <p:sp>
        <p:nvSpPr>
          <p:cNvPr id="18" name="Text 16"/>
          <p:cNvSpPr/>
          <p:nvPr/>
        </p:nvSpPr>
        <p:spPr>
          <a:xfrm>
            <a:off x="1078992" y="375818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8 politiques × 3 scénarios × 10 réplications = 240 simulations, avec ANOVA, Tukey HSD et tests de Welch</a:t>
            </a:r>
            <a:endParaRPr lang="en-US" sz="1000" dirty="0"/>
          </a:p>
        </p:txBody>
      </p:sp>
      <p:sp>
        <p:nvSpPr>
          <p:cNvPr id="19" name="Shape 17"/>
          <p:cNvSpPr/>
          <p:nvPr/>
        </p:nvSpPr>
        <p:spPr>
          <a:xfrm>
            <a:off x="4709160" y="3063240"/>
            <a:ext cx="4023360" cy="1463040"/>
          </a:xfrm>
          <a:prstGeom prst="roundRect">
            <a:avLst>
              <a:gd name="adj" fmla="val 375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Shape 18"/>
          <p:cNvSpPr/>
          <p:nvPr/>
        </p:nvSpPr>
        <p:spPr>
          <a:xfrm>
            <a:off x="4892040" y="3246120"/>
            <a:ext cx="310896" cy="310896"/>
          </a:xfrm>
          <a:prstGeom prst="ellipse">
            <a:avLst/>
          </a:prstGeom>
          <a:solidFill>
            <a:srgbClr val="B4622D"/>
          </a:solidFill>
          <a:ln/>
        </p:spPr>
      </p:sp>
      <p:sp>
        <p:nvSpPr>
          <p:cNvPr id="21" name="Text 19"/>
          <p:cNvSpPr/>
          <p:nvPr/>
        </p:nvSpPr>
        <p:spPr>
          <a:xfrm>
            <a:off x="4892040" y="323240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5330952" y="320954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La calibration du signal de récompense</a:t>
            </a:r>
            <a:endParaRPr lang="en-US" sz="1250" dirty="0"/>
          </a:p>
        </p:txBody>
      </p:sp>
      <p:sp>
        <p:nvSpPr>
          <p:cNvPr id="23" name="Text 21"/>
          <p:cNvSpPr/>
          <p:nvPr/>
        </p:nvSpPr>
        <p:spPr>
          <a:xfrm>
            <a:off x="5330952" y="375818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Diagnostic ΔR : de &lt; 6×10⁻⁴ à 3,2×10⁻² grâce au terme w₄ = 0,3 — condition sine qua non de l'apprentissage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F2A38"/>
        </a:solidFill>
        <a:effectLst/>
      </p:bgPr>
    </p:bg>
    <p:spTree>
      <p:nvGrpSpPr>
        <p:cNvPr id="1" name=""/>
        <p:cNvGrpSpPr/>
        <p:nvPr/>
      </p:nvGrpSpPr>
      <p:grpSpPr>
        <a:xfrm>
          <a:off x="0" y="0"/>
          <a:ext cx="0" cy="0"/>
          <a:chOff x="0" y="0"/>
          <a:chExt cx="0" cy="0"/>
        </a:xfrm>
      </p:grpSpPr>
      <p:sp>
        <p:nvSpPr>
          <p:cNvPr id="2" name="Shape 0"/>
          <p:cNvSpPr/>
          <p:nvPr/>
        </p:nvSpPr>
        <p:spPr>
          <a:xfrm>
            <a:off x="7589520" y="3566160"/>
            <a:ext cx="3108960" cy="3108960"/>
          </a:xfrm>
          <a:prstGeom prst="ellipse">
            <a:avLst/>
          </a:prstGeom>
          <a:solidFill>
            <a:srgbClr val="2A3A4D"/>
          </a:solidFill>
          <a:ln/>
        </p:spPr>
      </p:sp>
      <p:sp>
        <p:nvSpPr>
          <p:cNvPr id="3" name="Shape 1"/>
          <p:cNvSpPr/>
          <p:nvPr/>
        </p:nvSpPr>
        <p:spPr>
          <a:xfrm>
            <a:off x="-1280160" y="-1554480"/>
            <a:ext cx="3200400" cy="3200400"/>
          </a:xfrm>
          <a:prstGeom prst="ellipse">
            <a:avLst/>
          </a:prstGeom>
          <a:solidFill>
            <a:srgbClr val="2A3A4D"/>
          </a:solidFill>
          <a:ln/>
        </p:spPr>
      </p:sp>
      <p:sp>
        <p:nvSpPr>
          <p:cNvPr id="4" name="Text 2"/>
          <p:cNvSpPr/>
          <p:nvPr/>
        </p:nvSpPr>
        <p:spPr>
          <a:xfrm>
            <a:off x="457200" y="548640"/>
            <a:ext cx="8229600" cy="274320"/>
          </a:xfrm>
          <a:prstGeom prst="rect">
            <a:avLst/>
          </a:prstGeom>
          <a:noFill/>
          <a:ln/>
        </p:spPr>
        <p:txBody>
          <a:bodyPr wrap="square" lIns="0" tIns="0" rIns="0" bIns="0" rtlCol="0" anchor="ctr"/>
          <a:lstStyle/>
          <a:p>
            <a:pPr marL="0" indent="0" algn="ctr">
              <a:buNone/>
            </a:pPr>
            <a:r>
              <a:rPr lang="en-US" sz="1200" b="1" kern="0" spc="400" dirty="0">
                <a:solidFill>
                  <a:srgbClr val="B4622D"/>
                </a:solidFill>
                <a:latin typeface="Calibri" pitchFamily="34" charset="0"/>
                <a:ea typeface="Calibri" pitchFamily="34" charset="-122"/>
                <a:cs typeface="Calibri" pitchFamily="34" charset="-120"/>
              </a:rPr>
              <a:t>CONCLUSION</a:t>
            </a:r>
            <a:endParaRPr lang="en-US" sz="1200" dirty="0"/>
          </a:p>
        </p:txBody>
      </p:sp>
      <p:sp>
        <p:nvSpPr>
          <p:cNvPr id="5" name="Text 3"/>
          <p:cNvSpPr/>
          <p:nvPr/>
        </p:nvSpPr>
        <p:spPr>
          <a:xfrm>
            <a:off x="731520" y="960120"/>
            <a:ext cx="7680960" cy="914400"/>
          </a:xfrm>
          <a:prstGeom prst="rect">
            <a:avLst/>
          </a:prstGeom>
          <a:noFill/>
          <a:ln/>
        </p:spPr>
        <p:txBody>
          <a:bodyPr wrap="square" lIns="0" tIns="0" rIns="0" bIns="0" rtlCol="0" anchor="ctr"/>
          <a:lstStyle/>
          <a:p>
            <a:pPr marL="0" indent="0" algn="ctr">
              <a:buNone/>
            </a:pPr>
            <a:r>
              <a:rPr lang="en-US" sz="2100" b="1" dirty="0">
                <a:solidFill>
                  <a:srgbClr val="FFFFFF"/>
                </a:solidFill>
                <a:latin typeface="Cambria" pitchFamily="34" charset="0"/>
                <a:ea typeface="Cambria" pitchFamily="34" charset="-122"/>
                <a:cs typeface="Cambria" pitchFamily="34" charset="-120"/>
              </a:rPr>
              <a:t>Un agent RL n'est pas meilleur qu'une heuristique dans tous les cas.</a:t>
            </a:r>
            <a:endParaRPr lang="en-US" sz="2100" dirty="0"/>
          </a:p>
          <a:p>
            <a:pPr marL="0" indent="0" algn="ctr">
              <a:buNone/>
            </a:pPr>
            <a:r>
              <a:rPr lang="en-US" sz="2100" b="1" dirty="0">
                <a:solidFill>
                  <a:srgbClr val="FFFFFF"/>
                </a:solidFill>
                <a:latin typeface="Cambria" pitchFamily="34" charset="0"/>
                <a:ea typeface="Cambria" pitchFamily="34" charset="-122"/>
                <a:cs typeface="Cambria" pitchFamily="34" charset="-120"/>
              </a:rPr>
              <a:t>Il est massivement supérieur là où les heuristiques s'effondrent.</a:t>
            </a:r>
            <a:endParaRPr lang="en-US" sz="2100" dirty="0"/>
          </a:p>
        </p:txBody>
      </p:sp>
      <p:sp>
        <p:nvSpPr>
          <p:cNvPr id="6" name="Shape 4"/>
          <p:cNvSpPr/>
          <p:nvPr/>
        </p:nvSpPr>
        <p:spPr>
          <a:xfrm>
            <a:off x="640080" y="2148840"/>
            <a:ext cx="2560320" cy="1143000"/>
          </a:xfrm>
          <a:prstGeom prst="roundRect">
            <a:avLst>
              <a:gd name="adj" fmla="val 4800"/>
            </a:avLst>
          </a:prstGeom>
          <a:solidFill>
            <a:srgbClr val="2A3A4D"/>
          </a:solidFill>
          <a:ln w="9525">
            <a:solidFill>
              <a:srgbClr val="3C4E63"/>
            </a:solidFill>
            <a:prstDash val="solid"/>
          </a:ln>
        </p:spPr>
      </p:sp>
      <p:sp>
        <p:nvSpPr>
          <p:cNvPr id="7" name="Text 5"/>
          <p:cNvSpPr/>
          <p:nvPr/>
        </p:nvSpPr>
        <p:spPr>
          <a:xfrm>
            <a:off x="7315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+1 725 t/h</a:t>
            </a:r>
            <a:endParaRPr lang="en-US" sz="2300" dirty="0"/>
          </a:p>
        </p:txBody>
      </p:sp>
      <p:sp>
        <p:nvSpPr>
          <p:cNvPr id="8" name="Text 6"/>
          <p:cNvSpPr/>
          <p:nvPr/>
        </p:nvSpPr>
        <p:spPr>
          <a:xfrm>
            <a:off x="7772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vs Nearest Shovel en surcharge</a:t>
            </a:r>
            <a:endParaRPr lang="en-US" sz="1050" dirty="0"/>
          </a:p>
        </p:txBody>
      </p:sp>
      <p:sp>
        <p:nvSpPr>
          <p:cNvPr id="9" name="Shape 7"/>
          <p:cNvSpPr/>
          <p:nvPr/>
        </p:nvSpPr>
        <p:spPr>
          <a:xfrm>
            <a:off x="3383280" y="2148840"/>
            <a:ext cx="2560320" cy="1143000"/>
          </a:xfrm>
          <a:prstGeom prst="roundRect">
            <a:avLst>
              <a:gd name="adj" fmla="val 4800"/>
            </a:avLst>
          </a:prstGeom>
          <a:solidFill>
            <a:srgbClr val="2A3A4D"/>
          </a:solidFill>
          <a:ln w="9525">
            <a:solidFill>
              <a:srgbClr val="3C4E63"/>
            </a:solidFill>
            <a:prstDash val="solid"/>
          </a:ln>
        </p:spPr>
      </p:sp>
      <p:sp>
        <p:nvSpPr>
          <p:cNvPr id="10" name="Text 8"/>
          <p:cNvSpPr/>
          <p:nvPr/>
        </p:nvSpPr>
        <p:spPr>
          <a:xfrm>
            <a:off x="34747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−7,4 %</a:t>
            </a:r>
            <a:endParaRPr lang="en-US" sz="2300" dirty="0"/>
          </a:p>
        </p:txBody>
      </p:sp>
      <p:sp>
        <p:nvSpPr>
          <p:cNvPr id="11" name="Text 9"/>
          <p:cNvSpPr/>
          <p:nvPr/>
        </p:nvSpPr>
        <p:spPr>
          <a:xfrm>
            <a:off x="35204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de carburant vs Fixed sous pannes</a:t>
            </a:r>
            <a:endParaRPr lang="en-US" sz="1050" dirty="0"/>
          </a:p>
        </p:txBody>
      </p:sp>
      <p:sp>
        <p:nvSpPr>
          <p:cNvPr id="12" name="Shape 10"/>
          <p:cNvSpPr/>
          <p:nvPr/>
        </p:nvSpPr>
        <p:spPr>
          <a:xfrm>
            <a:off x="6126480" y="2148840"/>
            <a:ext cx="2560320" cy="1143000"/>
          </a:xfrm>
          <a:prstGeom prst="roundRect">
            <a:avLst>
              <a:gd name="adj" fmla="val 4800"/>
            </a:avLst>
          </a:prstGeom>
          <a:solidFill>
            <a:srgbClr val="2A3A4D"/>
          </a:solidFill>
          <a:ln w="9525">
            <a:solidFill>
              <a:srgbClr val="3C4E63"/>
            </a:solidFill>
            <a:prstDash val="solid"/>
          </a:ln>
        </p:spPr>
      </p:sp>
      <p:sp>
        <p:nvSpPr>
          <p:cNvPr id="13" name="Text 11"/>
          <p:cNvSpPr/>
          <p:nvPr/>
        </p:nvSpPr>
        <p:spPr>
          <a:xfrm>
            <a:off x="62179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p = 3×10⁻⁶</a:t>
            </a:r>
            <a:endParaRPr lang="en-US" sz="2300" dirty="0"/>
          </a:p>
        </p:txBody>
      </p:sp>
      <p:sp>
        <p:nvSpPr>
          <p:cNvPr id="14" name="Text 12"/>
          <p:cNvSpPr/>
          <p:nvPr/>
        </p:nvSpPr>
        <p:spPr>
          <a:xfrm>
            <a:off x="62636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significativité PPO &gt; Fixed en nominal</a:t>
            </a:r>
            <a:endParaRPr lang="en-US" sz="1050" dirty="0"/>
          </a:p>
        </p:txBody>
      </p:sp>
      <p:sp>
        <p:nvSpPr>
          <p:cNvPr id="15" name="Text 13"/>
          <p:cNvSpPr/>
          <p:nvPr/>
        </p:nvSpPr>
        <p:spPr>
          <a:xfrm>
            <a:off x="1097280" y="3520440"/>
            <a:ext cx="6949440" cy="548640"/>
          </a:xfrm>
          <a:prstGeom prst="rect">
            <a:avLst/>
          </a:prstGeom>
          <a:noFill/>
          <a:ln/>
        </p:spPr>
        <p:txBody>
          <a:bodyPr wrap="square" lIns="0" tIns="0" rIns="0" bIns="0" rtlCol="0" anchor="ctr"/>
          <a:lstStyle/>
          <a:p>
            <a:pPr marL="0" indent="0" algn="ctr">
              <a:buNone/>
            </a:pPr>
            <a:r>
              <a:rPr lang="en-US" sz="1350" i="1" dirty="0">
                <a:solidFill>
                  <a:srgbClr val="D8C4B0"/>
                </a:solidFill>
                <a:latin typeface="Calibri" pitchFamily="34" charset="0"/>
                <a:ea typeface="Calibri" pitchFamily="34" charset="-122"/>
                <a:cs typeface="Calibri" pitchFamily="34" charset="-120"/>
              </a:rPr>
              <a:t>Ce mémoire montre que le Deep RL est une approche compétitive et scientifiquement rigoureuse pour le dispatching minier dynamique.</a:t>
            </a:r>
            <a:endParaRPr lang="en-US" sz="1350" dirty="0"/>
          </a:p>
        </p:txBody>
      </p:sp>
      <p:sp>
        <p:nvSpPr>
          <p:cNvPr id="16" name="Shape 14"/>
          <p:cNvSpPr/>
          <p:nvPr/>
        </p:nvSpPr>
        <p:spPr>
          <a:xfrm>
            <a:off x="3977640" y="4224528"/>
            <a:ext cx="1188720" cy="0"/>
          </a:xfrm>
          <a:prstGeom prst="line">
            <a:avLst/>
          </a:prstGeom>
          <a:noFill/>
          <a:ln w="25400">
            <a:solidFill>
              <a:srgbClr val="B4622D"/>
            </a:solidFill>
            <a:prstDash val="solid"/>
          </a:ln>
        </p:spPr>
      </p:sp>
      <p:sp>
        <p:nvSpPr>
          <p:cNvPr id="17" name="Text 15"/>
          <p:cNvSpPr/>
          <p:nvPr/>
        </p:nvSpPr>
        <p:spPr>
          <a:xfrm>
            <a:off x="457200" y="4370832"/>
            <a:ext cx="8229600" cy="38404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Merci pour votre attention — Questions ?</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TotalTime>
  <Words>5671</Words>
  <Application>Microsoft Office PowerPoint</Application>
  <PresentationFormat>Affichage à l'écran (16:9)</PresentationFormat>
  <Paragraphs>390</Paragraphs>
  <Slides>26</Slides>
  <Notes>26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26</vt:i4>
      </vt:variant>
    </vt:vector>
  </HeadingPairs>
  <TitlesOfParts>
    <vt:vector size="31" baseType="lpstr">
      <vt:lpstr>Arial</vt:lpstr>
      <vt:lpstr>Calibri</vt:lpstr>
      <vt:lpstr>Cambria</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Au-delà des heuristiques statiques — Soutenance M2 Data Science</dc:title>
  <dc:subject>PptxGenJS Presentation</dc:subject>
  <dc:creator>Jean-Luc MUPASA KALUNGA</dc:creator>
  <cp:lastModifiedBy>Jean-Luc Mupasa</cp:lastModifiedBy>
  <cp:revision>3</cp:revision>
  <cp:lastPrinted>2026-07-06T10:46:03Z</cp:lastPrinted>
  <dcterms:created xsi:type="dcterms:W3CDTF">2026-07-06T04:05:17Z</dcterms:created>
  <dcterms:modified xsi:type="dcterms:W3CDTF">2026-07-06T11:58:14Z</dcterms:modified>
</cp:coreProperties>
</file>