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623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secondes. Se présenter, annoncer le titre du mémoire et la directrice. Ne pas commenter davantage : « Mesdames et Messieurs les membres du jury, je vais vous présenter mon travail de mémoire consacré à l'optimisation du dispatching camion-pelle en mine à ciel ouvert par apprentissage par renforcement.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secondes. Lire le plan sans le commenter. Annoncer une durée d'exposé de 15 à 20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Message clé : « le dispatching est la décision la plus fréquente et la plus coûteuse d'une mine ». Insister sur le contexte du Katanga : le transport représente 50 à 60 % des coûts opérationnels, chaque point de productivité gagné a un impact économique direct. Décrire le cycle sur la figure : la pelle charge, le camion transporte à pleine charge vers le concasseur ou la halde, revient à vide, et c'est à cet instant que la décision de dispatching est prise.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Passer les quatre heuristiques en revue rapidement, insister sur Nearest Shovel : le chiffre de 200 minutes d'attente sera repris dans les résultats high_load — c'est une connexion forte de l'exposé. Conclure : les méthodes statiques échouent quand l'environnement change ; c'est précisément la question de recherche.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 Message : « l'idée centrale est de remplacer la règle fixe par un agent qui apprend ». Expliquer la boucle : état (files, positions, disponibilités) → action (affectation) → récompense (tonnage, équité, carburant). Formuler H1 explicitement, car toute la partie résultats y répondra. Transition : « pour construire cet agent, il faut d'abord modéliser le problème mathématiquement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Trois générations d'approches : la RO classique optimale mais statique ; les FMS industriels réactifs mais non prédictifs ; le RL récent, prometteur mais encore peu benchmarké. La littérature (Hazrathosseini &amp; Afrapoli) souligne que les cadres RL existants restent insuffisamment validés — d'où la valeur du protocole comparatif systématique de ce mémoire.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CRISP-RL est l'adaptation au RL de la démarche CRISP-DM : six phases itératives. Insister sur le fait que la démarche part des KPIs métier (tonnage horaire, équité entre pelles, litres par tonne) et les traduit en signal de récompense — c'est ce qui garantit que l'agent optimise des objectifs opérationnels réels et non une métrique abstraite. Le cycle est itératif : le diagnostic du signal de récompense (phase 6) a conduit à revenir en phase 1 pour ajouter le terme w4.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 Question probable du jury : « pourquoi 147 features ? » — réponse : 12 camions × 7 positions one-hot = 84, plus files des 3 pelles et 2 dumps, disponibilités, temps courant et distances = 147. Souligner deux choix : (1) la normalisation min-max [0,1] indispensable au réseau de neurones ; (2) la stochasticité log-normale des trajets (σ = 0,12), qui reproduit la variabilité réelle des routes minières, plus les pannes uniformes 10–30 minutes. L'action ATTENDRE est essentielle : elle permet à l'agent de temporiser plutôt que d'alimenter une file saturée.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Décrire la topologie sur la figure : le yard à gauche, la jonction centrale J1, les trois pelles et les deux dumps. Les paramètres (distances, pentes, temps de cycle) proviennent de la littérature minière. Insister sur la validation formelle par check_env() de Gymnasium : l'environnement respecte le contrat de l'API standard, ce qui garantit la compatibilité avec Stable-Baselines3 et la reproductibilité.</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 slide de contribution originale, à maîtriser. Question quasi certaine : « comment avez-vous choisi w4 = 0,3 ? » Réponse : par diagnostic empirique (Tableau 5.4). Nous avons mesuré l'écart de récompense entre ATTENDRE et la meilleure action productive : sans w4, cet écart était inférieur à 6×10⁻⁴ — trop faible pour être exploité par la mise à jour TD, tout apprentissage tabulaire était impossible. Avec w4 = 0,3, le signal passe à 3,2×10⁻², soit un facteur ×53. Une valeur trop forte (w4 = 1,0) a été testée et rejetée : elle rend ATTENDRE artificiellement compétitive. C'est un exemple concret de reward shaping guidé par le diagnostic plutôt que par tâtonnement.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Message : « nous n'avons pas commencé par PPO ; nous y sommes arrivés après avoir testé et justifié chaque étape ». Cette progression est un choix méthodologique délibéré : elle permet d'isoler l'apport de chaque mécanisme (approximation par réseau, replay, clipping) et de répondre à la question « pourquoi le Deep RL plutôt que les méthodes tabulaires ? » avec des mesures plutôt que des arguments théoriques.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 Les deux règles de mise à jour ne diffèrent que par la cible TD : max Q(s′,a′) pour Q-Learning (off-policy), Q(s′,a suivant) pour SARSA (on-policy). Hyperparamètres identiques pour garantir la comparabilité (α = 0,2, γ = 0,99, ε-greedy linéaire de 1,0 à 0,01, 30 000 épisodes). Pour rendre l'état tabulable, réduction à 6 features décisionnelles (attentes pelles/dumps + pelle la plus proche), soit 17 034 états effectivement visités. γ = 0,99 : les cycles camion sont longs, il faut valoriser les récompenses lointaines.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 DQN approxime Q(s,a) par un MLP à deux couches cachées de 128 neurones. Les deux innovations qui rendent l'apprentissage stable : (1) l'experience replay — un buffer de 200 000 transitions d'où l'on tire des mini-batches aléatoires, ce qui casse la corrélation temporelle des échantillons consécutifs ; (2) le target network — une copie figée du réseau qui fournit les cibles, resynchronisée périodiquement, ce qui évite de poursuivre une cible mouvante. Budget : 2 millions de steps.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 Question probable : « pourquoi PPO plutôt que DQN ? » Trois raisons : (1) on-policy, il apprend directement de ses interactions courantes, sans replay — mieux adapté aux dynamiques stochastiques ; (2) le clipped surrogate objective borne le ratio de probabilités dans [0,8 ; 1,2], donc aucune mise à jour ne peut détruire la politique ; (3) robustesse au réglage — les valeurs par défaut de Stable-Baselines3 suffisent. L'explained_variance de 0,999 signifie que le critique explique 99,9 % de la variance des retours : la convergence est confirmée. Exemple de clipping à donner si demandé : avec Â = +2,0 et r = 1,5, le terme non clippé vaudrait 3,0 mais le clipping le plafonne à 2,4.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Quatre modules découplés autour du simulateur : le même environnement sert aux heuristiques et aux agents RL, ce qui garantit une comparaison strictement équitable — mêmes graines aléatoires, mêmes perturbations, mêmes KPIs calculés par le module d'évaluation. Python, Gymnasium et Stable-Baselines3 : une pile standard qui rend le travail reproductible.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Le Match Factor est le ratio d'appariement flotte/pelles : 4,0 en nominal correspond à 12/3 = 4 camions par pelle. En high_load, il passe à 6,0 — la mine est en surcharge. En high_breakdown, la probabilité de panne par pas de décision passe de 2 % à 10 %. Chaque politique est évaluée sur 10 graines indépendantes (42 à 51), ce qui autorise des tests statistiques rigoureux : 240 simulations au total. Transition : « le protocole est en place — voici ce que ces 240 simulations ont produit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Chiffres à connaître par cœur : PPO 4 208,8 t/h, DQN 4 168,5 t/h, Fixed 4 074,0 t/h. La différence PPO–Fixed est statistiquement significative (test t de Welch unilatéral, t = 6,356, p = 3,0×10⁻⁶). Insister : ce ne serait pas remarquable de gagner en productivité en brûlant plus de carburant — or PPO consomme aussi 4,4 % de moins (0,0412 L/t contre 0,0431 ; DQN −6,0 %, t = −10,01, p &lt; 10⁻⁸). Deux critères améliorés simultanément : « H1 validée dans le scénario standard ». Précision honnête : Fixed bénéficie ici d'un Match Factor parfait (4 camions/pelle) — la comparaison est délibérément défavorable au RL.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Résultat nuancé, à assumer devant le jury. Oui, Fixed gagne en high_load (5 874,8 t/h) — mais c'est structurel : avec 18 camions et 3 pelles, le round-robin distribue exactement 6 camions par pelle, le Match Factor est parfait. Si le jury objecte « donc H1 est fausse », répondre : « Fixed gagne contre DQN de 3,6 %, mais DQN écrase Nearest Shovel de +1 725 t/h (t = 65,33, p ≈ 0) — c'est là que le RL justifie son existence ». Point d'honnêteté scientifique : PPO montre une variabilité élevée en surcharge (93,3 % d'actions ATTENDRE — l'agent temporise massivement face à la congestion) ; DQN, grâce au replay, reste stable (± 65 t/h contre ± 350 pour PPO).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Chiffres clés : DQN 3 991,8 t/h &gt; PPO 3 946,3 &gt; Fixed 3 860,5. C'est le scénario qui teste directement la promesse d'adaptativité : avec 10 % de probabilité de panne, l'affectation fixe gâche des trajets vers des pelles en panne, tandis que les agents réaffectent dynamiquement. Le gain carburant est le plus parlant : −7,4 % pour DQN (0,0416 L/t contre 0,0451). Les deux écarts sont significatifs (p = 1,3×10⁻⁵ et 2×10⁻⁶). Nuance de la figure : Fixed conserve les meilleurs temps d'attente (53 min contre 65 pour PPO) — un compromis productivité/réactivité à assumer. Conclusion du bloc résultats : « H1 validée dans 2 scénarios sur 3, sur la productivité ET le carburant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 Deux niveaux de diagnostic. (1) Convergence : Q-Learning progresse de 155 à 175 de récompense cumulée (+12,5 %), SARSA plafonne à 145 — la supériorité off-policy est confirmée empiriquement ; côté Deep RL, l'explained_variance de PPO atteint 0,999. (2) Comportement décisionnel (§6.3.3) : DQN adopte une politique concentrée — 80,3 % de ses décisions sur 2 actions seulement — tandis que PPO diversifie sur les 7 actions. Si le jury demande « avez-vous regardé CE QUE font vos agents, pas seulement leurs scores ? », cette slide est la réponse. En high_load, PPO passe à 93,3 % d'ATTENDRE : l'agent temporise face à la surcharge, ce qui explique sa variabilité.</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 Trois niveaux de preuve emboîtés. (1) L'ANOVA globale F(7,72) = 481,25, p &lt; 10⁻⁵⁶ : le choix de l'algorithme a un effet massif — 7 degrés de liberté inter-groupes (8 méthodes), 72 intra-groupes (8×10 − 8). (2) Le test t de Welch, choisi car il ne suppose pas l'égalité des variances entre méthodes : PPO &gt; Fixed avec p = 3×10⁻⁶. (3) Le post-hoc Tukey HSD contrôle l'erreur de type I sur l'ensemble des comparaisons par paires : il confirme la supériorité de PPO/DQN sur les heuristiques, et montre que PPO et DQN sont statistiquement équivalents entre eux (p = 0,799 en nominal, 0,813 en high_breakdown). Conclusion : les écarts observés ne sont pas dus au hasard des graines.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 Cette matrice est la réponse honnête à H1 : validation partielle et différenciée. Question probable : « Fixed gagne en high_load — H1 est donc fausse ? » Réponse en deux temps : (1) c'est structurel — le Match Factor 18/3 = 6 est la configuration idéale pour un round-robin fixe ; la comparaison teste le RL dans les conditions les plus favorables à l'heuristique ; (2) même dans ce scénario, Fixed ne bat pas le RL sur le carburant, preuve que les agents sont plus efficaces dans leurs déplacements. Une validation totale et sans nuance aurait été suspecte ; cette lecture différenciée est un gage de rigueur.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Trois difficultés majeures, présentées avec leur résolution. La première — le signal de récompense non discriminant — a d'abord été un blocage complet de l'apprentissage tabulaire, avant de devenir la contribution la plus originale du mémoire. La deuxième illustre la limite fondamentale des méthodes tabulaires et justifie le passage au Deep RL. La troisième montre une lecture critique de nos propres agents : PPO n'est pas présenté comme une solution miracle, sa variabilité en surcharge est documentée et expliquée.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 Trois limites honnêtes, chacune reliée à une perspective concrète. (1) La non-généralisation est en tension avec le mot « dynamique » du titre : c'est dit explicitement dans le mémoire (Limite 5) — les architectures à taille variable et le transfer learning sont les pistes. (2) Le dispatching séquentiel est une approximation assumée du « holistique » : l'agent traite un camion à la fois, comme les heuristiques, mais avec une observation globale de la flotte ; le MARL permettrait une optimisation véritablement simultanée. (3) Si le jury demande « pourquoi pas de données réelles ? » : Limite 7 explicite du mémoire, la validation terrain est l'étape naturelle suivante. Formule de clôture : « ces limites ne fragilisent pas les résultats, elles ouvrent les travaux futurs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Quatre apports vérifiables : un environnement de simulation réutilisable et conforme au standard Gymnasium ; quatre agents couvrant tout le spectre tabulaire → Deep RL ; un protocole de comparaison dont la validité statistique est complète ; et la contribution la plus originale — la calibration diagnostiquée du signal de récompense, qui a transformé un blocage technique en résultat scientifique.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Message final avec les chiffres forts : +1 725 t/h contre Nearest Shovel en surcharge, −7,4 % de carburant contre Fixed sous pannes, p = 3×10⁻⁶ en nominal. Ne pas dire simplement « merci » : regarder le jury, marquer une pause, et attendre les questions en silence.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8"/>
        </a:solidFill>
        <a:effectLst/>
      </p:bgPr>
    </p:bg>
    <p:spTree>
      <p:nvGrpSpPr>
        <p:cNvPr id="1" name=""/>
        <p:cNvGrpSpPr/>
        <p:nvPr/>
      </p:nvGrpSpPr>
      <p:grpSpPr>
        <a:xfrm>
          <a:off x="0" y="0"/>
          <a:ext cx="0" cy="0"/>
          <a:chOff x="0" y="0"/>
          <a:chExt cx="0" cy="0"/>
        </a:xfrm>
      </p:grpSpPr>
      <p:sp>
        <p:nvSpPr>
          <p:cNvPr id="2" name="Shape 0"/>
          <p:cNvSpPr/>
          <p:nvPr/>
        </p:nvSpPr>
        <p:spPr>
          <a:xfrm>
            <a:off x="7452360" y="-1554480"/>
            <a:ext cx="4023360" cy="4023360"/>
          </a:xfrm>
          <a:prstGeom prst="ellipse">
            <a:avLst/>
          </a:prstGeom>
          <a:solidFill>
            <a:srgbClr val="2A3A4D"/>
          </a:solidFill>
          <a:ln/>
        </p:spPr>
      </p:sp>
      <p:sp>
        <p:nvSpPr>
          <p:cNvPr id="3" name="Shape 1"/>
          <p:cNvSpPr/>
          <p:nvPr/>
        </p:nvSpPr>
        <p:spPr>
          <a:xfrm>
            <a:off x="-1463040" y="3794760"/>
            <a:ext cx="3291840" cy="3291840"/>
          </a:xfrm>
          <a:prstGeom prst="ellipse">
            <a:avLst/>
          </a:prstGeom>
          <a:solidFill>
            <a:srgbClr val="2A3A4D"/>
          </a:solidFill>
          <a:ln/>
        </p:spPr>
      </p:sp>
      <p:sp>
        <p:nvSpPr>
          <p:cNvPr id="4" name="Shape 2"/>
          <p:cNvSpPr/>
          <p:nvPr/>
        </p:nvSpPr>
        <p:spPr>
          <a:xfrm>
            <a:off x="4041648" y="292608"/>
            <a:ext cx="1060704" cy="1060704"/>
          </a:xfrm>
          <a:prstGeom prst="ellipse">
            <a:avLst/>
          </a:prstGeom>
          <a:solidFill>
            <a:srgbClr val="FFFFFF"/>
          </a:solidFill>
          <a:ln/>
        </p:spPr>
      </p:sp>
      <p:pic>
        <p:nvPicPr>
          <p:cNvPr id="5" name="Image 0" descr="logoudbl.png"/>
          <p:cNvPicPr>
            <a:picLocks noChangeAspect="1"/>
          </p:cNvPicPr>
          <p:nvPr/>
        </p:nvPicPr>
        <p:blipFill>
          <a:blip r:embed="rId3"/>
          <a:stretch>
            <a:fillRect/>
          </a:stretch>
        </p:blipFill>
        <p:spPr>
          <a:xfrm>
            <a:off x="4114800" y="365760"/>
            <a:ext cx="914400" cy="954157"/>
          </a:xfrm>
          <a:prstGeom prst="rect">
            <a:avLst/>
          </a:prstGeom>
        </p:spPr>
      </p:pic>
      <p:sp>
        <p:nvSpPr>
          <p:cNvPr id="6" name="Text 3"/>
          <p:cNvSpPr/>
          <p:nvPr/>
        </p:nvSpPr>
        <p:spPr>
          <a:xfrm>
            <a:off x="457200" y="1481328"/>
            <a:ext cx="8229600" cy="274320"/>
          </a:xfrm>
          <a:prstGeom prst="rect">
            <a:avLst/>
          </a:prstGeom>
          <a:noFill/>
          <a:ln/>
        </p:spPr>
        <p:txBody>
          <a:bodyPr wrap="square" lIns="0" tIns="0" rIns="0" bIns="0" rtlCol="0" anchor="ctr"/>
          <a:lstStyle/>
          <a:p>
            <a:pPr marL="0" indent="0" algn="ctr">
              <a:buNone/>
            </a:pPr>
            <a:r>
              <a:rPr lang="en-US" sz="1050" b="1" kern="0" spc="200" dirty="0">
                <a:solidFill>
                  <a:srgbClr val="C9A227"/>
                </a:solidFill>
                <a:latin typeface="Calibri" pitchFamily="34" charset="0"/>
                <a:ea typeface="Calibri" pitchFamily="34" charset="-122"/>
                <a:cs typeface="Calibri" pitchFamily="34" charset="-120"/>
              </a:rPr>
              <a:t>UNIVERSITÉ DON BOSCO DE LUBUMBASHI — FACULTÉ DES SCIENCES INFORMATIQUES</a:t>
            </a:r>
            <a:endParaRPr lang="en-US" sz="1050" dirty="0"/>
          </a:p>
        </p:txBody>
      </p:sp>
      <p:sp>
        <p:nvSpPr>
          <p:cNvPr id="7" name="Text 4"/>
          <p:cNvSpPr/>
          <p:nvPr/>
        </p:nvSpPr>
        <p:spPr>
          <a:xfrm>
            <a:off x="457200" y="1828800"/>
            <a:ext cx="8229600" cy="566928"/>
          </a:xfrm>
          <a:prstGeom prst="rect">
            <a:avLst/>
          </a:prstGeom>
          <a:noFill/>
          <a:ln/>
        </p:spPr>
        <p:txBody>
          <a:bodyPr wrap="square" lIns="0" tIns="0" rIns="0" bIns="0" rtlCol="0" anchor="ctr"/>
          <a:lstStyle/>
          <a:p>
            <a:pPr marL="0" indent="0" algn="ctr">
              <a:buNone/>
            </a:pPr>
            <a:r>
              <a:rPr lang="en-US" sz="3300" b="1" dirty="0">
                <a:solidFill>
                  <a:srgbClr val="FFFFFF"/>
                </a:solidFill>
                <a:latin typeface="Cambria" pitchFamily="34" charset="0"/>
                <a:ea typeface="Cambria" pitchFamily="34" charset="-122"/>
                <a:cs typeface="Cambria" pitchFamily="34" charset="-120"/>
              </a:rPr>
              <a:t>Au-delà des heuristiques statiques</a:t>
            </a:r>
            <a:endParaRPr lang="en-US" sz="3300" dirty="0"/>
          </a:p>
        </p:txBody>
      </p:sp>
      <p:sp>
        <p:nvSpPr>
          <p:cNvPr id="8" name="Text 5"/>
          <p:cNvSpPr/>
          <p:nvPr/>
        </p:nvSpPr>
        <p:spPr>
          <a:xfrm>
            <a:off x="1005840" y="2432304"/>
            <a:ext cx="7132320" cy="777240"/>
          </a:xfrm>
          <a:prstGeom prst="rect">
            <a:avLst/>
          </a:prstGeom>
          <a:noFill/>
          <a:ln/>
        </p:spPr>
        <p:txBody>
          <a:bodyPr wrap="square" lIns="0" tIns="0" rIns="0" bIns="0" rtlCol="0" anchor="ctr"/>
          <a:lstStyle/>
          <a:p>
            <a:pPr marL="0" indent="0" algn="ctr">
              <a:buNone/>
            </a:pPr>
            <a:r>
              <a:rPr lang="en-US" sz="1500" i="1" dirty="0">
                <a:solidFill>
                  <a:srgbClr val="D8C4B0"/>
                </a:solidFill>
                <a:latin typeface="Calibri" pitchFamily="34" charset="0"/>
                <a:ea typeface="Calibri" pitchFamily="34" charset="-122"/>
                <a:cs typeface="Calibri" pitchFamily="34" charset="-120"/>
              </a:rPr>
              <a:t>Conception et mise en œuvre d'un agent d'apprentissage par renforcement pour l'optimisation holistique et dynamique de la logistique minière</a:t>
            </a:r>
            <a:endParaRPr lang="en-US" sz="1500" dirty="0"/>
          </a:p>
        </p:txBody>
      </p:sp>
      <p:sp>
        <p:nvSpPr>
          <p:cNvPr id="9" name="Shape 6"/>
          <p:cNvSpPr/>
          <p:nvPr/>
        </p:nvSpPr>
        <p:spPr>
          <a:xfrm>
            <a:off x="3977640" y="3401568"/>
            <a:ext cx="1188720" cy="0"/>
          </a:xfrm>
          <a:prstGeom prst="line">
            <a:avLst/>
          </a:prstGeom>
          <a:noFill/>
          <a:ln w="25400">
            <a:solidFill>
              <a:srgbClr val="B4622D"/>
            </a:solidFill>
            <a:prstDash val="solid"/>
          </a:ln>
        </p:spPr>
      </p:sp>
      <p:sp>
        <p:nvSpPr>
          <p:cNvPr id="10" name="Text 7"/>
          <p:cNvSpPr/>
          <p:nvPr/>
        </p:nvSpPr>
        <p:spPr>
          <a:xfrm>
            <a:off x="457200" y="3547872"/>
            <a:ext cx="8229600" cy="292608"/>
          </a:xfrm>
          <a:prstGeom prst="rect">
            <a:avLst/>
          </a:prstGeom>
          <a:noFill/>
          <a:ln/>
        </p:spPr>
        <p:txBody>
          <a:bodyPr wrap="square" lIns="0" tIns="0" rIns="0" bIns="0" rtlCol="0" anchor="ctr"/>
          <a:lstStyle/>
          <a:p>
            <a:pPr marL="0" indent="0" algn="ctr">
              <a:buNone/>
            </a:pPr>
            <a:r>
              <a:rPr lang="en-US" sz="1400" dirty="0">
                <a:solidFill>
                  <a:srgbClr val="8B96A0"/>
                </a:solidFill>
                <a:latin typeface="Calibri" pitchFamily="34" charset="0"/>
                <a:ea typeface="Calibri" pitchFamily="34" charset="-122"/>
                <a:cs typeface="Calibri" pitchFamily="34" charset="-120"/>
              </a:rPr>
              <a:t>Présenté par : </a:t>
            </a:r>
            <a:r>
              <a:rPr lang="en-US" sz="1400" b="1" dirty="0">
                <a:solidFill>
                  <a:srgbClr val="FFFFFF"/>
                </a:solidFill>
                <a:latin typeface="Calibri" pitchFamily="34" charset="0"/>
                <a:ea typeface="Calibri" pitchFamily="34" charset="-122"/>
                <a:cs typeface="Calibri" pitchFamily="34" charset="-120"/>
              </a:rPr>
              <a:t>Jean-Luc MUPASA KALUNGA</a:t>
            </a:r>
            <a:endParaRPr lang="en-US" sz="1400" dirty="0"/>
          </a:p>
        </p:txBody>
      </p:sp>
      <p:sp>
        <p:nvSpPr>
          <p:cNvPr id="11" name="Text 8"/>
          <p:cNvSpPr/>
          <p:nvPr/>
        </p:nvSpPr>
        <p:spPr>
          <a:xfrm>
            <a:off x="457200" y="3858768"/>
            <a:ext cx="8229600" cy="292608"/>
          </a:xfrm>
          <a:prstGeom prst="rect">
            <a:avLst/>
          </a:prstGeom>
          <a:noFill/>
          <a:ln/>
        </p:spPr>
        <p:txBody>
          <a:bodyPr wrap="square" lIns="0" tIns="0" rIns="0" bIns="0" rtlCol="0" anchor="ctr"/>
          <a:lstStyle/>
          <a:p>
            <a:pPr marL="0" indent="0" algn="ctr">
              <a:buNone/>
            </a:pPr>
            <a:r>
              <a:rPr lang="en-US" sz="1400" dirty="0">
                <a:solidFill>
                  <a:srgbClr val="8B96A0"/>
                </a:solidFill>
                <a:latin typeface="Calibri" pitchFamily="34" charset="0"/>
                <a:ea typeface="Calibri" pitchFamily="34" charset="-122"/>
                <a:cs typeface="Calibri" pitchFamily="34" charset="-120"/>
              </a:rPr>
              <a:t>Sous la direction de : </a:t>
            </a:r>
            <a:r>
              <a:rPr lang="en-US" sz="1400" b="1" dirty="0">
                <a:solidFill>
                  <a:srgbClr val="FFFFFF"/>
                </a:solidFill>
                <a:latin typeface="Calibri" pitchFamily="34" charset="0"/>
                <a:ea typeface="Calibri" pitchFamily="34" charset="-122"/>
                <a:cs typeface="Calibri" pitchFamily="34" charset="-120"/>
              </a:rPr>
              <a:t>Dr. Olfa FERCHICHI</a:t>
            </a:r>
            <a:endParaRPr lang="en-US" sz="1400" dirty="0"/>
          </a:p>
        </p:txBody>
      </p:sp>
      <p:sp>
        <p:nvSpPr>
          <p:cNvPr id="12" name="Text 9"/>
          <p:cNvSpPr/>
          <p:nvPr/>
        </p:nvSpPr>
        <p:spPr>
          <a:xfrm>
            <a:off x="457200" y="4315968"/>
            <a:ext cx="8229600" cy="274320"/>
          </a:xfrm>
          <a:prstGeom prst="rect">
            <a:avLst/>
          </a:prstGeom>
          <a:noFill/>
          <a:ln/>
        </p:spPr>
        <p:txBody>
          <a:bodyPr wrap="square" lIns="0" tIns="0" rIns="0" bIns="0" rtlCol="0" anchor="ctr"/>
          <a:lstStyle/>
          <a:p>
            <a:pPr marL="0" indent="0" algn="ctr">
              <a:buNone/>
            </a:pPr>
            <a:r>
              <a:rPr lang="en-US" sz="1200" dirty="0">
                <a:solidFill>
                  <a:srgbClr val="8B96A0"/>
                </a:solidFill>
                <a:latin typeface="Calibri" pitchFamily="34" charset="0"/>
                <a:ea typeface="Calibri" pitchFamily="34" charset="-122"/>
                <a:cs typeface="Calibri" pitchFamily="34" charset="-120"/>
              </a:rPr>
              <a:t>Mémoire de Master 2 en Data Science — Supply Chain   ·   Soutenance de juillet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SOUTENANCE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Plan de la présentation</a:t>
            </a:r>
            <a:endParaRPr lang="en-US" sz="2700" dirty="0"/>
          </a:p>
        </p:txBody>
      </p:sp>
      <p:sp>
        <p:nvSpPr>
          <p:cNvPr id="4" name="Shape 2"/>
          <p:cNvSpPr/>
          <p:nvPr/>
        </p:nvSpPr>
        <p:spPr>
          <a:xfrm>
            <a:off x="457200" y="1371600"/>
            <a:ext cx="4114800" cy="1042416"/>
          </a:xfrm>
          <a:prstGeom prst="roundRect">
            <a:avLst>
              <a:gd name="adj" fmla="val 526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Shape 3"/>
          <p:cNvSpPr/>
          <p:nvPr/>
        </p:nvSpPr>
        <p:spPr>
          <a:xfrm>
            <a:off x="658368" y="1554480"/>
            <a:ext cx="310896" cy="310896"/>
          </a:xfrm>
          <a:prstGeom prst="ellipse">
            <a:avLst/>
          </a:prstGeom>
          <a:solidFill>
            <a:srgbClr val="B4622D"/>
          </a:solidFill>
          <a:ln/>
        </p:spPr>
      </p:sp>
      <p:sp>
        <p:nvSpPr>
          <p:cNvPr id="6" name="Text 4"/>
          <p:cNvSpPr/>
          <p:nvPr/>
        </p:nvSpPr>
        <p:spPr>
          <a:xfrm>
            <a:off x="658368" y="1540764"/>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15568" y="1490472"/>
            <a:ext cx="3337560" cy="292608"/>
          </a:xfrm>
          <a:prstGeom prst="rect">
            <a:avLst/>
          </a:prstGeom>
          <a:noFill/>
          <a:ln/>
        </p:spPr>
        <p:txBody>
          <a:bodyPr wrap="square" lIns="0" tIns="0" rIns="0" bIns="0" rtlCol="0" anchor="ctr"/>
          <a:lstStyle/>
          <a:p>
            <a:pPr marL="0" indent="0">
              <a:buNone/>
            </a:pPr>
            <a:r>
              <a:rPr lang="en-US" sz="1450" b="1" dirty="0">
                <a:solidFill>
                  <a:srgbClr val="22303F"/>
                </a:solidFill>
                <a:latin typeface="Calibri" pitchFamily="34" charset="0"/>
                <a:ea typeface="Calibri" pitchFamily="34" charset="-122"/>
                <a:cs typeface="Calibri" pitchFamily="34" charset="-120"/>
              </a:rPr>
              <a:t>Contexte et problématique</a:t>
            </a:r>
            <a:endParaRPr lang="en-US" sz="1450" dirty="0"/>
          </a:p>
        </p:txBody>
      </p:sp>
      <p:sp>
        <p:nvSpPr>
          <p:cNvPr id="8" name="Text 6"/>
          <p:cNvSpPr/>
          <p:nvPr/>
        </p:nvSpPr>
        <p:spPr>
          <a:xfrm>
            <a:off x="1115568" y="1792224"/>
            <a:ext cx="3337560" cy="548640"/>
          </a:xfrm>
          <a:prstGeom prst="rect">
            <a:avLst/>
          </a:prstGeom>
          <a:noFill/>
          <a:ln/>
        </p:spPr>
        <p:txBody>
          <a:bodyPr wrap="square" lIns="0" tIns="0" rIns="0" bIns="0" rtlCol="0" anchor="ctr"/>
          <a:lstStyle/>
          <a:p>
            <a:pPr marL="0" indent="0">
              <a:buNone/>
            </a:pPr>
            <a:r>
              <a:rPr lang="en-US" sz="1100" dirty="0">
                <a:solidFill>
                  <a:srgbClr val="5A6672"/>
                </a:solidFill>
                <a:latin typeface="Calibri" pitchFamily="34" charset="0"/>
                <a:ea typeface="Calibri" pitchFamily="34" charset="-122"/>
                <a:cs typeface="Calibri" pitchFamily="34" charset="-120"/>
              </a:rPr>
              <a:t>Le dispatching minier et les limites des heuristiques statiques</a:t>
            </a:r>
            <a:endParaRPr lang="en-US" sz="1100" dirty="0"/>
          </a:p>
        </p:txBody>
      </p:sp>
      <p:sp>
        <p:nvSpPr>
          <p:cNvPr id="9" name="Shape 7"/>
          <p:cNvSpPr/>
          <p:nvPr/>
        </p:nvSpPr>
        <p:spPr>
          <a:xfrm>
            <a:off x="4800600" y="1371600"/>
            <a:ext cx="4114800" cy="1042416"/>
          </a:xfrm>
          <a:prstGeom prst="roundRect">
            <a:avLst>
              <a:gd name="adj" fmla="val 526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0" name="Shape 8"/>
          <p:cNvSpPr/>
          <p:nvPr/>
        </p:nvSpPr>
        <p:spPr>
          <a:xfrm>
            <a:off x="5001768" y="1554480"/>
            <a:ext cx="310896" cy="310896"/>
          </a:xfrm>
          <a:prstGeom prst="ellipse">
            <a:avLst/>
          </a:prstGeom>
          <a:solidFill>
            <a:srgbClr val="B4622D"/>
          </a:solidFill>
          <a:ln/>
        </p:spPr>
      </p:sp>
      <p:sp>
        <p:nvSpPr>
          <p:cNvPr id="11" name="Text 9"/>
          <p:cNvSpPr/>
          <p:nvPr/>
        </p:nvSpPr>
        <p:spPr>
          <a:xfrm>
            <a:off x="5001768" y="1540764"/>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458968" y="1490472"/>
            <a:ext cx="3337560" cy="292608"/>
          </a:xfrm>
          <a:prstGeom prst="rect">
            <a:avLst/>
          </a:prstGeom>
          <a:noFill/>
          <a:ln/>
        </p:spPr>
        <p:txBody>
          <a:bodyPr wrap="square" lIns="0" tIns="0" rIns="0" bIns="0" rtlCol="0" anchor="ctr"/>
          <a:lstStyle/>
          <a:p>
            <a:pPr marL="0" indent="0">
              <a:buNone/>
            </a:pPr>
            <a:r>
              <a:rPr lang="en-US" sz="1450" b="1" dirty="0">
                <a:solidFill>
                  <a:srgbClr val="22303F"/>
                </a:solidFill>
                <a:latin typeface="Calibri" pitchFamily="34" charset="0"/>
                <a:ea typeface="Calibri" pitchFamily="34" charset="-122"/>
                <a:cs typeface="Calibri" pitchFamily="34" charset="-120"/>
              </a:rPr>
              <a:t>Cadre méthodologique</a:t>
            </a:r>
            <a:endParaRPr lang="en-US" sz="1450" dirty="0"/>
          </a:p>
        </p:txBody>
      </p:sp>
      <p:sp>
        <p:nvSpPr>
          <p:cNvPr id="13" name="Text 11"/>
          <p:cNvSpPr/>
          <p:nvPr/>
        </p:nvSpPr>
        <p:spPr>
          <a:xfrm>
            <a:off x="5458968" y="1792224"/>
            <a:ext cx="3337560" cy="548640"/>
          </a:xfrm>
          <a:prstGeom prst="rect">
            <a:avLst/>
          </a:prstGeom>
          <a:noFill/>
          <a:ln/>
        </p:spPr>
        <p:txBody>
          <a:bodyPr wrap="square" lIns="0" tIns="0" rIns="0" bIns="0" rtlCol="0" anchor="ctr"/>
          <a:lstStyle/>
          <a:p>
            <a:pPr marL="0" indent="0">
              <a:buNone/>
            </a:pPr>
            <a:r>
              <a:rPr lang="en-US" sz="1100" dirty="0">
                <a:solidFill>
                  <a:srgbClr val="5A6672"/>
                </a:solidFill>
                <a:latin typeface="Calibri" pitchFamily="34" charset="0"/>
                <a:ea typeface="Calibri" pitchFamily="34" charset="-122"/>
                <a:cs typeface="Calibri" pitchFamily="34" charset="-120"/>
              </a:rPr>
              <a:t>Démarche CRISP-RL et modélisation MDP du problème</a:t>
            </a:r>
            <a:endParaRPr lang="en-US" sz="1100" dirty="0"/>
          </a:p>
        </p:txBody>
      </p:sp>
      <p:sp>
        <p:nvSpPr>
          <p:cNvPr id="14" name="Shape 12"/>
          <p:cNvSpPr/>
          <p:nvPr/>
        </p:nvSpPr>
        <p:spPr>
          <a:xfrm>
            <a:off x="457200" y="2578608"/>
            <a:ext cx="4114800" cy="1042416"/>
          </a:xfrm>
          <a:prstGeom prst="roundRect">
            <a:avLst>
              <a:gd name="adj" fmla="val 526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5" name="Shape 13"/>
          <p:cNvSpPr/>
          <p:nvPr/>
        </p:nvSpPr>
        <p:spPr>
          <a:xfrm>
            <a:off x="658368" y="2761488"/>
            <a:ext cx="310896" cy="310896"/>
          </a:xfrm>
          <a:prstGeom prst="ellipse">
            <a:avLst/>
          </a:prstGeom>
          <a:solidFill>
            <a:srgbClr val="B4622D"/>
          </a:solidFill>
          <a:ln/>
        </p:spPr>
      </p:sp>
      <p:sp>
        <p:nvSpPr>
          <p:cNvPr id="16" name="Text 14"/>
          <p:cNvSpPr/>
          <p:nvPr/>
        </p:nvSpPr>
        <p:spPr>
          <a:xfrm>
            <a:off x="658368" y="2747772"/>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115568" y="2697480"/>
            <a:ext cx="3337560" cy="292608"/>
          </a:xfrm>
          <a:prstGeom prst="rect">
            <a:avLst/>
          </a:prstGeom>
          <a:noFill/>
          <a:ln/>
        </p:spPr>
        <p:txBody>
          <a:bodyPr wrap="square" lIns="0" tIns="0" rIns="0" bIns="0" rtlCol="0" anchor="ctr"/>
          <a:lstStyle/>
          <a:p>
            <a:pPr marL="0" indent="0">
              <a:buNone/>
            </a:pPr>
            <a:r>
              <a:rPr lang="en-US" sz="1450" b="1" dirty="0">
                <a:solidFill>
                  <a:srgbClr val="22303F"/>
                </a:solidFill>
                <a:latin typeface="Calibri" pitchFamily="34" charset="0"/>
                <a:ea typeface="Calibri" pitchFamily="34" charset="-122"/>
                <a:cs typeface="Calibri" pitchFamily="34" charset="-120"/>
              </a:rPr>
              <a:t>Algorithmes et simulation</a:t>
            </a:r>
            <a:endParaRPr lang="en-US" sz="1450" dirty="0"/>
          </a:p>
        </p:txBody>
      </p:sp>
      <p:sp>
        <p:nvSpPr>
          <p:cNvPr id="18" name="Text 16"/>
          <p:cNvSpPr/>
          <p:nvPr/>
        </p:nvSpPr>
        <p:spPr>
          <a:xfrm>
            <a:off x="1115568" y="2999232"/>
            <a:ext cx="3337560" cy="548640"/>
          </a:xfrm>
          <a:prstGeom prst="rect">
            <a:avLst/>
          </a:prstGeom>
          <a:noFill/>
          <a:ln/>
        </p:spPr>
        <p:txBody>
          <a:bodyPr wrap="square" lIns="0" tIns="0" rIns="0" bIns="0" rtlCol="0" anchor="ctr"/>
          <a:lstStyle/>
          <a:p>
            <a:pPr marL="0" indent="0">
              <a:buNone/>
            </a:pPr>
            <a:r>
              <a:rPr lang="en-US" sz="1100" dirty="0">
                <a:solidFill>
                  <a:srgbClr val="5A6672"/>
                </a:solidFill>
                <a:latin typeface="Calibri" pitchFamily="34" charset="0"/>
                <a:ea typeface="Calibri" pitchFamily="34" charset="-122"/>
                <a:cs typeface="Calibri" pitchFamily="34" charset="-120"/>
              </a:rPr>
              <a:t>Q-Learning, SARSA, DQN, PPO — environnement Gymnasium</a:t>
            </a:r>
            <a:endParaRPr lang="en-US" sz="1100" dirty="0"/>
          </a:p>
        </p:txBody>
      </p:sp>
      <p:sp>
        <p:nvSpPr>
          <p:cNvPr id="19" name="Shape 17"/>
          <p:cNvSpPr/>
          <p:nvPr/>
        </p:nvSpPr>
        <p:spPr>
          <a:xfrm>
            <a:off x="4800600" y="2578608"/>
            <a:ext cx="4114800" cy="1042416"/>
          </a:xfrm>
          <a:prstGeom prst="roundRect">
            <a:avLst>
              <a:gd name="adj" fmla="val 526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20" name="Shape 18"/>
          <p:cNvSpPr/>
          <p:nvPr/>
        </p:nvSpPr>
        <p:spPr>
          <a:xfrm>
            <a:off x="5001768" y="2761488"/>
            <a:ext cx="310896" cy="310896"/>
          </a:xfrm>
          <a:prstGeom prst="ellipse">
            <a:avLst/>
          </a:prstGeom>
          <a:solidFill>
            <a:srgbClr val="B4622D"/>
          </a:solidFill>
          <a:ln/>
        </p:spPr>
      </p:sp>
      <p:sp>
        <p:nvSpPr>
          <p:cNvPr id="21" name="Text 19"/>
          <p:cNvSpPr/>
          <p:nvPr/>
        </p:nvSpPr>
        <p:spPr>
          <a:xfrm>
            <a:off x="5001768" y="2747772"/>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5458968" y="2697480"/>
            <a:ext cx="3337560" cy="292608"/>
          </a:xfrm>
          <a:prstGeom prst="rect">
            <a:avLst/>
          </a:prstGeom>
          <a:noFill/>
          <a:ln/>
        </p:spPr>
        <p:txBody>
          <a:bodyPr wrap="square" lIns="0" tIns="0" rIns="0" bIns="0" rtlCol="0" anchor="ctr"/>
          <a:lstStyle/>
          <a:p>
            <a:pPr marL="0" indent="0">
              <a:buNone/>
            </a:pPr>
            <a:r>
              <a:rPr lang="en-US" sz="1450" b="1" dirty="0">
                <a:solidFill>
                  <a:srgbClr val="22303F"/>
                </a:solidFill>
                <a:latin typeface="Calibri" pitchFamily="34" charset="0"/>
                <a:ea typeface="Calibri" pitchFamily="34" charset="-122"/>
                <a:cs typeface="Calibri" pitchFamily="34" charset="-120"/>
              </a:rPr>
              <a:t>Résultats expérimentaux</a:t>
            </a:r>
            <a:endParaRPr lang="en-US" sz="1450" dirty="0"/>
          </a:p>
        </p:txBody>
      </p:sp>
      <p:sp>
        <p:nvSpPr>
          <p:cNvPr id="23" name="Text 21"/>
          <p:cNvSpPr/>
          <p:nvPr/>
        </p:nvSpPr>
        <p:spPr>
          <a:xfrm>
            <a:off x="5458968" y="2999232"/>
            <a:ext cx="3337560" cy="548640"/>
          </a:xfrm>
          <a:prstGeom prst="rect">
            <a:avLst/>
          </a:prstGeom>
          <a:noFill/>
          <a:ln/>
        </p:spPr>
        <p:txBody>
          <a:bodyPr wrap="square" lIns="0" tIns="0" rIns="0" bIns="0" rtlCol="0" anchor="ctr"/>
          <a:lstStyle/>
          <a:p>
            <a:pPr marL="0" indent="0">
              <a:buNone/>
            </a:pPr>
            <a:r>
              <a:rPr lang="en-US" sz="1100" dirty="0">
                <a:solidFill>
                  <a:srgbClr val="5A6672"/>
                </a:solidFill>
                <a:latin typeface="Calibri" pitchFamily="34" charset="0"/>
                <a:ea typeface="Calibri" pitchFamily="34" charset="-122"/>
                <a:cs typeface="Calibri" pitchFamily="34" charset="-120"/>
              </a:rPr>
              <a:t>3 scénarios, 8 politiques, 240 simulations, validation statistique</a:t>
            </a:r>
            <a:endParaRPr lang="en-US" sz="1100" dirty="0"/>
          </a:p>
        </p:txBody>
      </p:sp>
      <p:sp>
        <p:nvSpPr>
          <p:cNvPr id="24" name="Shape 22"/>
          <p:cNvSpPr/>
          <p:nvPr/>
        </p:nvSpPr>
        <p:spPr>
          <a:xfrm>
            <a:off x="457200" y="3785616"/>
            <a:ext cx="4114800" cy="1042416"/>
          </a:xfrm>
          <a:prstGeom prst="roundRect">
            <a:avLst>
              <a:gd name="adj" fmla="val 526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25" name="Shape 23"/>
          <p:cNvSpPr/>
          <p:nvPr/>
        </p:nvSpPr>
        <p:spPr>
          <a:xfrm>
            <a:off x="658368" y="3968496"/>
            <a:ext cx="310896" cy="310896"/>
          </a:xfrm>
          <a:prstGeom prst="ellipse">
            <a:avLst/>
          </a:prstGeom>
          <a:solidFill>
            <a:srgbClr val="B4622D"/>
          </a:solidFill>
          <a:ln/>
        </p:spPr>
      </p:sp>
      <p:sp>
        <p:nvSpPr>
          <p:cNvPr id="26" name="Text 24"/>
          <p:cNvSpPr/>
          <p:nvPr/>
        </p:nvSpPr>
        <p:spPr>
          <a:xfrm>
            <a:off x="658368" y="3954780"/>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115568" y="3904488"/>
            <a:ext cx="3337560" cy="292608"/>
          </a:xfrm>
          <a:prstGeom prst="rect">
            <a:avLst/>
          </a:prstGeom>
          <a:noFill/>
          <a:ln/>
        </p:spPr>
        <p:txBody>
          <a:bodyPr wrap="square" lIns="0" tIns="0" rIns="0" bIns="0" rtlCol="0" anchor="ctr"/>
          <a:lstStyle/>
          <a:p>
            <a:pPr marL="0" indent="0">
              <a:buNone/>
            </a:pPr>
            <a:r>
              <a:rPr lang="en-US" sz="1450" b="1" dirty="0">
                <a:solidFill>
                  <a:srgbClr val="22303F"/>
                </a:solidFill>
                <a:latin typeface="Calibri" pitchFamily="34" charset="0"/>
                <a:ea typeface="Calibri" pitchFamily="34" charset="-122"/>
                <a:cs typeface="Calibri" pitchFamily="34" charset="-120"/>
              </a:rPr>
              <a:t>Analyse critique et limites</a:t>
            </a:r>
            <a:endParaRPr lang="en-US" sz="1450" dirty="0"/>
          </a:p>
        </p:txBody>
      </p:sp>
      <p:sp>
        <p:nvSpPr>
          <p:cNvPr id="28" name="Text 26"/>
          <p:cNvSpPr/>
          <p:nvPr/>
        </p:nvSpPr>
        <p:spPr>
          <a:xfrm>
            <a:off x="1115568" y="4206240"/>
            <a:ext cx="3337560" cy="548640"/>
          </a:xfrm>
          <a:prstGeom prst="rect">
            <a:avLst/>
          </a:prstGeom>
          <a:noFill/>
          <a:ln/>
        </p:spPr>
        <p:txBody>
          <a:bodyPr wrap="square" lIns="0" tIns="0" rIns="0" bIns="0" rtlCol="0" anchor="ctr"/>
          <a:lstStyle/>
          <a:p>
            <a:pPr marL="0" indent="0">
              <a:buNone/>
            </a:pPr>
            <a:r>
              <a:rPr lang="en-US" sz="1100" dirty="0">
                <a:solidFill>
                  <a:srgbClr val="5A6672"/>
                </a:solidFill>
                <a:latin typeface="Calibri" pitchFamily="34" charset="0"/>
                <a:ea typeface="Calibri" pitchFamily="34" charset="-122"/>
                <a:cs typeface="Calibri" pitchFamily="34" charset="-120"/>
              </a:rPr>
              <a:t>Validation de l'hypothèse H1, limites assumées</a:t>
            </a:r>
            <a:endParaRPr lang="en-US" sz="1100" dirty="0"/>
          </a:p>
        </p:txBody>
      </p:sp>
      <p:sp>
        <p:nvSpPr>
          <p:cNvPr id="29" name="Shape 27"/>
          <p:cNvSpPr/>
          <p:nvPr/>
        </p:nvSpPr>
        <p:spPr>
          <a:xfrm>
            <a:off x="4800600" y="3785616"/>
            <a:ext cx="4114800" cy="1042416"/>
          </a:xfrm>
          <a:prstGeom prst="roundRect">
            <a:avLst>
              <a:gd name="adj" fmla="val 526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30" name="Shape 28"/>
          <p:cNvSpPr/>
          <p:nvPr/>
        </p:nvSpPr>
        <p:spPr>
          <a:xfrm>
            <a:off x="5001768" y="3968496"/>
            <a:ext cx="310896" cy="310896"/>
          </a:xfrm>
          <a:prstGeom prst="ellipse">
            <a:avLst/>
          </a:prstGeom>
          <a:solidFill>
            <a:srgbClr val="B4622D"/>
          </a:solidFill>
          <a:ln/>
        </p:spPr>
      </p:sp>
      <p:sp>
        <p:nvSpPr>
          <p:cNvPr id="31" name="Text 29"/>
          <p:cNvSpPr/>
          <p:nvPr/>
        </p:nvSpPr>
        <p:spPr>
          <a:xfrm>
            <a:off x="5001768" y="3954780"/>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5458968" y="3904488"/>
            <a:ext cx="3337560" cy="292608"/>
          </a:xfrm>
          <a:prstGeom prst="rect">
            <a:avLst/>
          </a:prstGeom>
          <a:noFill/>
          <a:ln/>
        </p:spPr>
        <p:txBody>
          <a:bodyPr wrap="square" lIns="0" tIns="0" rIns="0" bIns="0" rtlCol="0" anchor="ctr"/>
          <a:lstStyle/>
          <a:p>
            <a:pPr marL="0" indent="0">
              <a:buNone/>
            </a:pPr>
            <a:r>
              <a:rPr lang="en-US" sz="1450" b="1" dirty="0">
                <a:solidFill>
                  <a:srgbClr val="22303F"/>
                </a:solidFill>
                <a:latin typeface="Calibri" pitchFamily="34" charset="0"/>
                <a:ea typeface="Calibri" pitchFamily="34" charset="-122"/>
                <a:cs typeface="Calibri" pitchFamily="34" charset="-120"/>
              </a:rPr>
              <a:t>Contributions et perspectives</a:t>
            </a:r>
            <a:endParaRPr lang="en-US" sz="1450" dirty="0"/>
          </a:p>
        </p:txBody>
      </p:sp>
      <p:sp>
        <p:nvSpPr>
          <p:cNvPr id="33" name="Text 31"/>
          <p:cNvSpPr/>
          <p:nvPr/>
        </p:nvSpPr>
        <p:spPr>
          <a:xfrm>
            <a:off x="5458968" y="4206240"/>
            <a:ext cx="3337560" cy="548640"/>
          </a:xfrm>
          <a:prstGeom prst="rect">
            <a:avLst/>
          </a:prstGeom>
          <a:noFill/>
          <a:ln/>
        </p:spPr>
        <p:txBody>
          <a:bodyPr wrap="square" lIns="0" tIns="0" rIns="0" bIns="0" rtlCol="0" anchor="ctr"/>
          <a:lstStyle/>
          <a:p>
            <a:pPr marL="0" indent="0">
              <a:buNone/>
            </a:pPr>
            <a:r>
              <a:rPr lang="en-US" sz="1100" dirty="0">
                <a:solidFill>
                  <a:srgbClr val="5A6672"/>
                </a:solidFill>
                <a:latin typeface="Calibri" pitchFamily="34" charset="0"/>
                <a:ea typeface="Calibri" pitchFamily="34" charset="-122"/>
                <a:cs typeface="Calibri" pitchFamily="34" charset="-120"/>
              </a:rPr>
              <a:t>Apports du mémoire et travaux futurs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1 · CONTEXTE ET PROBLÉMATIQUE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La logistique minière : le cœur des coûts d'une mine à ciel ouvert</a:t>
            </a:r>
            <a:endParaRPr lang="en-US" sz="2700" dirty="0"/>
          </a:p>
        </p:txBody>
      </p:sp>
      <p:sp>
        <p:nvSpPr>
          <p:cNvPr id="4" name="Shape 2"/>
          <p:cNvSpPr/>
          <p:nvPr/>
        </p:nvSpPr>
        <p:spPr>
          <a:xfrm>
            <a:off x="457200" y="1325880"/>
            <a:ext cx="4663440" cy="2286000"/>
          </a:xfrm>
          <a:prstGeom prst="roundRect">
            <a:avLst>
              <a:gd name="adj" fmla="val 2400"/>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5" name="Image 0" descr="Description_du_système_de_transport_minier_drawio.png"/>
          <p:cNvPicPr>
            <a:picLocks noChangeAspect="1"/>
          </p:cNvPicPr>
          <p:nvPr/>
        </p:nvPicPr>
        <p:blipFill>
          <a:blip r:embed="rId3"/>
          <a:stretch>
            <a:fillRect/>
          </a:stretch>
        </p:blipFill>
        <p:spPr>
          <a:xfrm>
            <a:off x="598170" y="1417320"/>
            <a:ext cx="4381500" cy="2103120"/>
          </a:xfrm>
          <a:prstGeom prst="rect">
            <a:avLst/>
          </a:prstGeom>
        </p:spPr>
      </p:pic>
      <p:sp>
        <p:nvSpPr>
          <p:cNvPr id="6" name="Text 3"/>
          <p:cNvSpPr/>
          <p:nvPr/>
        </p:nvSpPr>
        <p:spPr>
          <a:xfrm>
            <a:off x="457200" y="3703320"/>
            <a:ext cx="4663440" cy="640080"/>
          </a:xfrm>
          <a:prstGeom prst="rect">
            <a:avLst/>
          </a:prstGeom>
          <a:noFill/>
          <a:ln/>
        </p:spPr>
        <p:txBody>
          <a:bodyPr wrap="square" lIns="0" tIns="0" rIns="0" bIns="0" rtlCol="0" anchor="ctr"/>
          <a:lstStyle/>
          <a:p>
            <a:pPr marL="0" indent="0">
              <a:buNone/>
            </a:pPr>
            <a:r>
              <a:rPr lang="en-US" sz="1100" i="1" dirty="0">
                <a:solidFill>
                  <a:srgbClr val="5A6672"/>
                </a:solidFill>
                <a:latin typeface="Calibri" pitchFamily="34" charset="0"/>
                <a:ea typeface="Calibri" pitchFamily="34" charset="-122"/>
                <a:cs typeface="Calibri" pitchFamily="34" charset="-120"/>
              </a:rPr>
              <a:t>Cycle camion-pelle : chargement → transport → déchargement → retour. La décision de dispatching intervient à chaque libération d'un camion.</a:t>
            </a:r>
            <a:endParaRPr lang="en-US" sz="1100" dirty="0"/>
          </a:p>
        </p:txBody>
      </p:sp>
      <p:sp>
        <p:nvSpPr>
          <p:cNvPr id="7" name="Shape 4"/>
          <p:cNvSpPr/>
          <p:nvPr/>
        </p:nvSpPr>
        <p:spPr>
          <a:xfrm>
            <a:off x="5349240" y="1325880"/>
            <a:ext cx="3337560" cy="1170432"/>
          </a:xfrm>
          <a:prstGeom prst="roundRect">
            <a:avLst>
              <a:gd name="adj" fmla="val 4688"/>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8" name="Text 5"/>
          <p:cNvSpPr/>
          <p:nvPr/>
        </p:nvSpPr>
        <p:spPr>
          <a:xfrm>
            <a:off x="5440680" y="1481328"/>
            <a:ext cx="3154680" cy="566928"/>
          </a:xfrm>
          <a:prstGeom prst="rect">
            <a:avLst/>
          </a:prstGeom>
          <a:noFill/>
          <a:ln/>
        </p:spPr>
        <p:txBody>
          <a:bodyPr wrap="square" lIns="0" tIns="0" rIns="0" bIns="0" rtlCol="0" anchor="ctr"/>
          <a:lstStyle/>
          <a:p>
            <a:pPr marL="0" indent="0" algn="ctr">
              <a:buNone/>
            </a:pPr>
            <a:r>
              <a:rPr lang="en-US" sz="3000" b="1" dirty="0">
                <a:solidFill>
                  <a:srgbClr val="B4622D"/>
                </a:solidFill>
                <a:latin typeface="Cambria" pitchFamily="34" charset="0"/>
                <a:ea typeface="Cambria" pitchFamily="34" charset="-122"/>
                <a:cs typeface="Cambria" pitchFamily="34" charset="-120"/>
              </a:rPr>
              <a:t>50 – 60 %</a:t>
            </a:r>
            <a:endParaRPr lang="en-US" sz="3000" dirty="0"/>
          </a:p>
        </p:txBody>
      </p:sp>
      <p:sp>
        <p:nvSpPr>
          <p:cNvPr id="9" name="Text 6"/>
          <p:cNvSpPr/>
          <p:nvPr/>
        </p:nvSpPr>
        <p:spPr>
          <a:xfrm>
            <a:off x="5440680" y="2029968"/>
            <a:ext cx="3154680" cy="502920"/>
          </a:xfrm>
          <a:prstGeom prst="rect">
            <a:avLst/>
          </a:prstGeom>
          <a:noFill/>
          <a:ln/>
        </p:spPr>
        <p:txBody>
          <a:bodyPr wrap="square" lIns="0" tIns="0" rIns="0" bIns="0" rtlCol="0" anchor="ctr"/>
          <a:lstStyle/>
          <a:p>
            <a:pPr marL="0" indent="0" algn="ctr">
              <a:buNone/>
            </a:pPr>
            <a:r>
              <a:rPr lang="en-US" sz="1150" dirty="0">
                <a:solidFill>
                  <a:srgbClr val="5A6672"/>
                </a:solidFill>
                <a:latin typeface="Calibri" pitchFamily="34" charset="0"/>
                <a:ea typeface="Calibri" pitchFamily="34" charset="-122"/>
                <a:cs typeface="Calibri" pitchFamily="34" charset="-120"/>
              </a:rPr>
              <a:t>des coûts opérationnels d'une mine à ciel ouvert proviennent du transport</a:t>
            </a:r>
            <a:endParaRPr lang="en-US" sz="1150" dirty="0"/>
          </a:p>
        </p:txBody>
      </p:sp>
      <p:sp>
        <p:nvSpPr>
          <p:cNvPr id="10" name="Shape 7"/>
          <p:cNvSpPr/>
          <p:nvPr/>
        </p:nvSpPr>
        <p:spPr>
          <a:xfrm>
            <a:off x="5349240" y="2670048"/>
            <a:ext cx="3337560" cy="2057400"/>
          </a:xfrm>
          <a:prstGeom prst="roundRect">
            <a:avLst>
              <a:gd name="adj" fmla="val 2667"/>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1" name="Text 8"/>
          <p:cNvSpPr/>
          <p:nvPr/>
        </p:nvSpPr>
        <p:spPr>
          <a:xfrm>
            <a:off x="5532120" y="2816352"/>
            <a:ext cx="3017520" cy="274320"/>
          </a:xfrm>
          <a:prstGeom prst="rect">
            <a:avLst/>
          </a:prstGeom>
          <a:noFill/>
          <a:ln/>
        </p:spPr>
        <p:txBody>
          <a:bodyPr wrap="square" lIns="0" tIns="0" rIns="0" bIns="0" rtlCol="0" anchor="ctr"/>
          <a:lstStyle/>
          <a:p>
            <a:pPr marL="0" indent="0">
              <a:buNone/>
            </a:pPr>
            <a:r>
              <a:rPr lang="en-US" sz="1300" b="1" dirty="0">
                <a:solidFill>
                  <a:srgbClr val="8C4A1F"/>
                </a:solidFill>
                <a:latin typeface="Calibri" pitchFamily="34" charset="0"/>
                <a:ea typeface="Calibri" pitchFamily="34" charset="-122"/>
                <a:cs typeface="Calibri" pitchFamily="34" charset="-120"/>
              </a:rPr>
              <a:t>Le problème opérationnel</a:t>
            </a:r>
            <a:endParaRPr lang="en-US" sz="1300" dirty="0"/>
          </a:p>
        </p:txBody>
      </p:sp>
      <p:sp>
        <p:nvSpPr>
          <p:cNvPr id="12" name="Text 9"/>
          <p:cNvSpPr/>
          <p:nvPr/>
        </p:nvSpPr>
        <p:spPr>
          <a:xfrm>
            <a:off x="5532120" y="3127248"/>
            <a:ext cx="3035808" cy="15087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22303F"/>
                </a:solidFill>
                <a:latin typeface="Calibri" pitchFamily="34" charset="0"/>
                <a:ea typeface="Calibri" pitchFamily="34" charset="-122"/>
                <a:cs typeface="Calibri" pitchFamily="34" charset="-120"/>
              </a:rPr>
              <a:t>Dispatching : à quel couple (pelle, dump) affecter chaque camion libre ?</a:t>
            </a:r>
            <a:endParaRPr lang="en-US" sz="1150" dirty="0"/>
          </a:p>
          <a:p>
            <a:pPr marL="342900" indent="-342900">
              <a:spcAft>
                <a:spcPts val="600"/>
              </a:spcAft>
              <a:buSzPct val="100000"/>
              <a:buChar char="•"/>
            </a:pPr>
            <a:r>
              <a:rPr lang="en-US" sz="1150" dirty="0">
                <a:solidFill>
                  <a:srgbClr val="22303F"/>
                </a:solidFill>
                <a:latin typeface="Calibri" pitchFamily="34" charset="0"/>
                <a:ea typeface="Calibri" pitchFamily="34" charset="-122"/>
                <a:cs typeface="Calibri" pitchFamily="34" charset="-120"/>
              </a:rPr>
              <a:t>12 camions, 3 pelles, 2 dumps — décision en temps réel</a:t>
            </a:r>
            <a:endParaRPr lang="en-US" sz="1150" dirty="0"/>
          </a:p>
          <a:p>
            <a:pPr marL="342900" indent="-342900">
              <a:spcAft>
                <a:spcPts val="600"/>
              </a:spcAft>
              <a:buSzPct val="100000"/>
              <a:buChar char="•"/>
            </a:pPr>
            <a:r>
              <a:rPr lang="en-US" sz="1150" dirty="0">
                <a:solidFill>
                  <a:srgbClr val="22303F"/>
                </a:solidFill>
                <a:latin typeface="Calibri" pitchFamily="34" charset="0"/>
                <a:ea typeface="Calibri" pitchFamily="34" charset="-122"/>
                <a:cs typeface="Calibri" pitchFamily="34" charset="-120"/>
              </a:rPr>
              <a:t>Environnement stochastique : pannes, congestion, dégradation des routes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1 · CONTEXTE ET PROBLÉMATIQUE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Les approches actuelles échouent quand l'environnement change</a:t>
            </a:r>
            <a:endParaRPr lang="en-US" sz="2700" dirty="0"/>
          </a:p>
        </p:txBody>
      </p:sp>
      <p:sp>
        <p:nvSpPr>
          <p:cNvPr id="4" name="Shape 2"/>
          <p:cNvSpPr/>
          <p:nvPr/>
        </p:nvSpPr>
        <p:spPr>
          <a:xfrm>
            <a:off x="457200" y="1371600"/>
            <a:ext cx="8229600" cy="676656"/>
          </a:xfrm>
          <a:prstGeom prst="roundRect">
            <a:avLst>
              <a:gd name="adj" fmla="val 8108"/>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Text 3"/>
          <p:cNvSpPr/>
          <p:nvPr/>
        </p:nvSpPr>
        <p:spPr>
          <a:xfrm>
            <a:off x="685800" y="1463040"/>
            <a:ext cx="1783080" cy="502920"/>
          </a:xfrm>
          <a:prstGeom prst="rect">
            <a:avLst/>
          </a:prstGeom>
          <a:noFill/>
          <a:ln/>
        </p:spPr>
        <p:txBody>
          <a:bodyPr wrap="square" lIns="0" tIns="0" rIns="0" bIns="0" rtlCol="0" anchor="ctr"/>
          <a:lstStyle/>
          <a:p>
            <a:pPr marL="0" indent="0">
              <a:buNone/>
            </a:pPr>
            <a:r>
              <a:rPr lang="en-US" sz="1350" b="1" dirty="0">
                <a:solidFill>
                  <a:srgbClr val="22303F"/>
                </a:solidFill>
                <a:latin typeface="Calibri" pitchFamily="34" charset="0"/>
                <a:ea typeface="Calibri" pitchFamily="34" charset="-122"/>
                <a:cs typeface="Calibri" pitchFamily="34" charset="-120"/>
              </a:rPr>
              <a:t>FIFO</a:t>
            </a:r>
            <a:endParaRPr lang="en-US" sz="1350" dirty="0"/>
          </a:p>
        </p:txBody>
      </p:sp>
      <p:sp>
        <p:nvSpPr>
          <p:cNvPr id="6" name="Text 4"/>
          <p:cNvSpPr/>
          <p:nvPr/>
        </p:nvSpPr>
        <p:spPr>
          <a:xfrm>
            <a:off x="2514600" y="1463040"/>
            <a:ext cx="2377440" cy="502920"/>
          </a:xfrm>
          <a:prstGeom prst="rect">
            <a:avLst/>
          </a:prstGeom>
          <a:noFill/>
          <a:ln/>
        </p:spPr>
        <p:txBody>
          <a:bodyPr wrap="square" lIns="0" tIns="0" rIns="0" bIns="0" rtlCol="0" anchor="ctr"/>
          <a:lstStyle/>
          <a:p>
            <a:pPr marL="0" indent="0">
              <a:buNone/>
            </a:pPr>
            <a:r>
              <a:rPr lang="en-US" sz="1150" dirty="0">
                <a:solidFill>
                  <a:srgbClr val="5A6672"/>
                </a:solidFill>
                <a:latin typeface="Calibri" pitchFamily="34" charset="0"/>
                <a:ea typeface="Calibri" pitchFamily="34" charset="-122"/>
                <a:cs typeface="Calibri" pitchFamily="34" charset="-120"/>
              </a:rPr>
              <a:t>Premier arrivé, premier servi</a:t>
            </a:r>
            <a:endParaRPr lang="en-US" sz="1150" dirty="0"/>
          </a:p>
        </p:txBody>
      </p:sp>
      <p:sp>
        <p:nvSpPr>
          <p:cNvPr id="7" name="Text 5"/>
          <p:cNvSpPr/>
          <p:nvPr/>
        </p:nvSpPr>
        <p:spPr>
          <a:xfrm>
            <a:off x="5029200" y="1463040"/>
            <a:ext cx="3474720" cy="502920"/>
          </a:xfrm>
          <a:prstGeom prst="rect">
            <a:avLst/>
          </a:prstGeom>
          <a:noFill/>
          <a:ln/>
        </p:spPr>
        <p:txBody>
          <a:bodyPr wrap="square" lIns="0" tIns="0" rIns="0" bIns="0" rtlCol="0" anchor="ctr"/>
          <a:lstStyle/>
          <a:p>
            <a:pPr marL="0" indent="0">
              <a:buNone/>
            </a:pPr>
            <a:r>
              <a:rPr lang="en-US" sz="1150" dirty="0">
                <a:solidFill>
                  <a:srgbClr val="B03A2E"/>
                </a:solidFill>
                <a:latin typeface="Calibri" pitchFamily="34" charset="0"/>
                <a:ea typeface="Calibri" pitchFamily="34" charset="-122"/>
                <a:cs typeface="Calibri" pitchFamily="34" charset="-120"/>
              </a:rPr>
              <a:t>Ignore totalement la distance et la congestion du réseau</a:t>
            </a:r>
            <a:endParaRPr lang="en-US" sz="1150" dirty="0"/>
          </a:p>
        </p:txBody>
      </p:sp>
      <p:sp>
        <p:nvSpPr>
          <p:cNvPr id="8" name="Shape 6"/>
          <p:cNvSpPr/>
          <p:nvPr/>
        </p:nvSpPr>
        <p:spPr>
          <a:xfrm>
            <a:off x="457200" y="2157984"/>
            <a:ext cx="8229600" cy="676656"/>
          </a:xfrm>
          <a:prstGeom prst="roundRect">
            <a:avLst>
              <a:gd name="adj" fmla="val 8108"/>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9" name="Text 7"/>
          <p:cNvSpPr/>
          <p:nvPr/>
        </p:nvSpPr>
        <p:spPr>
          <a:xfrm>
            <a:off x="685800" y="2249424"/>
            <a:ext cx="1783080" cy="502920"/>
          </a:xfrm>
          <a:prstGeom prst="rect">
            <a:avLst/>
          </a:prstGeom>
          <a:noFill/>
          <a:ln/>
        </p:spPr>
        <p:txBody>
          <a:bodyPr wrap="square" lIns="0" tIns="0" rIns="0" bIns="0" rtlCol="0" anchor="ctr"/>
          <a:lstStyle/>
          <a:p>
            <a:pPr marL="0" indent="0">
              <a:buNone/>
            </a:pPr>
            <a:r>
              <a:rPr lang="en-US" sz="1350" b="1" dirty="0">
                <a:solidFill>
                  <a:srgbClr val="22303F"/>
                </a:solidFill>
                <a:latin typeface="Calibri" pitchFamily="34" charset="0"/>
                <a:ea typeface="Calibri" pitchFamily="34" charset="-122"/>
                <a:cs typeface="Calibri" pitchFamily="34" charset="-120"/>
              </a:rPr>
              <a:t>Fixed Assignment</a:t>
            </a:r>
            <a:endParaRPr lang="en-US" sz="1350" dirty="0"/>
          </a:p>
        </p:txBody>
      </p:sp>
      <p:sp>
        <p:nvSpPr>
          <p:cNvPr id="10" name="Text 8"/>
          <p:cNvSpPr/>
          <p:nvPr/>
        </p:nvSpPr>
        <p:spPr>
          <a:xfrm>
            <a:off x="2514600" y="2249424"/>
            <a:ext cx="2377440" cy="502920"/>
          </a:xfrm>
          <a:prstGeom prst="rect">
            <a:avLst/>
          </a:prstGeom>
          <a:noFill/>
          <a:ln/>
        </p:spPr>
        <p:txBody>
          <a:bodyPr wrap="square" lIns="0" tIns="0" rIns="0" bIns="0" rtlCol="0" anchor="ctr"/>
          <a:lstStyle/>
          <a:p>
            <a:pPr marL="0" indent="0">
              <a:buNone/>
            </a:pPr>
            <a:r>
              <a:rPr lang="en-US" sz="1150" dirty="0">
                <a:solidFill>
                  <a:srgbClr val="5A6672"/>
                </a:solidFill>
                <a:latin typeface="Calibri" pitchFamily="34" charset="0"/>
                <a:ea typeface="Calibri" pitchFamily="34" charset="-122"/>
                <a:cs typeface="Calibri" pitchFamily="34" charset="-120"/>
              </a:rPr>
              <a:t>Affectation fixe camion → pelle</a:t>
            </a:r>
            <a:endParaRPr lang="en-US" sz="1150" dirty="0"/>
          </a:p>
        </p:txBody>
      </p:sp>
      <p:sp>
        <p:nvSpPr>
          <p:cNvPr id="11" name="Text 9"/>
          <p:cNvSpPr/>
          <p:nvPr/>
        </p:nvSpPr>
        <p:spPr>
          <a:xfrm>
            <a:off x="5029200" y="2249424"/>
            <a:ext cx="3474720" cy="502920"/>
          </a:xfrm>
          <a:prstGeom prst="rect">
            <a:avLst/>
          </a:prstGeom>
          <a:noFill/>
          <a:ln/>
        </p:spPr>
        <p:txBody>
          <a:bodyPr wrap="square" lIns="0" tIns="0" rIns="0" bIns="0" rtlCol="0" anchor="ctr"/>
          <a:lstStyle/>
          <a:p>
            <a:pPr marL="0" indent="0">
              <a:buNone/>
            </a:pPr>
            <a:r>
              <a:rPr lang="en-US" sz="1150" dirty="0">
                <a:solidFill>
                  <a:srgbClr val="B03A2E"/>
                </a:solidFill>
                <a:latin typeface="Calibri" pitchFamily="34" charset="0"/>
                <a:ea typeface="Calibri" pitchFamily="34" charset="-122"/>
                <a:cs typeface="Calibri" pitchFamily="34" charset="-120"/>
              </a:rPr>
              <a:t>Rigide : aucune adaptation aux pannes ni aux files d'attente</a:t>
            </a:r>
            <a:endParaRPr lang="en-US" sz="1150" dirty="0"/>
          </a:p>
        </p:txBody>
      </p:sp>
      <p:sp>
        <p:nvSpPr>
          <p:cNvPr id="12" name="Shape 10"/>
          <p:cNvSpPr/>
          <p:nvPr/>
        </p:nvSpPr>
        <p:spPr>
          <a:xfrm>
            <a:off x="457200" y="2944368"/>
            <a:ext cx="8229600" cy="676656"/>
          </a:xfrm>
          <a:prstGeom prst="roundRect">
            <a:avLst>
              <a:gd name="adj" fmla="val 8108"/>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3" name="Text 11"/>
          <p:cNvSpPr/>
          <p:nvPr/>
        </p:nvSpPr>
        <p:spPr>
          <a:xfrm>
            <a:off x="685800" y="3035808"/>
            <a:ext cx="1783080" cy="502920"/>
          </a:xfrm>
          <a:prstGeom prst="rect">
            <a:avLst/>
          </a:prstGeom>
          <a:noFill/>
          <a:ln/>
        </p:spPr>
        <p:txBody>
          <a:bodyPr wrap="square" lIns="0" tIns="0" rIns="0" bIns="0" rtlCol="0" anchor="ctr"/>
          <a:lstStyle/>
          <a:p>
            <a:pPr marL="0" indent="0">
              <a:buNone/>
            </a:pPr>
            <a:r>
              <a:rPr lang="en-US" sz="1350" b="1" dirty="0">
                <a:solidFill>
                  <a:srgbClr val="22303F"/>
                </a:solidFill>
                <a:latin typeface="Calibri" pitchFamily="34" charset="0"/>
                <a:ea typeface="Calibri" pitchFamily="34" charset="-122"/>
                <a:cs typeface="Calibri" pitchFamily="34" charset="-120"/>
              </a:rPr>
              <a:t>Nearest Shovel</a:t>
            </a:r>
            <a:endParaRPr lang="en-US" sz="1350" dirty="0"/>
          </a:p>
        </p:txBody>
      </p:sp>
      <p:sp>
        <p:nvSpPr>
          <p:cNvPr id="14" name="Text 12"/>
          <p:cNvSpPr/>
          <p:nvPr/>
        </p:nvSpPr>
        <p:spPr>
          <a:xfrm>
            <a:off x="2514600" y="3035808"/>
            <a:ext cx="2377440" cy="502920"/>
          </a:xfrm>
          <a:prstGeom prst="rect">
            <a:avLst/>
          </a:prstGeom>
          <a:noFill/>
          <a:ln/>
        </p:spPr>
        <p:txBody>
          <a:bodyPr wrap="square" lIns="0" tIns="0" rIns="0" bIns="0" rtlCol="0" anchor="ctr"/>
          <a:lstStyle/>
          <a:p>
            <a:pPr marL="0" indent="0">
              <a:buNone/>
            </a:pPr>
            <a:r>
              <a:rPr lang="en-US" sz="1150" dirty="0">
                <a:solidFill>
                  <a:srgbClr val="5A6672"/>
                </a:solidFill>
                <a:latin typeface="Calibri" pitchFamily="34" charset="0"/>
                <a:ea typeface="Calibri" pitchFamily="34" charset="-122"/>
                <a:cs typeface="Calibri" pitchFamily="34" charset="-120"/>
              </a:rPr>
              <a:t>Pelle la plus proche</a:t>
            </a:r>
            <a:endParaRPr lang="en-US" sz="1150" dirty="0"/>
          </a:p>
        </p:txBody>
      </p:sp>
      <p:sp>
        <p:nvSpPr>
          <p:cNvPr id="15" name="Text 13"/>
          <p:cNvSpPr/>
          <p:nvPr/>
        </p:nvSpPr>
        <p:spPr>
          <a:xfrm>
            <a:off x="5029200" y="3035808"/>
            <a:ext cx="3474720" cy="502920"/>
          </a:xfrm>
          <a:prstGeom prst="rect">
            <a:avLst/>
          </a:prstGeom>
          <a:noFill/>
          <a:ln/>
        </p:spPr>
        <p:txBody>
          <a:bodyPr wrap="square" lIns="0" tIns="0" rIns="0" bIns="0" rtlCol="0" anchor="ctr"/>
          <a:lstStyle/>
          <a:p>
            <a:pPr marL="0" indent="0">
              <a:buNone/>
            </a:pPr>
            <a:r>
              <a:rPr lang="en-US" sz="1150" dirty="0">
                <a:solidFill>
                  <a:srgbClr val="B03A2E"/>
                </a:solidFill>
                <a:latin typeface="Calibri" pitchFamily="34" charset="0"/>
                <a:ea typeface="Calibri" pitchFamily="34" charset="-122"/>
                <a:cs typeface="Calibri" pitchFamily="34" charset="-120"/>
              </a:rPr>
              <a:t>Toute la flotte converge → saturation (jusqu'à 200 min d'attente)</a:t>
            </a:r>
            <a:endParaRPr lang="en-US" sz="1150" dirty="0"/>
          </a:p>
        </p:txBody>
      </p:sp>
      <p:sp>
        <p:nvSpPr>
          <p:cNvPr id="16" name="Shape 14"/>
          <p:cNvSpPr/>
          <p:nvPr/>
        </p:nvSpPr>
        <p:spPr>
          <a:xfrm>
            <a:off x="457200" y="3730752"/>
            <a:ext cx="8229600" cy="676656"/>
          </a:xfrm>
          <a:prstGeom prst="roundRect">
            <a:avLst>
              <a:gd name="adj" fmla="val 8108"/>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7" name="Text 15"/>
          <p:cNvSpPr/>
          <p:nvPr/>
        </p:nvSpPr>
        <p:spPr>
          <a:xfrm>
            <a:off x="685800" y="3822192"/>
            <a:ext cx="1783080" cy="502920"/>
          </a:xfrm>
          <a:prstGeom prst="rect">
            <a:avLst/>
          </a:prstGeom>
          <a:noFill/>
          <a:ln/>
        </p:spPr>
        <p:txBody>
          <a:bodyPr wrap="square" lIns="0" tIns="0" rIns="0" bIns="0" rtlCol="0" anchor="ctr"/>
          <a:lstStyle/>
          <a:p>
            <a:pPr marL="0" indent="0">
              <a:buNone/>
            </a:pPr>
            <a:r>
              <a:rPr lang="en-US" sz="1350" b="1" dirty="0">
                <a:solidFill>
                  <a:srgbClr val="22303F"/>
                </a:solidFill>
                <a:latin typeface="Calibri" pitchFamily="34" charset="0"/>
                <a:ea typeface="Calibri" pitchFamily="34" charset="-122"/>
                <a:cs typeface="Calibri" pitchFamily="34" charset="-120"/>
              </a:rPr>
              <a:t>Shortest Path</a:t>
            </a:r>
            <a:endParaRPr lang="en-US" sz="1350" dirty="0"/>
          </a:p>
        </p:txBody>
      </p:sp>
      <p:sp>
        <p:nvSpPr>
          <p:cNvPr id="18" name="Text 16"/>
          <p:cNvSpPr/>
          <p:nvPr/>
        </p:nvSpPr>
        <p:spPr>
          <a:xfrm>
            <a:off x="2514600" y="3822192"/>
            <a:ext cx="2377440" cy="502920"/>
          </a:xfrm>
          <a:prstGeom prst="rect">
            <a:avLst/>
          </a:prstGeom>
          <a:noFill/>
          <a:ln/>
        </p:spPr>
        <p:txBody>
          <a:bodyPr wrap="square" lIns="0" tIns="0" rIns="0" bIns="0" rtlCol="0" anchor="ctr"/>
          <a:lstStyle/>
          <a:p>
            <a:pPr marL="0" indent="0">
              <a:buNone/>
            </a:pPr>
            <a:r>
              <a:rPr lang="en-US" sz="1150" dirty="0">
                <a:solidFill>
                  <a:srgbClr val="5A6672"/>
                </a:solidFill>
                <a:latin typeface="Calibri" pitchFamily="34" charset="0"/>
                <a:ea typeface="Calibri" pitchFamily="34" charset="-122"/>
                <a:cs typeface="Calibri" pitchFamily="34" charset="-120"/>
              </a:rPr>
              <a:t>Trajet le plus court</a:t>
            </a:r>
            <a:endParaRPr lang="en-US" sz="1150" dirty="0"/>
          </a:p>
        </p:txBody>
      </p:sp>
      <p:sp>
        <p:nvSpPr>
          <p:cNvPr id="19" name="Text 17"/>
          <p:cNvSpPr/>
          <p:nvPr/>
        </p:nvSpPr>
        <p:spPr>
          <a:xfrm>
            <a:off x="5029200" y="3822192"/>
            <a:ext cx="3474720" cy="502920"/>
          </a:xfrm>
          <a:prstGeom prst="rect">
            <a:avLst/>
          </a:prstGeom>
          <a:noFill/>
          <a:ln/>
        </p:spPr>
        <p:txBody>
          <a:bodyPr wrap="square" lIns="0" tIns="0" rIns="0" bIns="0" rtlCol="0" anchor="ctr"/>
          <a:lstStyle/>
          <a:p>
            <a:pPr marL="0" indent="0">
              <a:buNone/>
            </a:pPr>
            <a:r>
              <a:rPr lang="en-US" sz="1150" dirty="0">
                <a:solidFill>
                  <a:srgbClr val="B03A2E"/>
                </a:solidFill>
                <a:latin typeface="Calibri" pitchFamily="34" charset="0"/>
                <a:ea typeface="Calibri" pitchFamily="34" charset="-122"/>
                <a:cs typeface="Calibri" pitchFamily="34" charset="-120"/>
              </a:rPr>
              <a:t>Optimise le trajet, pas le système : myope face aux files</a:t>
            </a:r>
            <a:endParaRPr lang="en-US" sz="1150" dirty="0"/>
          </a:p>
        </p:txBody>
      </p:sp>
      <p:sp>
        <p:nvSpPr>
          <p:cNvPr id="20" name="Text 18"/>
          <p:cNvSpPr/>
          <p:nvPr/>
        </p:nvSpPr>
        <p:spPr>
          <a:xfrm>
            <a:off x="457200" y="4572000"/>
            <a:ext cx="8229600" cy="457200"/>
          </a:xfrm>
          <a:prstGeom prst="rect">
            <a:avLst/>
          </a:prstGeom>
          <a:noFill/>
          <a:ln/>
        </p:spPr>
        <p:txBody>
          <a:bodyPr wrap="square" lIns="0" tIns="0" rIns="0" bIns="0" rtlCol="0" anchor="ctr"/>
          <a:lstStyle/>
          <a:p>
            <a:pPr marL="0" indent="0">
              <a:buNone/>
            </a:pPr>
            <a:r>
              <a:rPr lang="en-US" sz="1250" b="1" i="1" dirty="0">
                <a:solidFill>
                  <a:srgbClr val="8C4A1F"/>
                </a:solidFill>
                <a:latin typeface="Calibri" pitchFamily="34" charset="0"/>
                <a:ea typeface="Calibri" pitchFamily="34" charset="-122"/>
                <a:cs typeface="Calibri" pitchFamily="34" charset="-120"/>
              </a:rPr>
              <a:t>Constat : des règles déterministes, réactives mais jamais prédictives — efficaces en régime stable, structurellement incapables de s'adapter aux perturbations.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1 · CONTEXTE ET PROBLÉMATIQUE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Notre approche : remplacer la règle fixe par un agent qui apprend</a:t>
            </a:r>
            <a:endParaRPr lang="en-US" sz="2700" dirty="0"/>
          </a:p>
        </p:txBody>
      </p:sp>
      <p:sp>
        <p:nvSpPr>
          <p:cNvPr id="4" name="Shape 2"/>
          <p:cNvSpPr/>
          <p:nvPr/>
        </p:nvSpPr>
        <p:spPr>
          <a:xfrm>
            <a:off x="457200" y="1325880"/>
            <a:ext cx="4846320" cy="2395728"/>
          </a:xfrm>
          <a:prstGeom prst="roundRect">
            <a:avLst>
              <a:gd name="adj" fmla="val 2290"/>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5" name="Image 0" descr="Formulation_du_problème_en_tant_que_MDP_drawio.png"/>
          <p:cNvPicPr>
            <a:picLocks noChangeAspect="1"/>
          </p:cNvPicPr>
          <p:nvPr/>
        </p:nvPicPr>
        <p:blipFill>
          <a:blip r:embed="rId3"/>
          <a:stretch>
            <a:fillRect/>
          </a:stretch>
        </p:blipFill>
        <p:spPr>
          <a:xfrm>
            <a:off x="874967" y="1417320"/>
            <a:ext cx="4010787" cy="2212848"/>
          </a:xfrm>
          <a:prstGeom prst="rect">
            <a:avLst/>
          </a:prstGeom>
        </p:spPr>
      </p:pic>
      <p:sp>
        <p:nvSpPr>
          <p:cNvPr id="6" name="Text 3"/>
          <p:cNvSpPr/>
          <p:nvPr/>
        </p:nvSpPr>
        <p:spPr>
          <a:xfrm>
            <a:off x="457200" y="3794760"/>
            <a:ext cx="4846320" cy="566928"/>
          </a:xfrm>
          <a:prstGeom prst="rect">
            <a:avLst/>
          </a:prstGeom>
          <a:noFill/>
          <a:ln/>
        </p:spPr>
        <p:txBody>
          <a:bodyPr wrap="square" lIns="0" tIns="0" rIns="0" bIns="0" rtlCol="0" anchor="ctr"/>
          <a:lstStyle/>
          <a:p>
            <a:pPr marL="0" indent="0">
              <a:buNone/>
            </a:pPr>
            <a:r>
              <a:rPr lang="en-US" sz="1050" i="1" dirty="0">
                <a:solidFill>
                  <a:srgbClr val="5A6672"/>
                </a:solidFill>
                <a:latin typeface="Calibri" pitchFamily="34" charset="0"/>
                <a:ea typeface="Calibri" pitchFamily="34" charset="-122"/>
                <a:cs typeface="Calibri" pitchFamily="34" charset="-120"/>
              </a:rPr>
              <a:t>Boucle agent–environnement : l'agent observe l'état sₜ, choisit une action aₜ (affectation camion → pelle), reçoit une récompense rₜ.</a:t>
            </a:r>
            <a:endParaRPr lang="en-US" sz="1050" dirty="0"/>
          </a:p>
        </p:txBody>
      </p:sp>
      <p:sp>
        <p:nvSpPr>
          <p:cNvPr id="7" name="Shape 4"/>
          <p:cNvSpPr/>
          <p:nvPr/>
        </p:nvSpPr>
        <p:spPr>
          <a:xfrm>
            <a:off x="5532120" y="1325880"/>
            <a:ext cx="3154680" cy="1554480"/>
          </a:xfrm>
          <a:prstGeom prst="roundRect">
            <a:avLst>
              <a:gd name="adj" fmla="val 3529"/>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8" name="Text 5"/>
          <p:cNvSpPr/>
          <p:nvPr/>
        </p:nvSpPr>
        <p:spPr>
          <a:xfrm>
            <a:off x="5715000" y="1463040"/>
            <a:ext cx="2788920" cy="256032"/>
          </a:xfrm>
          <a:prstGeom prst="rect">
            <a:avLst/>
          </a:prstGeom>
          <a:noFill/>
          <a:ln/>
        </p:spPr>
        <p:txBody>
          <a:bodyPr wrap="square" lIns="0" tIns="0" rIns="0" bIns="0" rtlCol="0" anchor="ctr"/>
          <a:lstStyle/>
          <a:p>
            <a:pPr marL="0" indent="0">
              <a:buNone/>
            </a:pPr>
            <a:r>
              <a:rPr lang="en-US" sz="1250" b="1" dirty="0">
                <a:solidFill>
                  <a:srgbClr val="8C4A1F"/>
                </a:solidFill>
                <a:latin typeface="Calibri" pitchFamily="34" charset="0"/>
                <a:ea typeface="Calibri" pitchFamily="34" charset="-122"/>
                <a:cs typeface="Calibri" pitchFamily="34" charset="-120"/>
              </a:rPr>
              <a:t>Principe</a:t>
            </a:r>
            <a:endParaRPr lang="en-US" sz="1250" dirty="0"/>
          </a:p>
        </p:txBody>
      </p:sp>
      <p:sp>
        <p:nvSpPr>
          <p:cNvPr id="9" name="Text 6"/>
          <p:cNvSpPr/>
          <p:nvPr/>
        </p:nvSpPr>
        <p:spPr>
          <a:xfrm>
            <a:off x="5715000" y="1737360"/>
            <a:ext cx="2880360" cy="109728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22303F"/>
                </a:solidFill>
                <a:latin typeface="Calibri" pitchFamily="34" charset="0"/>
                <a:ea typeface="Calibri" pitchFamily="34" charset="-122"/>
                <a:cs typeface="Calibri" pitchFamily="34" charset="-120"/>
              </a:rPr>
              <a:t>L'agent apprend par essai-erreur sur des milliers d'épisodes simulés</a:t>
            </a:r>
            <a:endParaRPr lang="en-US" sz="1100" dirty="0"/>
          </a:p>
          <a:p>
            <a:pPr marL="342900" indent="-342900">
              <a:spcAft>
                <a:spcPts val="500"/>
              </a:spcAft>
              <a:buSzPct val="100000"/>
              <a:buChar char="•"/>
            </a:pPr>
            <a:r>
              <a:rPr lang="en-US" sz="1100" dirty="0">
                <a:solidFill>
                  <a:srgbClr val="22303F"/>
                </a:solidFill>
                <a:latin typeface="Calibri" pitchFamily="34" charset="0"/>
                <a:ea typeface="Calibri" pitchFamily="34" charset="-122"/>
                <a:cs typeface="Calibri" pitchFamily="34" charset="-120"/>
              </a:rPr>
              <a:t>Résultat : une politique adaptative face aux pannes, congestions et surcharges</a:t>
            </a:r>
            <a:endParaRPr lang="en-US" sz="1100" dirty="0"/>
          </a:p>
        </p:txBody>
      </p:sp>
      <p:sp>
        <p:nvSpPr>
          <p:cNvPr id="10" name="Shape 7"/>
          <p:cNvSpPr/>
          <p:nvPr/>
        </p:nvSpPr>
        <p:spPr>
          <a:xfrm>
            <a:off x="5532120" y="3035808"/>
            <a:ext cx="3154680" cy="1691640"/>
          </a:xfrm>
          <a:prstGeom prst="roundRect">
            <a:avLst>
              <a:gd name="adj" fmla="val 3243"/>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1" name="Text 8"/>
          <p:cNvSpPr/>
          <p:nvPr/>
        </p:nvSpPr>
        <p:spPr>
          <a:xfrm>
            <a:off x="5715000" y="3172968"/>
            <a:ext cx="2788920" cy="256032"/>
          </a:xfrm>
          <a:prstGeom prst="rect">
            <a:avLst/>
          </a:prstGeom>
          <a:noFill/>
          <a:ln/>
        </p:spPr>
        <p:txBody>
          <a:bodyPr wrap="square" lIns="0" tIns="0" rIns="0" bIns="0" rtlCol="0" anchor="ctr"/>
          <a:lstStyle/>
          <a:p>
            <a:pPr marL="0" indent="0">
              <a:buNone/>
            </a:pPr>
            <a:r>
              <a:rPr lang="en-US" sz="1250" b="1" dirty="0">
                <a:solidFill>
                  <a:srgbClr val="8C4A1F"/>
                </a:solidFill>
                <a:latin typeface="Calibri" pitchFamily="34" charset="0"/>
                <a:ea typeface="Calibri" pitchFamily="34" charset="-122"/>
                <a:cs typeface="Calibri" pitchFamily="34" charset="-120"/>
              </a:rPr>
              <a:t>Hypothèse centrale H1</a:t>
            </a:r>
            <a:endParaRPr lang="en-US" sz="1250" dirty="0"/>
          </a:p>
        </p:txBody>
      </p:sp>
      <p:sp>
        <p:nvSpPr>
          <p:cNvPr id="12" name="Text 9"/>
          <p:cNvSpPr/>
          <p:nvPr/>
        </p:nvSpPr>
        <p:spPr>
          <a:xfrm>
            <a:off x="5715000" y="3456432"/>
            <a:ext cx="2834640" cy="1188720"/>
          </a:xfrm>
          <a:prstGeom prst="rect">
            <a:avLst/>
          </a:prstGeom>
          <a:noFill/>
          <a:ln/>
        </p:spPr>
        <p:txBody>
          <a:bodyPr wrap="square" lIns="0" tIns="0" rIns="0" bIns="0" rtlCol="0" anchor="ctr"/>
          <a:lstStyle/>
          <a:p>
            <a:pPr marL="0" indent="0">
              <a:buNone/>
            </a:pPr>
            <a:r>
              <a:rPr lang="en-US" sz="1150" dirty="0">
                <a:solidFill>
                  <a:srgbClr val="22303F"/>
                </a:solidFill>
                <a:latin typeface="Calibri" pitchFamily="34" charset="0"/>
                <a:ea typeface="Calibri" pitchFamily="34" charset="-122"/>
                <a:cs typeface="Calibri" pitchFamily="34" charset="-120"/>
              </a:rPr>
              <a:t>Un agent RL peut surpasser les heuristiques industrielles en productivité, en consommation de carburant et en robustesse aux perturbations.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1 · CONTEXTE ET PROBLÉMATIQUE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Positionnement dans l'état de l'art</a:t>
            </a:r>
            <a:endParaRPr lang="en-US" sz="2700" dirty="0"/>
          </a:p>
        </p:txBody>
      </p:sp>
      <p:sp>
        <p:nvSpPr>
          <p:cNvPr id="4" name="Shape 2"/>
          <p:cNvSpPr/>
          <p:nvPr/>
        </p:nvSpPr>
        <p:spPr>
          <a:xfrm>
            <a:off x="457200" y="1371600"/>
            <a:ext cx="8229600" cy="914400"/>
          </a:xfrm>
          <a:prstGeom prst="roundRect">
            <a:avLst>
              <a:gd name="adj" fmla="val 600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Text 3"/>
          <p:cNvSpPr/>
          <p:nvPr/>
        </p:nvSpPr>
        <p:spPr>
          <a:xfrm>
            <a:off x="685800" y="1481328"/>
            <a:ext cx="2651760" cy="7315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Recherche opérationnelle classique</a:t>
            </a:r>
            <a:endParaRPr lang="en-US" sz="1250" dirty="0"/>
          </a:p>
        </p:txBody>
      </p:sp>
      <p:sp>
        <p:nvSpPr>
          <p:cNvPr id="6" name="Text 4"/>
          <p:cNvSpPr/>
          <p:nvPr/>
        </p:nvSpPr>
        <p:spPr>
          <a:xfrm>
            <a:off x="3429000" y="1481328"/>
            <a:ext cx="2651760" cy="731520"/>
          </a:xfrm>
          <a:prstGeom prst="rect">
            <a:avLst/>
          </a:prstGeom>
          <a:noFill/>
          <a:ln/>
        </p:spPr>
        <p:txBody>
          <a:bodyPr wrap="square" lIns="0" tIns="0" rIns="0" bIns="0" rtlCol="0" anchor="ctr"/>
          <a:lstStyle/>
          <a:p>
            <a:pPr marL="0" indent="0">
              <a:buNone/>
            </a:pPr>
            <a:r>
              <a:rPr lang="en-US" sz="1050" dirty="0">
                <a:solidFill>
                  <a:srgbClr val="5A6672"/>
                </a:solidFill>
                <a:latin typeface="Calibri" pitchFamily="34" charset="0"/>
                <a:ea typeface="Calibri" pitchFamily="34" charset="-122"/>
                <a:cs typeface="Calibri" pitchFamily="34" charset="-120"/>
              </a:rPr>
              <a:t>Programmation linéaire, files d'attente (années 1980–2000)</a:t>
            </a:r>
            <a:endParaRPr lang="en-US" sz="1050" dirty="0"/>
          </a:p>
        </p:txBody>
      </p:sp>
      <p:sp>
        <p:nvSpPr>
          <p:cNvPr id="7" name="Text 5"/>
          <p:cNvSpPr/>
          <p:nvPr/>
        </p:nvSpPr>
        <p:spPr>
          <a:xfrm>
            <a:off x="6217920" y="1481328"/>
            <a:ext cx="2286000" cy="731520"/>
          </a:xfrm>
          <a:prstGeom prst="rect">
            <a:avLst/>
          </a:prstGeom>
          <a:noFill/>
          <a:ln/>
        </p:spPr>
        <p:txBody>
          <a:bodyPr wrap="square" lIns="0" tIns="0" rIns="0" bIns="0" rtlCol="0" anchor="ctr"/>
          <a:lstStyle/>
          <a:p>
            <a:pPr marL="0" indent="0">
              <a:buNone/>
            </a:pPr>
            <a:r>
              <a:rPr lang="en-US" sz="1050" dirty="0">
                <a:solidFill>
                  <a:srgbClr val="8C4A1F"/>
                </a:solidFill>
                <a:latin typeface="Calibri" pitchFamily="34" charset="0"/>
                <a:ea typeface="Calibri" pitchFamily="34" charset="-122"/>
                <a:cs typeface="Calibri" pitchFamily="34" charset="-120"/>
              </a:rPr>
              <a:t>Optimalité statique : replanification coûteuse à chaque perturbation</a:t>
            </a:r>
            <a:endParaRPr lang="en-US" sz="1050" dirty="0"/>
          </a:p>
        </p:txBody>
      </p:sp>
      <p:sp>
        <p:nvSpPr>
          <p:cNvPr id="8" name="Shape 6"/>
          <p:cNvSpPr/>
          <p:nvPr/>
        </p:nvSpPr>
        <p:spPr>
          <a:xfrm>
            <a:off x="457200" y="2423160"/>
            <a:ext cx="8229600" cy="914400"/>
          </a:xfrm>
          <a:prstGeom prst="roundRect">
            <a:avLst>
              <a:gd name="adj" fmla="val 600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9" name="Text 7"/>
          <p:cNvSpPr/>
          <p:nvPr/>
        </p:nvSpPr>
        <p:spPr>
          <a:xfrm>
            <a:off x="685800" y="2532888"/>
            <a:ext cx="2651760" cy="7315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Systèmes FMS industriels</a:t>
            </a:r>
            <a:endParaRPr lang="en-US" sz="1250" dirty="0"/>
          </a:p>
        </p:txBody>
      </p:sp>
      <p:sp>
        <p:nvSpPr>
          <p:cNvPr id="10" name="Text 8"/>
          <p:cNvSpPr/>
          <p:nvPr/>
        </p:nvSpPr>
        <p:spPr>
          <a:xfrm>
            <a:off x="3429000" y="2532888"/>
            <a:ext cx="2651760" cy="731520"/>
          </a:xfrm>
          <a:prstGeom prst="rect">
            <a:avLst/>
          </a:prstGeom>
          <a:noFill/>
          <a:ln/>
        </p:spPr>
        <p:txBody>
          <a:bodyPr wrap="square" lIns="0" tIns="0" rIns="0" bIns="0" rtlCol="0" anchor="ctr"/>
          <a:lstStyle/>
          <a:p>
            <a:pPr marL="0" indent="0">
              <a:buNone/>
            </a:pPr>
            <a:r>
              <a:rPr lang="en-US" sz="1050" dirty="0">
                <a:solidFill>
                  <a:srgbClr val="5A6672"/>
                </a:solidFill>
                <a:latin typeface="Calibri" pitchFamily="34" charset="0"/>
                <a:ea typeface="Calibri" pitchFamily="34" charset="-122"/>
                <a:cs typeface="Calibri" pitchFamily="34" charset="-120"/>
              </a:rPr>
              <a:t>DISPATCH, Modular Mining — règles déterministes embarquées</a:t>
            </a:r>
            <a:endParaRPr lang="en-US" sz="1050" dirty="0"/>
          </a:p>
        </p:txBody>
      </p:sp>
      <p:sp>
        <p:nvSpPr>
          <p:cNvPr id="11" name="Text 9"/>
          <p:cNvSpPr/>
          <p:nvPr/>
        </p:nvSpPr>
        <p:spPr>
          <a:xfrm>
            <a:off x="6217920" y="2532888"/>
            <a:ext cx="2286000" cy="731520"/>
          </a:xfrm>
          <a:prstGeom prst="rect">
            <a:avLst/>
          </a:prstGeom>
          <a:noFill/>
          <a:ln/>
        </p:spPr>
        <p:txBody>
          <a:bodyPr wrap="square" lIns="0" tIns="0" rIns="0" bIns="0" rtlCol="0" anchor="ctr"/>
          <a:lstStyle/>
          <a:p>
            <a:pPr marL="0" indent="0">
              <a:buNone/>
            </a:pPr>
            <a:r>
              <a:rPr lang="en-US" sz="1050" dirty="0">
                <a:solidFill>
                  <a:srgbClr val="8C4A1F"/>
                </a:solidFill>
                <a:latin typeface="Calibri" pitchFamily="34" charset="0"/>
                <a:ea typeface="Calibri" pitchFamily="34" charset="-122"/>
                <a:cs typeface="Calibri" pitchFamily="34" charset="-120"/>
              </a:rPr>
              <a:t>Réactifs mais non prédictifs : aucune anticipation des états futurs</a:t>
            </a:r>
            <a:endParaRPr lang="en-US" sz="1050" dirty="0"/>
          </a:p>
        </p:txBody>
      </p:sp>
      <p:sp>
        <p:nvSpPr>
          <p:cNvPr id="12" name="Shape 10"/>
          <p:cNvSpPr/>
          <p:nvPr/>
        </p:nvSpPr>
        <p:spPr>
          <a:xfrm>
            <a:off x="457200" y="3474720"/>
            <a:ext cx="8229600" cy="914400"/>
          </a:xfrm>
          <a:prstGeom prst="roundRect">
            <a:avLst>
              <a:gd name="adj" fmla="val 600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3" name="Text 11"/>
          <p:cNvSpPr/>
          <p:nvPr/>
        </p:nvSpPr>
        <p:spPr>
          <a:xfrm>
            <a:off x="685800" y="3584448"/>
            <a:ext cx="2651760" cy="7315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RL appliqué au dispatching minier</a:t>
            </a:r>
            <a:endParaRPr lang="en-US" sz="1250" dirty="0"/>
          </a:p>
        </p:txBody>
      </p:sp>
      <p:sp>
        <p:nvSpPr>
          <p:cNvPr id="14" name="Text 12"/>
          <p:cNvSpPr/>
          <p:nvPr/>
        </p:nvSpPr>
        <p:spPr>
          <a:xfrm>
            <a:off x="3429000" y="3584448"/>
            <a:ext cx="2651760" cy="731520"/>
          </a:xfrm>
          <a:prstGeom prst="rect">
            <a:avLst/>
          </a:prstGeom>
          <a:noFill/>
          <a:ln/>
        </p:spPr>
        <p:txBody>
          <a:bodyPr wrap="square" lIns="0" tIns="0" rIns="0" bIns="0" rtlCol="0" anchor="ctr"/>
          <a:lstStyle/>
          <a:p>
            <a:pPr marL="0" indent="0">
              <a:buNone/>
            </a:pPr>
            <a:r>
              <a:rPr lang="en-US" sz="1050" dirty="0">
                <a:solidFill>
                  <a:srgbClr val="5A6672"/>
                </a:solidFill>
                <a:latin typeface="Calibri" pitchFamily="34" charset="0"/>
                <a:ea typeface="Calibri" pitchFamily="34" charset="-122"/>
                <a:cs typeface="Calibri" pitchFamily="34" charset="-120"/>
              </a:rPr>
              <a:t>Travaux récents (Hazrathosseini &amp; Afrapoli 2022 ; de Carvalho &amp; Dimitrakopoulos)</a:t>
            </a:r>
            <a:endParaRPr lang="en-US" sz="1050" dirty="0"/>
          </a:p>
        </p:txBody>
      </p:sp>
      <p:sp>
        <p:nvSpPr>
          <p:cNvPr id="15" name="Text 13"/>
          <p:cNvSpPr/>
          <p:nvPr/>
        </p:nvSpPr>
        <p:spPr>
          <a:xfrm>
            <a:off x="6217920" y="3584448"/>
            <a:ext cx="2286000" cy="731520"/>
          </a:xfrm>
          <a:prstGeom prst="rect">
            <a:avLst/>
          </a:prstGeom>
          <a:noFill/>
          <a:ln/>
        </p:spPr>
        <p:txBody>
          <a:bodyPr wrap="square" lIns="0" tIns="0" rIns="0" bIns="0" rtlCol="0" anchor="ctr"/>
          <a:lstStyle/>
          <a:p>
            <a:pPr marL="0" indent="0">
              <a:buNone/>
            </a:pPr>
            <a:r>
              <a:rPr lang="en-US" sz="1050" dirty="0">
                <a:solidFill>
                  <a:srgbClr val="8C4A1F"/>
                </a:solidFill>
                <a:latin typeface="Calibri" pitchFamily="34" charset="0"/>
                <a:ea typeface="Calibri" pitchFamily="34" charset="-122"/>
                <a:cs typeface="Calibri" pitchFamily="34" charset="-120"/>
              </a:rPr>
              <a:t>Cadres encore incomplets : peu de benchmarks systématiques multi-scénarios</a:t>
            </a:r>
            <a:endParaRPr lang="en-US" sz="1050" dirty="0"/>
          </a:p>
        </p:txBody>
      </p:sp>
      <p:sp>
        <p:nvSpPr>
          <p:cNvPr id="16" name="Text 14"/>
          <p:cNvSpPr/>
          <p:nvPr/>
        </p:nvSpPr>
        <p:spPr>
          <a:xfrm>
            <a:off x="457200" y="4572000"/>
            <a:ext cx="8229600" cy="457200"/>
          </a:xfrm>
          <a:prstGeom prst="rect">
            <a:avLst/>
          </a:prstGeom>
          <a:noFill/>
          <a:ln/>
        </p:spPr>
        <p:txBody>
          <a:bodyPr wrap="square" lIns="0" tIns="0" rIns="0" bIns="0" rtlCol="0" anchor="ctr"/>
          <a:lstStyle/>
          <a:p>
            <a:pPr marL="0" indent="0">
              <a:buNone/>
            </a:pPr>
            <a:r>
              <a:rPr lang="en-US" sz="1250" b="1" i="1" dirty="0">
                <a:solidFill>
                  <a:srgbClr val="8C4A1F"/>
                </a:solidFill>
                <a:latin typeface="Calibri" pitchFamily="34" charset="0"/>
                <a:ea typeface="Calibri" pitchFamily="34" charset="-122"/>
                <a:cs typeface="Calibri" pitchFamily="34" charset="-120"/>
              </a:rPr>
              <a:t>Notre positionnement : un benchmark rigoureux et reproductible — 4 agents RL contre 4 heuristiques industrielles, 3 scénarios, validation statistique complète.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2 · CADRE MÉTHODOLOGIQUE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CRISP-RL : un cycle de vie structuré pour le projet</a:t>
            </a:r>
            <a:endParaRPr lang="en-US" sz="2700" dirty="0"/>
          </a:p>
        </p:txBody>
      </p:sp>
      <p:sp>
        <p:nvSpPr>
          <p:cNvPr id="4" name="Shape 2"/>
          <p:cNvSpPr/>
          <p:nvPr/>
        </p:nvSpPr>
        <p:spPr>
          <a:xfrm>
            <a:off x="457200" y="1325880"/>
            <a:ext cx="4297680" cy="3429000"/>
          </a:xfrm>
          <a:prstGeom prst="roundRect">
            <a:avLst>
              <a:gd name="adj" fmla="val 1600"/>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5" name="Image 0" descr="cycle_CRISPRL_drawio.png"/>
          <p:cNvPicPr>
            <a:picLocks noChangeAspect="1"/>
          </p:cNvPicPr>
          <p:nvPr/>
        </p:nvPicPr>
        <p:blipFill>
          <a:blip r:embed="rId3"/>
          <a:stretch>
            <a:fillRect/>
          </a:stretch>
        </p:blipFill>
        <p:spPr>
          <a:xfrm>
            <a:off x="577215" y="1417320"/>
            <a:ext cx="4057650" cy="3246120"/>
          </a:xfrm>
          <a:prstGeom prst="rect">
            <a:avLst/>
          </a:prstGeom>
        </p:spPr>
      </p:pic>
      <p:sp>
        <p:nvSpPr>
          <p:cNvPr id="6" name="Shape 3"/>
          <p:cNvSpPr/>
          <p:nvPr/>
        </p:nvSpPr>
        <p:spPr>
          <a:xfrm>
            <a:off x="4983480" y="1325880"/>
            <a:ext cx="3703320" cy="1042416"/>
          </a:xfrm>
          <a:prstGeom prst="roundRect">
            <a:avLst>
              <a:gd name="adj" fmla="val 526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7" name="Text 4"/>
          <p:cNvSpPr/>
          <p:nvPr/>
        </p:nvSpPr>
        <p:spPr>
          <a:xfrm>
            <a:off x="5138928" y="1435608"/>
            <a:ext cx="566928" cy="822960"/>
          </a:xfrm>
          <a:prstGeom prst="rect">
            <a:avLst/>
          </a:prstGeom>
          <a:noFill/>
          <a:ln/>
        </p:spPr>
        <p:txBody>
          <a:bodyPr wrap="square" lIns="0" tIns="0" rIns="0" bIns="0" rtlCol="0" anchor="ctr"/>
          <a:lstStyle/>
          <a:p>
            <a:pPr marL="0" indent="0">
              <a:buNone/>
            </a:pPr>
            <a:r>
              <a:rPr lang="en-US" sz="1700" b="1" dirty="0">
                <a:solidFill>
                  <a:srgbClr val="B4622D"/>
                </a:solidFill>
                <a:latin typeface="Cambria" pitchFamily="34" charset="0"/>
                <a:ea typeface="Cambria" pitchFamily="34" charset="-122"/>
                <a:cs typeface="Cambria" pitchFamily="34" charset="-120"/>
              </a:rPr>
              <a:t>1–2</a:t>
            </a:r>
            <a:endParaRPr lang="en-US" sz="1700" dirty="0"/>
          </a:p>
        </p:txBody>
      </p:sp>
      <p:sp>
        <p:nvSpPr>
          <p:cNvPr id="8" name="Text 5"/>
          <p:cNvSpPr/>
          <p:nvPr/>
        </p:nvSpPr>
        <p:spPr>
          <a:xfrm>
            <a:off x="5742432" y="1417320"/>
            <a:ext cx="2788920" cy="301752"/>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Définition des buts et modélisation</a:t>
            </a:r>
            <a:endParaRPr lang="en-US" sz="1150" dirty="0"/>
          </a:p>
        </p:txBody>
      </p:sp>
      <p:sp>
        <p:nvSpPr>
          <p:cNvPr id="9" name="Text 6"/>
          <p:cNvSpPr/>
          <p:nvPr/>
        </p:nvSpPr>
        <p:spPr>
          <a:xfrm>
            <a:off x="5742432" y="1719072"/>
            <a:ext cx="2816352" cy="621792"/>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Traduction des KPIs métier (tonnage, équité, carburant) en fonction de récompense ; simulateur Gymnasium</a:t>
            </a:r>
            <a:endParaRPr lang="en-US" sz="950" dirty="0"/>
          </a:p>
        </p:txBody>
      </p:sp>
      <p:sp>
        <p:nvSpPr>
          <p:cNvPr id="10" name="Shape 7"/>
          <p:cNvSpPr/>
          <p:nvPr/>
        </p:nvSpPr>
        <p:spPr>
          <a:xfrm>
            <a:off x="4983480" y="2496312"/>
            <a:ext cx="3703320" cy="1042416"/>
          </a:xfrm>
          <a:prstGeom prst="roundRect">
            <a:avLst>
              <a:gd name="adj" fmla="val 526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1" name="Text 8"/>
          <p:cNvSpPr/>
          <p:nvPr/>
        </p:nvSpPr>
        <p:spPr>
          <a:xfrm>
            <a:off x="5138928" y="2606040"/>
            <a:ext cx="566928" cy="822960"/>
          </a:xfrm>
          <a:prstGeom prst="rect">
            <a:avLst/>
          </a:prstGeom>
          <a:noFill/>
          <a:ln/>
        </p:spPr>
        <p:txBody>
          <a:bodyPr wrap="square" lIns="0" tIns="0" rIns="0" bIns="0" rtlCol="0" anchor="ctr"/>
          <a:lstStyle/>
          <a:p>
            <a:pPr marL="0" indent="0">
              <a:buNone/>
            </a:pPr>
            <a:r>
              <a:rPr lang="en-US" sz="1700" b="1" dirty="0">
                <a:solidFill>
                  <a:srgbClr val="B4622D"/>
                </a:solidFill>
                <a:latin typeface="Cambria" pitchFamily="34" charset="0"/>
                <a:ea typeface="Cambria" pitchFamily="34" charset="-122"/>
                <a:cs typeface="Cambria" pitchFamily="34" charset="-120"/>
              </a:rPr>
              <a:t>3–4</a:t>
            </a:r>
            <a:endParaRPr lang="en-US" sz="1700" dirty="0"/>
          </a:p>
        </p:txBody>
      </p:sp>
      <p:sp>
        <p:nvSpPr>
          <p:cNvPr id="12" name="Text 9"/>
          <p:cNvSpPr/>
          <p:nvPr/>
        </p:nvSpPr>
        <p:spPr>
          <a:xfrm>
            <a:off x="5742432" y="2587752"/>
            <a:ext cx="2788920" cy="301752"/>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Formulation MDP et conception de l'agent</a:t>
            </a:r>
            <a:endParaRPr lang="en-US" sz="1150" dirty="0"/>
          </a:p>
        </p:txBody>
      </p:sp>
      <p:sp>
        <p:nvSpPr>
          <p:cNvPr id="13" name="Text 10"/>
          <p:cNvSpPr/>
          <p:nvPr/>
        </p:nvSpPr>
        <p:spPr>
          <a:xfrm>
            <a:off x="5742432" y="2889504"/>
            <a:ext cx="2816352" cy="621792"/>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Variables d'état et d'action ; architecture DRL (MLP 128×2, ReLU/Softmax)</a:t>
            </a:r>
            <a:endParaRPr lang="en-US" sz="950" dirty="0"/>
          </a:p>
        </p:txBody>
      </p:sp>
      <p:sp>
        <p:nvSpPr>
          <p:cNvPr id="14" name="Shape 11"/>
          <p:cNvSpPr/>
          <p:nvPr/>
        </p:nvSpPr>
        <p:spPr>
          <a:xfrm>
            <a:off x="4983480" y="3666744"/>
            <a:ext cx="3703320" cy="1042416"/>
          </a:xfrm>
          <a:prstGeom prst="roundRect">
            <a:avLst>
              <a:gd name="adj" fmla="val 526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5" name="Text 12"/>
          <p:cNvSpPr/>
          <p:nvPr/>
        </p:nvSpPr>
        <p:spPr>
          <a:xfrm>
            <a:off x="5138928" y="3776472"/>
            <a:ext cx="566928" cy="822960"/>
          </a:xfrm>
          <a:prstGeom prst="rect">
            <a:avLst/>
          </a:prstGeom>
          <a:noFill/>
          <a:ln/>
        </p:spPr>
        <p:txBody>
          <a:bodyPr wrap="square" lIns="0" tIns="0" rIns="0" bIns="0" rtlCol="0" anchor="ctr"/>
          <a:lstStyle/>
          <a:p>
            <a:pPr marL="0" indent="0">
              <a:buNone/>
            </a:pPr>
            <a:r>
              <a:rPr lang="en-US" sz="1700" b="1" dirty="0">
                <a:solidFill>
                  <a:srgbClr val="B4622D"/>
                </a:solidFill>
                <a:latin typeface="Cambria" pitchFamily="34" charset="0"/>
                <a:ea typeface="Cambria" pitchFamily="34" charset="-122"/>
                <a:cs typeface="Cambria" pitchFamily="34" charset="-120"/>
              </a:rPr>
              <a:t>5–6</a:t>
            </a:r>
            <a:endParaRPr lang="en-US" sz="1700" dirty="0"/>
          </a:p>
        </p:txBody>
      </p:sp>
      <p:sp>
        <p:nvSpPr>
          <p:cNvPr id="16" name="Text 13"/>
          <p:cNvSpPr/>
          <p:nvPr/>
        </p:nvSpPr>
        <p:spPr>
          <a:xfrm>
            <a:off x="5742432" y="3758184"/>
            <a:ext cx="2788920" cy="301752"/>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Entraînement, test et évaluation robustesse</a:t>
            </a:r>
            <a:endParaRPr lang="en-US" sz="1150" dirty="0"/>
          </a:p>
        </p:txBody>
      </p:sp>
      <p:sp>
        <p:nvSpPr>
          <p:cNvPr id="17" name="Text 14"/>
          <p:cNvSpPr/>
          <p:nvPr/>
        </p:nvSpPr>
        <p:spPr>
          <a:xfrm>
            <a:off x="5742432" y="4059936"/>
            <a:ext cx="2816352" cy="621792"/>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Exploration/exploitation, hyperparamètres ; benchmark contre les heuristiques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2 · CADRE MÉTHODOLOGIQUE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Formulation du problème en Processus de Décision Markovien</a:t>
            </a:r>
            <a:endParaRPr lang="en-US" sz="2700" dirty="0"/>
          </a:p>
        </p:txBody>
      </p:sp>
      <p:sp>
        <p:nvSpPr>
          <p:cNvPr id="4" name="Shape 2"/>
          <p:cNvSpPr/>
          <p:nvPr/>
        </p:nvSpPr>
        <p:spPr>
          <a:xfrm>
            <a:off x="457200" y="1371600"/>
            <a:ext cx="8229600" cy="731520"/>
          </a:xfrm>
          <a:prstGeom prst="roundRect">
            <a:avLst>
              <a:gd name="adj" fmla="val 750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Text 3"/>
          <p:cNvSpPr/>
          <p:nvPr/>
        </p:nvSpPr>
        <p:spPr>
          <a:xfrm>
            <a:off x="685800" y="1463040"/>
            <a:ext cx="1600200" cy="548640"/>
          </a:xfrm>
          <a:prstGeom prst="rect">
            <a:avLst/>
          </a:prstGeom>
          <a:noFill/>
          <a:ln/>
        </p:spPr>
        <p:txBody>
          <a:bodyPr wrap="square" lIns="0" tIns="0" rIns="0" bIns="0" rtlCol="0" anchor="ctr"/>
          <a:lstStyle/>
          <a:p>
            <a:pPr marL="0" indent="0">
              <a:buNone/>
            </a:pPr>
            <a:r>
              <a:rPr lang="en-US" sz="1400" b="1" dirty="0">
                <a:solidFill>
                  <a:srgbClr val="8C4A1F"/>
                </a:solidFill>
                <a:latin typeface="Cambria" pitchFamily="34" charset="0"/>
                <a:ea typeface="Cambria" pitchFamily="34" charset="-122"/>
                <a:cs typeface="Cambria" pitchFamily="34" charset="-120"/>
              </a:rPr>
              <a:t>État  sₜ</a:t>
            </a:r>
            <a:endParaRPr lang="en-US" sz="1400" dirty="0"/>
          </a:p>
        </p:txBody>
      </p:sp>
      <p:sp>
        <p:nvSpPr>
          <p:cNvPr id="6" name="Text 4"/>
          <p:cNvSpPr/>
          <p:nvPr/>
        </p:nvSpPr>
        <p:spPr>
          <a:xfrm>
            <a:off x="2377440" y="1463040"/>
            <a:ext cx="3429000" cy="548640"/>
          </a:xfrm>
          <a:prstGeom prst="rect">
            <a:avLst/>
          </a:prstGeom>
          <a:noFill/>
          <a:ln/>
        </p:spPr>
        <p:txBody>
          <a:bodyPr wrap="square" lIns="0" tIns="0" rIns="0" bIns="0" rtlCol="0" anchor="ctr"/>
          <a:lstStyle/>
          <a:p>
            <a:pPr marL="0" indent="0">
              <a:buNone/>
            </a:pPr>
            <a:r>
              <a:rPr lang="en-US" sz="1100" dirty="0">
                <a:solidFill>
                  <a:srgbClr val="22303F"/>
                </a:solidFill>
                <a:latin typeface="Calibri" pitchFamily="34" charset="0"/>
                <a:ea typeface="Calibri" pitchFamily="34" charset="-122"/>
                <a:cs typeface="Calibri" pitchFamily="34" charset="-120"/>
              </a:rPr>
              <a:t>Files des pelles, positions des camions, disponibilités, temps courant</a:t>
            </a:r>
            <a:endParaRPr lang="en-US" sz="1100" dirty="0"/>
          </a:p>
        </p:txBody>
      </p:sp>
      <p:sp>
        <p:nvSpPr>
          <p:cNvPr id="7" name="Text 5"/>
          <p:cNvSpPr/>
          <p:nvPr/>
        </p:nvSpPr>
        <p:spPr>
          <a:xfrm>
            <a:off x="5943600" y="1463040"/>
            <a:ext cx="2560320" cy="548640"/>
          </a:xfrm>
          <a:prstGeom prst="rect">
            <a:avLst/>
          </a:prstGeom>
          <a:noFill/>
          <a:ln/>
        </p:spPr>
        <p:txBody>
          <a:bodyPr wrap="square" lIns="0" tIns="0" rIns="0" bIns="0" rtlCol="0" anchor="ctr"/>
          <a:lstStyle/>
          <a:p>
            <a:pPr marL="0" indent="0">
              <a:buNone/>
            </a:pPr>
            <a:r>
              <a:rPr lang="en-US" sz="1050" b="1" dirty="0">
                <a:solidFill>
                  <a:srgbClr val="5A6672"/>
                </a:solidFill>
                <a:latin typeface="Calibri" pitchFamily="34" charset="0"/>
                <a:ea typeface="Calibri" pitchFamily="34" charset="-122"/>
                <a:cs typeface="Calibri" pitchFamily="34" charset="-120"/>
              </a:rPr>
              <a:t>147 features normalisées [0, 1]</a:t>
            </a:r>
            <a:endParaRPr lang="en-US" sz="1050" dirty="0"/>
          </a:p>
        </p:txBody>
      </p:sp>
      <p:sp>
        <p:nvSpPr>
          <p:cNvPr id="8" name="Shape 6"/>
          <p:cNvSpPr/>
          <p:nvPr/>
        </p:nvSpPr>
        <p:spPr>
          <a:xfrm>
            <a:off x="457200" y="2212848"/>
            <a:ext cx="8229600" cy="731520"/>
          </a:xfrm>
          <a:prstGeom prst="roundRect">
            <a:avLst>
              <a:gd name="adj" fmla="val 750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9" name="Text 7"/>
          <p:cNvSpPr/>
          <p:nvPr/>
        </p:nvSpPr>
        <p:spPr>
          <a:xfrm>
            <a:off x="685800" y="2304288"/>
            <a:ext cx="1600200" cy="548640"/>
          </a:xfrm>
          <a:prstGeom prst="rect">
            <a:avLst/>
          </a:prstGeom>
          <a:noFill/>
          <a:ln/>
        </p:spPr>
        <p:txBody>
          <a:bodyPr wrap="square" lIns="0" tIns="0" rIns="0" bIns="0" rtlCol="0" anchor="ctr"/>
          <a:lstStyle/>
          <a:p>
            <a:pPr marL="0" indent="0">
              <a:buNone/>
            </a:pPr>
            <a:r>
              <a:rPr lang="en-US" sz="1400" b="1" dirty="0">
                <a:solidFill>
                  <a:srgbClr val="8C4A1F"/>
                </a:solidFill>
                <a:latin typeface="Cambria" pitchFamily="34" charset="0"/>
                <a:ea typeface="Cambria" pitchFamily="34" charset="-122"/>
                <a:cs typeface="Cambria" pitchFamily="34" charset="-120"/>
              </a:rPr>
              <a:t>Action  aₜ</a:t>
            </a:r>
            <a:endParaRPr lang="en-US" sz="1400" dirty="0"/>
          </a:p>
        </p:txBody>
      </p:sp>
      <p:sp>
        <p:nvSpPr>
          <p:cNvPr id="10" name="Text 8"/>
          <p:cNvSpPr/>
          <p:nvPr/>
        </p:nvSpPr>
        <p:spPr>
          <a:xfrm>
            <a:off x="2377440" y="2304288"/>
            <a:ext cx="3429000" cy="548640"/>
          </a:xfrm>
          <a:prstGeom prst="rect">
            <a:avLst/>
          </a:prstGeom>
          <a:noFill/>
          <a:ln/>
        </p:spPr>
        <p:txBody>
          <a:bodyPr wrap="square" lIns="0" tIns="0" rIns="0" bIns="0" rtlCol="0" anchor="ctr"/>
          <a:lstStyle/>
          <a:p>
            <a:pPr marL="0" indent="0">
              <a:buNone/>
            </a:pPr>
            <a:r>
              <a:rPr lang="en-US" sz="1100" dirty="0">
                <a:solidFill>
                  <a:srgbClr val="22303F"/>
                </a:solidFill>
                <a:latin typeface="Calibri" pitchFamily="34" charset="0"/>
                <a:ea typeface="Calibri" pitchFamily="34" charset="-122"/>
                <a:cs typeface="Calibri" pitchFamily="34" charset="-120"/>
              </a:rPr>
              <a:t>Paire (pelle pᵢ, dump dⱼ) ou ATTENDRE</a:t>
            </a:r>
            <a:endParaRPr lang="en-US" sz="1100" dirty="0"/>
          </a:p>
        </p:txBody>
      </p:sp>
      <p:sp>
        <p:nvSpPr>
          <p:cNvPr id="11" name="Text 9"/>
          <p:cNvSpPr/>
          <p:nvPr/>
        </p:nvSpPr>
        <p:spPr>
          <a:xfrm>
            <a:off x="5943600" y="2304288"/>
            <a:ext cx="2560320" cy="548640"/>
          </a:xfrm>
          <a:prstGeom prst="rect">
            <a:avLst/>
          </a:prstGeom>
          <a:noFill/>
          <a:ln/>
        </p:spPr>
        <p:txBody>
          <a:bodyPr wrap="square" lIns="0" tIns="0" rIns="0" bIns="0" rtlCol="0" anchor="ctr"/>
          <a:lstStyle/>
          <a:p>
            <a:pPr marL="0" indent="0">
              <a:buNone/>
            </a:pPr>
            <a:r>
              <a:rPr lang="en-US" sz="1050" b="1" dirty="0">
                <a:solidFill>
                  <a:srgbClr val="5A6672"/>
                </a:solidFill>
                <a:latin typeface="Calibri" pitchFamily="34" charset="0"/>
                <a:ea typeface="Calibri" pitchFamily="34" charset="-122"/>
                <a:cs typeface="Calibri" pitchFamily="34" charset="-120"/>
              </a:rPr>
              <a:t>Espace Discrete(7) : 3×2 affectations + attente</a:t>
            </a:r>
            <a:endParaRPr lang="en-US" sz="1050" dirty="0"/>
          </a:p>
        </p:txBody>
      </p:sp>
      <p:sp>
        <p:nvSpPr>
          <p:cNvPr id="12" name="Shape 10"/>
          <p:cNvSpPr/>
          <p:nvPr/>
        </p:nvSpPr>
        <p:spPr>
          <a:xfrm>
            <a:off x="457200" y="3054096"/>
            <a:ext cx="8229600" cy="731520"/>
          </a:xfrm>
          <a:prstGeom prst="roundRect">
            <a:avLst>
              <a:gd name="adj" fmla="val 750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3" name="Text 11"/>
          <p:cNvSpPr/>
          <p:nvPr/>
        </p:nvSpPr>
        <p:spPr>
          <a:xfrm>
            <a:off x="685800" y="3145536"/>
            <a:ext cx="1600200" cy="548640"/>
          </a:xfrm>
          <a:prstGeom prst="rect">
            <a:avLst/>
          </a:prstGeom>
          <a:noFill/>
          <a:ln/>
        </p:spPr>
        <p:txBody>
          <a:bodyPr wrap="square" lIns="0" tIns="0" rIns="0" bIns="0" rtlCol="0" anchor="ctr"/>
          <a:lstStyle/>
          <a:p>
            <a:pPr marL="0" indent="0">
              <a:buNone/>
            </a:pPr>
            <a:r>
              <a:rPr lang="en-US" sz="1400" b="1" dirty="0">
                <a:solidFill>
                  <a:srgbClr val="8C4A1F"/>
                </a:solidFill>
                <a:latin typeface="Cambria" pitchFamily="34" charset="0"/>
                <a:ea typeface="Cambria" pitchFamily="34" charset="-122"/>
                <a:cs typeface="Cambria" pitchFamily="34" charset="-120"/>
              </a:rPr>
              <a:t>Transition  𝒫</a:t>
            </a:r>
            <a:endParaRPr lang="en-US" sz="1400" dirty="0"/>
          </a:p>
        </p:txBody>
      </p:sp>
      <p:sp>
        <p:nvSpPr>
          <p:cNvPr id="14" name="Text 12"/>
          <p:cNvSpPr/>
          <p:nvPr/>
        </p:nvSpPr>
        <p:spPr>
          <a:xfrm>
            <a:off x="2377440" y="3145536"/>
            <a:ext cx="3429000" cy="548640"/>
          </a:xfrm>
          <a:prstGeom prst="rect">
            <a:avLst/>
          </a:prstGeom>
          <a:noFill/>
          <a:ln/>
        </p:spPr>
        <p:txBody>
          <a:bodyPr wrap="square" lIns="0" tIns="0" rIns="0" bIns="0" rtlCol="0" anchor="ctr"/>
          <a:lstStyle/>
          <a:p>
            <a:pPr marL="0" indent="0">
              <a:buNone/>
            </a:pPr>
            <a:r>
              <a:rPr lang="en-US" sz="1100" dirty="0">
                <a:solidFill>
                  <a:srgbClr val="22303F"/>
                </a:solidFill>
                <a:latin typeface="Calibri" pitchFamily="34" charset="0"/>
                <a:ea typeface="Calibri" pitchFamily="34" charset="-122"/>
                <a:cs typeface="Calibri" pitchFamily="34" charset="-120"/>
              </a:rPr>
              <a:t>Simulateur stochastique : temps de trajet log-normaux</a:t>
            </a:r>
            <a:endParaRPr lang="en-US" sz="1100" dirty="0"/>
          </a:p>
        </p:txBody>
      </p:sp>
      <p:sp>
        <p:nvSpPr>
          <p:cNvPr id="15" name="Text 13"/>
          <p:cNvSpPr/>
          <p:nvPr/>
        </p:nvSpPr>
        <p:spPr>
          <a:xfrm>
            <a:off x="5943600" y="3145536"/>
            <a:ext cx="2560320" cy="548640"/>
          </a:xfrm>
          <a:prstGeom prst="rect">
            <a:avLst/>
          </a:prstGeom>
          <a:noFill/>
          <a:ln/>
        </p:spPr>
        <p:txBody>
          <a:bodyPr wrap="square" lIns="0" tIns="0" rIns="0" bIns="0" rtlCol="0" anchor="ctr"/>
          <a:lstStyle/>
          <a:p>
            <a:pPr marL="0" indent="0">
              <a:buNone/>
            </a:pPr>
            <a:r>
              <a:rPr lang="en-US" sz="1050" b="1" dirty="0">
                <a:solidFill>
                  <a:srgbClr val="5A6672"/>
                </a:solidFill>
                <a:latin typeface="Calibri" pitchFamily="34" charset="0"/>
                <a:ea typeface="Calibri" pitchFamily="34" charset="-122"/>
                <a:cs typeface="Calibri" pitchFamily="34" charset="-120"/>
              </a:rPr>
              <a:t>Tᵢⱼ ~ LogNormale(T̄, σ = 0,12) + pannes 𝒰[10, 30] min</a:t>
            </a:r>
            <a:endParaRPr lang="en-US" sz="1050" dirty="0"/>
          </a:p>
        </p:txBody>
      </p:sp>
      <p:sp>
        <p:nvSpPr>
          <p:cNvPr id="16" name="Shape 14"/>
          <p:cNvSpPr/>
          <p:nvPr/>
        </p:nvSpPr>
        <p:spPr>
          <a:xfrm>
            <a:off x="457200" y="3895344"/>
            <a:ext cx="8229600" cy="731520"/>
          </a:xfrm>
          <a:prstGeom prst="roundRect">
            <a:avLst>
              <a:gd name="adj" fmla="val 750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7" name="Text 15"/>
          <p:cNvSpPr/>
          <p:nvPr/>
        </p:nvSpPr>
        <p:spPr>
          <a:xfrm>
            <a:off x="685800" y="3986784"/>
            <a:ext cx="1600200" cy="548640"/>
          </a:xfrm>
          <a:prstGeom prst="rect">
            <a:avLst/>
          </a:prstGeom>
          <a:noFill/>
          <a:ln/>
        </p:spPr>
        <p:txBody>
          <a:bodyPr wrap="square" lIns="0" tIns="0" rIns="0" bIns="0" rtlCol="0" anchor="ctr"/>
          <a:lstStyle/>
          <a:p>
            <a:pPr marL="0" indent="0">
              <a:buNone/>
            </a:pPr>
            <a:r>
              <a:rPr lang="en-US" sz="1400" b="1" dirty="0">
                <a:solidFill>
                  <a:srgbClr val="8C4A1F"/>
                </a:solidFill>
                <a:latin typeface="Cambria" pitchFamily="34" charset="0"/>
                <a:ea typeface="Cambria" pitchFamily="34" charset="-122"/>
                <a:cs typeface="Cambria" pitchFamily="34" charset="-120"/>
              </a:rPr>
              <a:t>Récompense  Rₜ</a:t>
            </a:r>
            <a:endParaRPr lang="en-US" sz="1400" dirty="0"/>
          </a:p>
        </p:txBody>
      </p:sp>
      <p:sp>
        <p:nvSpPr>
          <p:cNvPr id="18" name="Text 16"/>
          <p:cNvSpPr/>
          <p:nvPr/>
        </p:nvSpPr>
        <p:spPr>
          <a:xfrm>
            <a:off x="2377440" y="3986784"/>
            <a:ext cx="3429000" cy="548640"/>
          </a:xfrm>
          <a:prstGeom prst="rect">
            <a:avLst/>
          </a:prstGeom>
          <a:noFill/>
          <a:ln/>
        </p:spPr>
        <p:txBody>
          <a:bodyPr wrap="square" lIns="0" tIns="0" rIns="0" bIns="0" rtlCol="0" anchor="ctr"/>
          <a:lstStyle/>
          <a:p>
            <a:pPr marL="0" indent="0">
              <a:buNone/>
            </a:pPr>
            <a:r>
              <a:rPr lang="en-US" sz="1100" dirty="0">
                <a:solidFill>
                  <a:srgbClr val="22303F"/>
                </a:solidFill>
                <a:latin typeface="Calibri" pitchFamily="34" charset="0"/>
                <a:ea typeface="Calibri" pitchFamily="34" charset="-122"/>
                <a:cs typeface="Calibri" pitchFamily="34" charset="-120"/>
              </a:rPr>
              <a:t>Somme pondérée : rendement + équité + coût + attente</a:t>
            </a:r>
            <a:endParaRPr lang="en-US" sz="1100" dirty="0"/>
          </a:p>
        </p:txBody>
      </p:sp>
      <p:sp>
        <p:nvSpPr>
          <p:cNvPr id="19" name="Text 17"/>
          <p:cNvSpPr/>
          <p:nvPr/>
        </p:nvSpPr>
        <p:spPr>
          <a:xfrm>
            <a:off x="5943600" y="3986784"/>
            <a:ext cx="2560320" cy="548640"/>
          </a:xfrm>
          <a:prstGeom prst="rect">
            <a:avLst/>
          </a:prstGeom>
          <a:noFill/>
          <a:ln/>
        </p:spPr>
        <p:txBody>
          <a:bodyPr wrap="square" lIns="0" tIns="0" rIns="0" bIns="0" rtlCol="0" anchor="ctr"/>
          <a:lstStyle/>
          <a:p>
            <a:pPr marL="0" indent="0">
              <a:buNone/>
            </a:pPr>
            <a:r>
              <a:rPr lang="en-US" sz="1050" b="1" dirty="0">
                <a:solidFill>
                  <a:srgbClr val="5A6672"/>
                </a:solidFill>
                <a:latin typeface="Calibri" pitchFamily="34" charset="0"/>
                <a:ea typeface="Calibri" pitchFamily="34" charset="-122"/>
                <a:cs typeface="Calibri" pitchFamily="34" charset="-120"/>
              </a:rPr>
              <a:t>w₁ = 1,0 · w₂ = 0,1 · w₃ = 0,05 · w₄ = 0,3</a:t>
            </a:r>
            <a:endParaRPr lang="en-US" sz="1050" dirty="0"/>
          </a:p>
        </p:txBody>
      </p:sp>
      <p:sp>
        <p:nvSpPr>
          <p:cNvPr id="20" name="Text 18"/>
          <p:cNvSpPr/>
          <p:nvPr/>
        </p:nvSpPr>
        <p:spPr>
          <a:xfrm>
            <a:off x="457200" y="4700016"/>
            <a:ext cx="8229600" cy="384048"/>
          </a:xfrm>
          <a:prstGeom prst="rect">
            <a:avLst/>
          </a:prstGeom>
          <a:noFill/>
          <a:ln/>
        </p:spPr>
        <p:txBody>
          <a:bodyPr wrap="square" lIns="0" tIns="0" rIns="0" bIns="0" rtlCol="0" anchor="ctr"/>
          <a:lstStyle/>
          <a:p>
            <a:pPr marL="0" indent="0">
              <a:buNone/>
            </a:pPr>
            <a:r>
              <a:rPr lang="en-US" sz="1150" i="1" dirty="0">
                <a:solidFill>
                  <a:schemeClr val="bg1"/>
                </a:solidFill>
                <a:latin typeface="Calibri" pitchFamily="34" charset="0"/>
                <a:ea typeface="Calibri" pitchFamily="34" charset="-122"/>
                <a:cs typeface="Calibri" pitchFamily="34" charset="-120"/>
              </a:rPr>
              <a:t>Pourquoi 147 dimensions ? 12 camions × positions one-hot (7 nœuds) + files des 3 pelles et 2 dumps + disponibilités + temps + distances = 147 features.</a:t>
            </a:r>
            <a:endParaRPr lang="en-US" sz="115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2 · CADRE MÉTHODOLOGIQUE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L'environnement simulé : un réseau routier minier réaliste</a:t>
            </a:r>
            <a:endParaRPr lang="en-US" sz="2700" dirty="0"/>
          </a:p>
        </p:txBody>
      </p:sp>
      <p:sp>
        <p:nvSpPr>
          <p:cNvPr id="4" name="Shape 2"/>
          <p:cNvSpPr/>
          <p:nvPr/>
        </p:nvSpPr>
        <p:spPr>
          <a:xfrm>
            <a:off x="457200" y="1325880"/>
            <a:ext cx="5394960" cy="3429000"/>
          </a:xfrm>
          <a:prstGeom prst="roundRect">
            <a:avLst>
              <a:gd name="adj" fmla="val 1600"/>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5" name="Image 0" descr="graphe_reseau_minier.png"/>
          <p:cNvPicPr>
            <a:picLocks noChangeAspect="1"/>
          </p:cNvPicPr>
          <p:nvPr/>
        </p:nvPicPr>
        <p:blipFill>
          <a:blip r:embed="rId3"/>
          <a:stretch>
            <a:fillRect/>
          </a:stretch>
        </p:blipFill>
        <p:spPr>
          <a:xfrm>
            <a:off x="548640" y="1536895"/>
            <a:ext cx="5212080" cy="3006969"/>
          </a:xfrm>
          <a:prstGeom prst="rect">
            <a:avLst/>
          </a:prstGeom>
        </p:spPr>
      </p:pic>
      <p:sp>
        <p:nvSpPr>
          <p:cNvPr id="6" name="Shape 3"/>
          <p:cNvSpPr/>
          <p:nvPr/>
        </p:nvSpPr>
        <p:spPr>
          <a:xfrm>
            <a:off x="5989320" y="1325880"/>
            <a:ext cx="2697480" cy="768096"/>
          </a:xfrm>
          <a:prstGeom prst="roundRect">
            <a:avLst>
              <a:gd name="adj" fmla="val 71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7" name="Text 4"/>
          <p:cNvSpPr/>
          <p:nvPr/>
        </p:nvSpPr>
        <p:spPr>
          <a:xfrm>
            <a:off x="6144768" y="1408176"/>
            <a:ext cx="2423160" cy="256032"/>
          </a:xfrm>
          <a:prstGeom prst="rect">
            <a:avLst/>
          </a:prstGeom>
          <a:noFill/>
          <a:ln/>
        </p:spPr>
        <p:txBody>
          <a:bodyPr wrap="square" lIns="0" tIns="0" rIns="0" bIns="0" rtlCol="0" anchor="ctr"/>
          <a:lstStyle/>
          <a:p>
            <a:pPr marL="0" indent="0">
              <a:buNone/>
            </a:pPr>
            <a:r>
              <a:rPr lang="en-US" sz="1150" b="1" dirty="0">
                <a:solidFill>
                  <a:srgbClr val="8C4A1F"/>
                </a:solidFill>
                <a:latin typeface="Calibri" pitchFamily="34" charset="0"/>
                <a:ea typeface="Calibri" pitchFamily="34" charset="-122"/>
                <a:cs typeface="Calibri" pitchFamily="34" charset="-120"/>
              </a:rPr>
              <a:t>7 nœuds</a:t>
            </a:r>
            <a:endParaRPr lang="en-US" sz="1150" dirty="0"/>
          </a:p>
        </p:txBody>
      </p:sp>
      <p:sp>
        <p:nvSpPr>
          <p:cNvPr id="8" name="Text 5"/>
          <p:cNvSpPr/>
          <p:nvPr/>
        </p:nvSpPr>
        <p:spPr>
          <a:xfrm>
            <a:off x="6144768" y="1664208"/>
            <a:ext cx="2423160" cy="411480"/>
          </a:xfrm>
          <a:prstGeom prst="rect">
            <a:avLst/>
          </a:prstGeom>
          <a:noFill/>
          <a:ln/>
        </p:spPr>
        <p:txBody>
          <a:bodyPr wrap="square" lIns="0" tIns="0" rIns="0" bIns="0" rtlCol="0" anchor="ctr"/>
          <a:lstStyle/>
          <a:p>
            <a:pPr marL="0" indent="0">
              <a:buNone/>
            </a:pPr>
            <a:r>
              <a:rPr lang="en-US" sz="900" dirty="0">
                <a:solidFill>
                  <a:srgbClr val="5A6672"/>
                </a:solidFill>
                <a:latin typeface="Calibri" pitchFamily="34" charset="0"/>
                <a:ea typeface="Calibri" pitchFamily="34" charset="-122"/>
                <a:cs typeface="Calibri" pitchFamily="34" charset="-120"/>
              </a:rPr>
              <a:t>1 yard, 1 jonction, 3 pelles (P1–P3), 2 dumps (D1–D2) — 24 arêtes orientées</a:t>
            </a:r>
            <a:endParaRPr lang="en-US" sz="900" dirty="0"/>
          </a:p>
        </p:txBody>
      </p:sp>
      <p:sp>
        <p:nvSpPr>
          <p:cNvPr id="9" name="Shape 6"/>
          <p:cNvSpPr/>
          <p:nvPr/>
        </p:nvSpPr>
        <p:spPr>
          <a:xfrm>
            <a:off x="5989320" y="2203704"/>
            <a:ext cx="2697480" cy="768096"/>
          </a:xfrm>
          <a:prstGeom prst="roundRect">
            <a:avLst>
              <a:gd name="adj" fmla="val 71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0" name="Text 7"/>
          <p:cNvSpPr/>
          <p:nvPr/>
        </p:nvSpPr>
        <p:spPr>
          <a:xfrm>
            <a:off x="6144768" y="2286000"/>
            <a:ext cx="2423160" cy="256032"/>
          </a:xfrm>
          <a:prstGeom prst="rect">
            <a:avLst/>
          </a:prstGeom>
          <a:noFill/>
          <a:ln/>
        </p:spPr>
        <p:txBody>
          <a:bodyPr wrap="square" lIns="0" tIns="0" rIns="0" bIns="0" rtlCol="0" anchor="ctr"/>
          <a:lstStyle/>
          <a:p>
            <a:pPr marL="0" indent="0">
              <a:buNone/>
            </a:pPr>
            <a:r>
              <a:rPr lang="en-US" sz="1150" b="1" dirty="0">
                <a:solidFill>
                  <a:srgbClr val="8C4A1F"/>
                </a:solidFill>
                <a:latin typeface="Calibri" pitchFamily="34" charset="0"/>
                <a:ea typeface="Calibri" pitchFamily="34" charset="-122"/>
                <a:cs typeface="Calibri" pitchFamily="34" charset="-120"/>
              </a:rPr>
              <a:t>Distances 0,8 – 4,3 km</a:t>
            </a:r>
            <a:endParaRPr lang="en-US" sz="1150" dirty="0"/>
          </a:p>
        </p:txBody>
      </p:sp>
      <p:sp>
        <p:nvSpPr>
          <p:cNvPr id="11" name="Text 8"/>
          <p:cNvSpPr/>
          <p:nvPr/>
        </p:nvSpPr>
        <p:spPr>
          <a:xfrm>
            <a:off x="6144768" y="2542032"/>
            <a:ext cx="2423160" cy="411480"/>
          </a:xfrm>
          <a:prstGeom prst="rect">
            <a:avLst/>
          </a:prstGeom>
          <a:noFill/>
          <a:ln/>
        </p:spPr>
        <p:txBody>
          <a:bodyPr wrap="square" lIns="0" tIns="0" rIns="0" bIns="0" rtlCol="0" anchor="ctr"/>
          <a:lstStyle/>
          <a:p>
            <a:pPr marL="0" indent="0">
              <a:buNone/>
            </a:pPr>
            <a:r>
              <a:rPr lang="en-US" sz="900" dirty="0">
                <a:solidFill>
                  <a:srgbClr val="5A6672"/>
                </a:solidFill>
                <a:latin typeface="Calibri" pitchFamily="34" charset="0"/>
                <a:ea typeface="Calibri" pitchFamily="34" charset="-122"/>
                <a:cs typeface="Calibri" pitchFamily="34" charset="-120"/>
              </a:rPr>
              <a:t>Pentes de 2 à 8 % intégrées au calcul de consommation</a:t>
            </a:r>
            <a:endParaRPr lang="en-US" sz="900" dirty="0"/>
          </a:p>
        </p:txBody>
      </p:sp>
      <p:sp>
        <p:nvSpPr>
          <p:cNvPr id="12" name="Shape 9"/>
          <p:cNvSpPr/>
          <p:nvPr/>
        </p:nvSpPr>
        <p:spPr>
          <a:xfrm>
            <a:off x="5989320" y="3081528"/>
            <a:ext cx="2697480" cy="768096"/>
          </a:xfrm>
          <a:prstGeom prst="roundRect">
            <a:avLst>
              <a:gd name="adj" fmla="val 71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3" name="Text 10"/>
          <p:cNvSpPr/>
          <p:nvPr/>
        </p:nvSpPr>
        <p:spPr>
          <a:xfrm>
            <a:off x="6144768" y="3163824"/>
            <a:ext cx="2423160" cy="256032"/>
          </a:xfrm>
          <a:prstGeom prst="rect">
            <a:avLst/>
          </a:prstGeom>
          <a:noFill/>
          <a:ln/>
        </p:spPr>
        <p:txBody>
          <a:bodyPr wrap="square" lIns="0" tIns="0" rIns="0" bIns="0" rtlCol="0" anchor="ctr"/>
          <a:lstStyle/>
          <a:p>
            <a:pPr marL="0" indent="0">
              <a:buNone/>
            </a:pPr>
            <a:r>
              <a:rPr lang="en-US" sz="1150" b="1" dirty="0">
                <a:solidFill>
                  <a:srgbClr val="8C4A1F"/>
                </a:solidFill>
                <a:latin typeface="Calibri" pitchFamily="34" charset="0"/>
                <a:ea typeface="Calibri" pitchFamily="34" charset="-122"/>
                <a:cs typeface="Calibri" pitchFamily="34" charset="-120"/>
              </a:rPr>
              <a:t>Stochasticité</a:t>
            </a:r>
            <a:endParaRPr lang="en-US" sz="1150" dirty="0"/>
          </a:p>
        </p:txBody>
      </p:sp>
      <p:sp>
        <p:nvSpPr>
          <p:cNvPr id="14" name="Text 11"/>
          <p:cNvSpPr/>
          <p:nvPr/>
        </p:nvSpPr>
        <p:spPr>
          <a:xfrm>
            <a:off x="6144768" y="3419856"/>
            <a:ext cx="2423160" cy="411480"/>
          </a:xfrm>
          <a:prstGeom prst="rect">
            <a:avLst/>
          </a:prstGeom>
          <a:noFill/>
          <a:ln/>
        </p:spPr>
        <p:txBody>
          <a:bodyPr wrap="square" lIns="0" tIns="0" rIns="0" bIns="0" rtlCol="0" anchor="ctr"/>
          <a:lstStyle/>
          <a:p>
            <a:pPr marL="0" indent="0">
              <a:buNone/>
            </a:pPr>
            <a:r>
              <a:rPr lang="en-US" sz="900" dirty="0">
                <a:solidFill>
                  <a:srgbClr val="5A6672"/>
                </a:solidFill>
                <a:latin typeface="Calibri" pitchFamily="34" charset="0"/>
                <a:ea typeface="Calibri" pitchFamily="34" charset="-122"/>
                <a:cs typeface="Calibri" pitchFamily="34" charset="-120"/>
              </a:rPr>
              <a:t>Trajets log-normaux (σ = 0,12), pannes 𝒰[10, 30] min, dégradation des routes</a:t>
            </a:r>
            <a:endParaRPr lang="en-US" sz="900" dirty="0"/>
          </a:p>
        </p:txBody>
      </p:sp>
      <p:sp>
        <p:nvSpPr>
          <p:cNvPr id="15" name="Shape 12"/>
          <p:cNvSpPr/>
          <p:nvPr/>
        </p:nvSpPr>
        <p:spPr>
          <a:xfrm>
            <a:off x="5989320" y="3959352"/>
            <a:ext cx="2697480" cy="768096"/>
          </a:xfrm>
          <a:prstGeom prst="roundRect">
            <a:avLst>
              <a:gd name="adj" fmla="val 71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6" name="Text 13"/>
          <p:cNvSpPr/>
          <p:nvPr/>
        </p:nvSpPr>
        <p:spPr>
          <a:xfrm>
            <a:off x="6144768" y="4041648"/>
            <a:ext cx="2423160" cy="256032"/>
          </a:xfrm>
          <a:prstGeom prst="rect">
            <a:avLst/>
          </a:prstGeom>
          <a:noFill/>
          <a:ln/>
        </p:spPr>
        <p:txBody>
          <a:bodyPr wrap="square" lIns="0" tIns="0" rIns="0" bIns="0" rtlCol="0" anchor="ctr"/>
          <a:lstStyle/>
          <a:p>
            <a:pPr marL="0" indent="0">
              <a:buNone/>
            </a:pPr>
            <a:r>
              <a:rPr lang="en-US" sz="1150" b="1" dirty="0">
                <a:solidFill>
                  <a:srgbClr val="8C4A1F"/>
                </a:solidFill>
                <a:latin typeface="Calibri" pitchFamily="34" charset="0"/>
                <a:ea typeface="Calibri" pitchFamily="34" charset="-122"/>
                <a:cs typeface="Calibri" pitchFamily="34" charset="-120"/>
              </a:rPr>
              <a:t>Conformité Gymnasium</a:t>
            </a:r>
            <a:endParaRPr lang="en-US" sz="1150" dirty="0"/>
          </a:p>
        </p:txBody>
      </p:sp>
      <p:sp>
        <p:nvSpPr>
          <p:cNvPr id="17" name="Text 14"/>
          <p:cNvSpPr/>
          <p:nvPr/>
        </p:nvSpPr>
        <p:spPr>
          <a:xfrm>
            <a:off x="6144768" y="4297680"/>
            <a:ext cx="2423160" cy="411480"/>
          </a:xfrm>
          <a:prstGeom prst="rect">
            <a:avLst/>
          </a:prstGeom>
          <a:noFill/>
          <a:ln/>
        </p:spPr>
        <p:txBody>
          <a:bodyPr wrap="square" lIns="0" tIns="0" rIns="0" bIns="0" rtlCol="0" anchor="ctr"/>
          <a:lstStyle/>
          <a:p>
            <a:pPr marL="0" indent="0">
              <a:buNone/>
            </a:pPr>
            <a:r>
              <a:rPr lang="en-US" sz="900" dirty="0">
                <a:solidFill>
                  <a:srgbClr val="5A6672"/>
                </a:solidFill>
                <a:latin typeface="Calibri" pitchFamily="34" charset="0"/>
                <a:ea typeface="Calibri" pitchFamily="34" charset="-122"/>
                <a:cs typeface="Calibri" pitchFamily="34" charset="-120"/>
              </a:rPr>
              <a:t>API reset / step / render — validé par gymnasium.utils.check_env() ✓</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2 · CADRE MÉTHODOLOGIQUE — CONTRIBUTION ORIGINALE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Calibration du signal de récompense : le terme w₄</a:t>
            </a:r>
            <a:endParaRPr lang="en-US" sz="2700" dirty="0"/>
          </a:p>
        </p:txBody>
      </p:sp>
      <p:sp>
        <p:nvSpPr>
          <p:cNvPr id="4" name="Text 2"/>
          <p:cNvSpPr/>
          <p:nvPr/>
        </p:nvSpPr>
        <p:spPr>
          <a:xfrm>
            <a:off x="457200" y="1298448"/>
            <a:ext cx="8229600" cy="347472"/>
          </a:xfrm>
          <a:prstGeom prst="rect">
            <a:avLst/>
          </a:prstGeom>
          <a:noFill/>
          <a:ln/>
        </p:spPr>
        <p:txBody>
          <a:bodyPr wrap="square" lIns="0" tIns="0" rIns="0" bIns="0" rtlCol="0" anchor="ctr"/>
          <a:lstStyle/>
          <a:p>
            <a:pPr marL="0" indent="0" algn="ctr">
              <a:buNone/>
            </a:pPr>
            <a:r>
              <a:rPr lang="en-US" sz="1400" b="1" dirty="0">
                <a:solidFill>
                  <a:srgbClr val="22303F"/>
                </a:solidFill>
                <a:latin typeface="Cambria" pitchFamily="34" charset="0"/>
                <a:ea typeface="Cambria" pitchFamily="34" charset="-122"/>
                <a:cs typeface="Cambria" pitchFamily="34" charset="-120"/>
              </a:rPr>
              <a:t>Rₜ  =  w₁·R_rendement  +  w₂·R_équité  +  w₃·R_coût  +  w₄·R_attente        avec  w₁ = 1,0 · w₂ = 0,1 · w₃ = 0,05 · w₄ = 0,3</a:t>
            </a:r>
            <a:endParaRPr lang="en-US" sz="1400" dirty="0"/>
          </a:p>
        </p:txBody>
      </p:sp>
      <p:sp>
        <p:nvSpPr>
          <p:cNvPr id="5" name="Shape 3"/>
          <p:cNvSpPr/>
          <p:nvPr/>
        </p:nvSpPr>
        <p:spPr>
          <a:xfrm>
            <a:off x="457200" y="1828800"/>
            <a:ext cx="2651760" cy="1737360"/>
          </a:xfrm>
          <a:prstGeom prst="roundRect">
            <a:avLst>
              <a:gd name="adj" fmla="val 3158"/>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6" name="Text 4"/>
          <p:cNvSpPr/>
          <p:nvPr/>
        </p:nvSpPr>
        <p:spPr>
          <a:xfrm>
            <a:off x="621792" y="1975104"/>
            <a:ext cx="2331720" cy="2743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Sans w₄</a:t>
            </a:r>
            <a:endParaRPr lang="en-US" sz="1250" dirty="0"/>
          </a:p>
        </p:txBody>
      </p:sp>
      <p:sp>
        <p:nvSpPr>
          <p:cNvPr id="7" name="Text 5"/>
          <p:cNvSpPr/>
          <p:nvPr/>
        </p:nvSpPr>
        <p:spPr>
          <a:xfrm>
            <a:off x="621792" y="2258568"/>
            <a:ext cx="2331720" cy="365760"/>
          </a:xfrm>
          <a:prstGeom prst="rect">
            <a:avLst/>
          </a:prstGeom>
          <a:noFill/>
          <a:ln/>
        </p:spPr>
        <p:txBody>
          <a:bodyPr wrap="square" lIns="0" tIns="0" rIns="0" bIns="0" rtlCol="0" anchor="ctr"/>
          <a:lstStyle/>
          <a:p>
            <a:pPr marL="0" indent="0">
              <a:buNone/>
            </a:pPr>
            <a:r>
              <a:rPr lang="en-US" sz="1700" b="1" dirty="0">
                <a:solidFill>
                  <a:srgbClr val="B03A2E"/>
                </a:solidFill>
                <a:latin typeface="Cambria" pitchFamily="34" charset="0"/>
                <a:ea typeface="Cambria" pitchFamily="34" charset="-122"/>
                <a:cs typeface="Cambria" pitchFamily="34" charset="-120"/>
              </a:rPr>
              <a:t>ΔR &lt; 6 × 10⁻⁴</a:t>
            </a:r>
            <a:endParaRPr lang="en-US" sz="1700" dirty="0"/>
          </a:p>
        </p:txBody>
      </p:sp>
      <p:sp>
        <p:nvSpPr>
          <p:cNvPr id="8" name="Text 6"/>
          <p:cNvSpPr/>
          <p:nvPr/>
        </p:nvSpPr>
        <p:spPr>
          <a:xfrm>
            <a:off x="621792" y="2651760"/>
            <a:ext cx="2359152" cy="841248"/>
          </a:xfrm>
          <a:prstGeom prst="rect">
            <a:avLst/>
          </a:prstGeom>
          <a:noFill/>
          <a:ln/>
        </p:spPr>
        <p:txBody>
          <a:bodyPr wrap="square" lIns="0" tIns="0" rIns="0" bIns="0" rtlCol="0" anchor="ctr"/>
          <a:lstStyle/>
          <a:p>
            <a:pPr marL="0" indent="0">
              <a:buNone/>
            </a:pPr>
            <a:r>
              <a:rPr lang="en-US" sz="980" dirty="0">
                <a:solidFill>
                  <a:srgbClr val="5A6672"/>
                </a:solidFill>
                <a:latin typeface="Calibri" pitchFamily="34" charset="0"/>
                <a:ea typeface="Calibri" pitchFamily="34" charset="-122"/>
                <a:cs typeface="Calibri" pitchFamily="34" charset="-120"/>
              </a:rPr>
              <a:t>ATTENDRE indiscernable d'une action productive — apprentissage tabulaire impossible</a:t>
            </a:r>
            <a:endParaRPr lang="en-US" sz="980" dirty="0"/>
          </a:p>
        </p:txBody>
      </p:sp>
      <p:sp>
        <p:nvSpPr>
          <p:cNvPr id="9" name="Shape 7"/>
          <p:cNvSpPr/>
          <p:nvPr/>
        </p:nvSpPr>
        <p:spPr>
          <a:xfrm>
            <a:off x="3291840" y="1828800"/>
            <a:ext cx="2651760" cy="1737360"/>
          </a:xfrm>
          <a:prstGeom prst="roundRect">
            <a:avLst>
              <a:gd name="adj" fmla="val 3158"/>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0" name="Text 8"/>
          <p:cNvSpPr/>
          <p:nvPr/>
        </p:nvSpPr>
        <p:spPr>
          <a:xfrm>
            <a:off x="3456432" y="1975104"/>
            <a:ext cx="2331720" cy="2743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w₄ = 0,3  (retenu)</a:t>
            </a:r>
            <a:endParaRPr lang="en-US" sz="1250" dirty="0"/>
          </a:p>
        </p:txBody>
      </p:sp>
      <p:sp>
        <p:nvSpPr>
          <p:cNvPr id="11" name="Text 9"/>
          <p:cNvSpPr/>
          <p:nvPr/>
        </p:nvSpPr>
        <p:spPr>
          <a:xfrm>
            <a:off x="3456432" y="2258568"/>
            <a:ext cx="2331720" cy="365760"/>
          </a:xfrm>
          <a:prstGeom prst="rect">
            <a:avLst/>
          </a:prstGeom>
          <a:noFill/>
          <a:ln/>
        </p:spPr>
        <p:txBody>
          <a:bodyPr wrap="square" lIns="0" tIns="0" rIns="0" bIns="0" rtlCol="0" anchor="ctr"/>
          <a:lstStyle/>
          <a:p>
            <a:pPr marL="0" indent="0">
              <a:buNone/>
            </a:pPr>
            <a:r>
              <a:rPr lang="en-US" sz="1700" b="1" dirty="0">
                <a:solidFill>
                  <a:srgbClr val="2E7D32"/>
                </a:solidFill>
                <a:latin typeface="Cambria" pitchFamily="34" charset="0"/>
                <a:ea typeface="Cambria" pitchFamily="34" charset="-122"/>
                <a:cs typeface="Cambria" pitchFamily="34" charset="-120"/>
              </a:rPr>
              <a:t>ΔR = 3,2 × 10⁻²</a:t>
            </a:r>
            <a:endParaRPr lang="en-US" sz="1700" dirty="0"/>
          </a:p>
        </p:txBody>
      </p:sp>
      <p:sp>
        <p:nvSpPr>
          <p:cNvPr id="12" name="Text 10"/>
          <p:cNvSpPr/>
          <p:nvPr/>
        </p:nvSpPr>
        <p:spPr>
          <a:xfrm>
            <a:off x="3456432" y="2651760"/>
            <a:ext cx="2359152" cy="841248"/>
          </a:xfrm>
          <a:prstGeom prst="rect">
            <a:avLst/>
          </a:prstGeom>
          <a:noFill/>
          <a:ln/>
        </p:spPr>
        <p:txBody>
          <a:bodyPr wrap="square" lIns="0" tIns="0" rIns="0" bIns="0" rtlCol="0" anchor="ctr"/>
          <a:lstStyle/>
          <a:p>
            <a:pPr marL="0" indent="0">
              <a:buNone/>
            </a:pPr>
            <a:r>
              <a:rPr lang="en-US" sz="980" dirty="0">
                <a:solidFill>
                  <a:srgbClr val="5A6672"/>
                </a:solidFill>
                <a:latin typeface="Calibri" pitchFamily="34" charset="0"/>
                <a:ea typeface="Calibri" pitchFamily="34" charset="-122"/>
                <a:cs typeface="Calibri" pitchFamily="34" charset="-120"/>
              </a:rPr>
              <a:t>Signal multiplié ×53 : tout cycle productif surpasse ATTENDRE — convergence effective</a:t>
            </a:r>
            <a:endParaRPr lang="en-US" sz="980" dirty="0"/>
          </a:p>
        </p:txBody>
      </p:sp>
      <p:sp>
        <p:nvSpPr>
          <p:cNvPr id="13" name="Shape 11"/>
          <p:cNvSpPr/>
          <p:nvPr/>
        </p:nvSpPr>
        <p:spPr>
          <a:xfrm>
            <a:off x="6126480" y="1828800"/>
            <a:ext cx="2651760" cy="1737360"/>
          </a:xfrm>
          <a:prstGeom prst="roundRect">
            <a:avLst>
              <a:gd name="adj" fmla="val 3158"/>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4" name="Text 12"/>
          <p:cNvSpPr/>
          <p:nvPr/>
        </p:nvSpPr>
        <p:spPr>
          <a:xfrm>
            <a:off x="6291072" y="1975104"/>
            <a:ext cx="2331720" cy="2743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w₄ = 1,0  (rejeté)</a:t>
            </a:r>
            <a:endParaRPr lang="en-US" sz="1250" dirty="0"/>
          </a:p>
        </p:txBody>
      </p:sp>
      <p:sp>
        <p:nvSpPr>
          <p:cNvPr id="15" name="Text 13"/>
          <p:cNvSpPr/>
          <p:nvPr/>
        </p:nvSpPr>
        <p:spPr>
          <a:xfrm>
            <a:off x="6291072" y="2258568"/>
            <a:ext cx="2331720" cy="365760"/>
          </a:xfrm>
          <a:prstGeom prst="rect">
            <a:avLst/>
          </a:prstGeom>
          <a:noFill/>
          <a:ln/>
        </p:spPr>
        <p:txBody>
          <a:bodyPr wrap="square" lIns="0" tIns="0" rIns="0" bIns="0" rtlCol="0" anchor="ctr"/>
          <a:lstStyle/>
          <a:p>
            <a:pPr marL="0" indent="0">
              <a:buNone/>
            </a:pPr>
            <a:r>
              <a:rPr lang="en-US" sz="1700" b="1" dirty="0">
                <a:solidFill>
                  <a:srgbClr val="B8860B"/>
                </a:solidFill>
                <a:latin typeface="Cambria" pitchFamily="34" charset="0"/>
                <a:ea typeface="Cambria" pitchFamily="34" charset="-122"/>
                <a:cs typeface="Cambria" pitchFamily="34" charset="-120"/>
              </a:rPr>
              <a:t>Pénalité excessive</a:t>
            </a:r>
            <a:endParaRPr lang="en-US" sz="1700" dirty="0"/>
          </a:p>
        </p:txBody>
      </p:sp>
      <p:sp>
        <p:nvSpPr>
          <p:cNvPr id="16" name="Text 14"/>
          <p:cNvSpPr/>
          <p:nvPr/>
        </p:nvSpPr>
        <p:spPr>
          <a:xfrm>
            <a:off x="6291072" y="2651760"/>
            <a:ext cx="2359152" cy="841248"/>
          </a:xfrm>
          <a:prstGeom prst="rect">
            <a:avLst/>
          </a:prstGeom>
          <a:noFill/>
          <a:ln/>
        </p:spPr>
        <p:txBody>
          <a:bodyPr wrap="square" lIns="0" tIns="0" rIns="0" bIns="0" rtlCol="0" anchor="ctr"/>
          <a:lstStyle/>
          <a:p>
            <a:pPr marL="0" indent="0">
              <a:buNone/>
            </a:pPr>
            <a:r>
              <a:rPr lang="en-US" sz="980" dirty="0">
                <a:solidFill>
                  <a:srgbClr val="5A6672"/>
                </a:solidFill>
                <a:latin typeface="Calibri" pitchFamily="34" charset="0"/>
                <a:ea typeface="Calibri" pitchFamily="34" charset="-122"/>
                <a:cs typeface="Calibri" pitchFamily="34" charset="-120"/>
              </a:rPr>
              <a:t>ATTENDRE devient trop compétitive : l'agent sur-pénalise les files et fige la flotte</a:t>
            </a:r>
            <a:endParaRPr lang="en-US" sz="980" dirty="0"/>
          </a:p>
        </p:txBody>
      </p:sp>
      <p:sp>
        <p:nvSpPr>
          <p:cNvPr id="17" name="Shape 15"/>
          <p:cNvSpPr/>
          <p:nvPr/>
        </p:nvSpPr>
        <p:spPr>
          <a:xfrm>
            <a:off x="457200" y="3749040"/>
            <a:ext cx="8229600" cy="1005840"/>
          </a:xfrm>
          <a:prstGeom prst="roundRect">
            <a:avLst>
              <a:gd name="adj" fmla="val 5455"/>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8" name="Text 16"/>
          <p:cNvSpPr/>
          <p:nvPr/>
        </p:nvSpPr>
        <p:spPr>
          <a:xfrm>
            <a:off x="658368" y="3877056"/>
            <a:ext cx="7863840" cy="256032"/>
          </a:xfrm>
          <a:prstGeom prst="rect">
            <a:avLst/>
          </a:prstGeom>
          <a:noFill/>
          <a:ln/>
        </p:spPr>
        <p:txBody>
          <a:bodyPr wrap="square" lIns="0" tIns="0" rIns="0" bIns="0" rtlCol="0" anchor="ctr"/>
          <a:lstStyle/>
          <a:p>
            <a:pPr marL="0" indent="0">
              <a:buNone/>
            </a:pPr>
            <a:r>
              <a:rPr lang="en-US" sz="1200" b="1" dirty="0">
                <a:solidFill>
                  <a:srgbClr val="8C4A1F"/>
                </a:solidFill>
                <a:latin typeface="Calibri" pitchFamily="34" charset="0"/>
                <a:ea typeface="Calibri" pitchFamily="34" charset="-122"/>
                <a:cs typeface="Calibri" pitchFamily="34" charset="-120"/>
              </a:rPr>
              <a:t>Démarche de calibration (Tableau 5.4 du mémoire)</a:t>
            </a:r>
            <a:endParaRPr lang="en-US" sz="1200" dirty="0"/>
          </a:p>
        </p:txBody>
      </p:sp>
      <p:sp>
        <p:nvSpPr>
          <p:cNvPr id="19" name="Text 17"/>
          <p:cNvSpPr/>
          <p:nvPr/>
        </p:nvSpPr>
        <p:spPr>
          <a:xfrm>
            <a:off x="658368" y="4133088"/>
            <a:ext cx="7863840" cy="566928"/>
          </a:xfrm>
          <a:prstGeom prst="rect">
            <a:avLst/>
          </a:prstGeom>
          <a:noFill/>
          <a:ln/>
        </p:spPr>
        <p:txBody>
          <a:bodyPr wrap="square" lIns="0" tIns="0" rIns="0" bIns="0" rtlCol="0" anchor="ctr"/>
          <a:lstStyle/>
          <a:p>
            <a:pPr marL="0" indent="0">
              <a:buNone/>
            </a:pPr>
            <a:r>
              <a:rPr lang="en-US" sz="1050" dirty="0">
                <a:solidFill>
                  <a:srgbClr val="22303F"/>
                </a:solidFill>
                <a:latin typeface="Calibri" pitchFamily="34" charset="0"/>
                <a:ea typeface="Calibri" pitchFamily="34" charset="-122"/>
                <a:cs typeface="Calibri" pitchFamily="34" charset="-120"/>
              </a:rPr>
              <a:t>Diagnostic empirique : mesure de l'écart de récompense ΔR entre l'action ATTENDRE et la meilleure action productive, sur états représentatifs. La formulation initiale à 3 termes rendait le signal non discriminant ; l'ajout du terme de pénalité d'attente directe (w₄ = 0,3) a débloqué la convergence de Q-Learning et SARSA.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3 · ALGORITHMES ET SIMULATION</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Une progression algorithmique justifiée à chaque étape</a:t>
            </a:r>
            <a:endParaRPr lang="en-US" sz="2700" dirty="0"/>
          </a:p>
        </p:txBody>
      </p:sp>
      <p:sp>
        <p:nvSpPr>
          <p:cNvPr id="4" name="Shape 2"/>
          <p:cNvSpPr/>
          <p:nvPr/>
        </p:nvSpPr>
        <p:spPr>
          <a:xfrm>
            <a:off x="457200" y="1463040"/>
            <a:ext cx="1993392" cy="1965960"/>
          </a:xfrm>
          <a:prstGeom prst="roundRect">
            <a:avLst>
              <a:gd name="adj" fmla="val 2791"/>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Shape 3"/>
          <p:cNvSpPr/>
          <p:nvPr/>
        </p:nvSpPr>
        <p:spPr>
          <a:xfrm>
            <a:off x="621792" y="1627632"/>
            <a:ext cx="310896" cy="310896"/>
          </a:xfrm>
          <a:prstGeom prst="ellipse">
            <a:avLst/>
          </a:prstGeom>
          <a:solidFill>
            <a:srgbClr val="5A6672"/>
          </a:solidFill>
          <a:ln/>
        </p:spPr>
      </p:sp>
      <p:sp>
        <p:nvSpPr>
          <p:cNvPr id="6" name="Text 4"/>
          <p:cNvSpPr/>
          <p:nvPr/>
        </p:nvSpPr>
        <p:spPr>
          <a:xfrm>
            <a:off x="621792" y="1613916"/>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24128" y="1609344"/>
            <a:ext cx="1371600" cy="292608"/>
          </a:xfrm>
          <a:prstGeom prst="rect">
            <a:avLst/>
          </a:prstGeom>
          <a:noFill/>
          <a:ln/>
        </p:spPr>
        <p:txBody>
          <a:bodyPr wrap="square" lIns="0" tIns="0" rIns="0" bIns="0" rtlCol="0" anchor="ctr"/>
          <a:lstStyle/>
          <a:p>
            <a:pPr marL="0" indent="0">
              <a:buNone/>
            </a:pPr>
            <a:r>
              <a:rPr lang="en-US" sz="1350" b="1" dirty="0">
                <a:solidFill>
                  <a:srgbClr val="22303F"/>
                </a:solidFill>
                <a:latin typeface="Calibri" pitchFamily="34" charset="0"/>
                <a:ea typeface="Calibri" pitchFamily="34" charset="-122"/>
                <a:cs typeface="Calibri" pitchFamily="34" charset="-120"/>
              </a:rPr>
              <a:t>Q-Learning</a:t>
            </a:r>
            <a:endParaRPr lang="en-US" sz="1350" dirty="0"/>
          </a:p>
        </p:txBody>
      </p:sp>
      <p:sp>
        <p:nvSpPr>
          <p:cNvPr id="8" name="Text 6"/>
          <p:cNvSpPr/>
          <p:nvPr/>
        </p:nvSpPr>
        <p:spPr>
          <a:xfrm>
            <a:off x="621792" y="2029968"/>
            <a:ext cx="1691640" cy="256032"/>
          </a:xfrm>
          <a:prstGeom prst="rect">
            <a:avLst/>
          </a:prstGeom>
          <a:noFill/>
          <a:ln/>
        </p:spPr>
        <p:txBody>
          <a:bodyPr wrap="square" lIns="0" tIns="0" rIns="0" bIns="0" rtlCol="0" anchor="ctr"/>
          <a:lstStyle/>
          <a:p>
            <a:pPr marL="0" indent="0">
              <a:buNone/>
            </a:pPr>
            <a:r>
              <a:rPr lang="en-US" sz="1000" b="1" dirty="0">
                <a:solidFill>
                  <a:srgbClr val="8C4A1F"/>
                </a:solidFill>
                <a:latin typeface="Calibri" pitchFamily="34" charset="0"/>
                <a:ea typeface="Calibri" pitchFamily="34" charset="-122"/>
                <a:cs typeface="Calibri" pitchFamily="34" charset="-120"/>
              </a:rPr>
              <a:t>Tabulaire · off-policy</a:t>
            </a:r>
            <a:endParaRPr lang="en-US" sz="1000" dirty="0"/>
          </a:p>
        </p:txBody>
      </p:sp>
      <p:sp>
        <p:nvSpPr>
          <p:cNvPr id="9" name="Text 7"/>
          <p:cNvSpPr/>
          <p:nvPr/>
        </p:nvSpPr>
        <p:spPr>
          <a:xfrm>
            <a:off x="621792" y="2304288"/>
            <a:ext cx="1691640" cy="1005840"/>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Référence pédagogique : converge, mais requiert une discrétisation de l'état</a:t>
            </a:r>
            <a:endParaRPr lang="en-US" sz="950" dirty="0"/>
          </a:p>
        </p:txBody>
      </p:sp>
      <p:sp>
        <p:nvSpPr>
          <p:cNvPr id="10" name="Text 8"/>
          <p:cNvSpPr/>
          <p:nvPr/>
        </p:nvSpPr>
        <p:spPr>
          <a:xfrm>
            <a:off x="2414016" y="2148840"/>
            <a:ext cx="274320" cy="365760"/>
          </a:xfrm>
          <a:prstGeom prst="rect">
            <a:avLst/>
          </a:prstGeom>
          <a:noFill/>
          <a:ln/>
        </p:spPr>
        <p:txBody>
          <a:bodyPr wrap="square" lIns="0" tIns="0" rIns="0" bIns="0" rtlCol="0" anchor="ctr"/>
          <a:lstStyle/>
          <a:p>
            <a:pPr marL="0" indent="0" algn="ctr">
              <a:buNone/>
            </a:pPr>
            <a:r>
              <a:rPr lang="en-US" sz="2000" b="1" dirty="0">
                <a:solidFill>
                  <a:srgbClr val="B4622D"/>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633472" y="1463040"/>
            <a:ext cx="1993392" cy="1965960"/>
          </a:xfrm>
          <a:prstGeom prst="roundRect">
            <a:avLst>
              <a:gd name="adj" fmla="val 2791"/>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2" name="Shape 10"/>
          <p:cNvSpPr/>
          <p:nvPr/>
        </p:nvSpPr>
        <p:spPr>
          <a:xfrm>
            <a:off x="2798064" y="1627632"/>
            <a:ext cx="310896" cy="310896"/>
          </a:xfrm>
          <a:prstGeom prst="ellipse">
            <a:avLst/>
          </a:prstGeom>
          <a:solidFill>
            <a:srgbClr val="5A6672"/>
          </a:solidFill>
          <a:ln/>
        </p:spPr>
      </p:sp>
      <p:sp>
        <p:nvSpPr>
          <p:cNvPr id="13" name="Text 11"/>
          <p:cNvSpPr/>
          <p:nvPr/>
        </p:nvSpPr>
        <p:spPr>
          <a:xfrm>
            <a:off x="2798064" y="1613916"/>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200400" y="1609344"/>
            <a:ext cx="1371600" cy="292608"/>
          </a:xfrm>
          <a:prstGeom prst="rect">
            <a:avLst/>
          </a:prstGeom>
          <a:noFill/>
          <a:ln/>
        </p:spPr>
        <p:txBody>
          <a:bodyPr wrap="square" lIns="0" tIns="0" rIns="0" bIns="0" rtlCol="0" anchor="ctr"/>
          <a:lstStyle/>
          <a:p>
            <a:pPr marL="0" indent="0">
              <a:buNone/>
            </a:pPr>
            <a:r>
              <a:rPr lang="en-US" sz="1350" b="1" dirty="0">
                <a:solidFill>
                  <a:srgbClr val="22303F"/>
                </a:solidFill>
                <a:latin typeface="Calibri" pitchFamily="34" charset="0"/>
                <a:ea typeface="Calibri" pitchFamily="34" charset="-122"/>
                <a:cs typeface="Calibri" pitchFamily="34" charset="-120"/>
              </a:rPr>
              <a:t>SARSA</a:t>
            </a:r>
            <a:endParaRPr lang="en-US" sz="1350" dirty="0"/>
          </a:p>
        </p:txBody>
      </p:sp>
      <p:sp>
        <p:nvSpPr>
          <p:cNvPr id="15" name="Text 13"/>
          <p:cNvSpPr/>
          <p:nvPr/>
        </p:nvSpPr>
        <p:spPr>
          <a:xfrm>
            <a:off x="2798064" y="2029968"/>
            <a:ext cx="1691640" cy="256032"/>
          </a:xfrm>
          <a:prstGeom prst="rect">
            <a:avLst/>
          </a:prstGeom>
          <a:noFill/>
          <a:ln/>
        </p:spPr>
        <p:txBody>
          <a:bodyPr wrap="square" lIns="0" tIns="0" rIns="0" bIns="0" rtlCol="0" anchor="ctr"/>
          <a:lstStyle/>
          <a:p>
            <a:pPr marL="0" indent="0">
              <a:buNone/>
            </a:pPr>
            <a:r>
              <a:rPr lang="en-US" sz="1000" b="1" dirty="0">
                <a:solidFill>
                  <a:srgbClr val="8C4A1F"/>
                </a:solidFill>
                <a:latin typeface="Calibri" pitchFamily="34" charset="0"/>
                <a:ea typeface="Calibri" pitchFamily="34" charset="-122"/>
                <a:cs typeface="Calibri" pitchFamily="34" charset="-120"/>
              </a:rPr>
              <a:t>Tabulaire · on-policy</a:t>
            </a:r>
            <a:endParaRPr lang="en-US" sz="1000" dirty="0"/>
          </a:p>
        </p:txBody>
      </p:sp>
      <p:sp>
        <p:nvSpPr>
          <p:cNvPr id="16" name="Text 14"/>
          <p:cNvSpPr/>
          <p:nvPr/>
        </p:nvSpPr>
        <p:spPr>
          <a:xfrm>
            <a:off x="2798064" y="2304288"/>
            <a:ext cx="1691640" cy="1005840"/>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Comparaison on/off-policy : plus conservateur, plafonne plus bas</a:t>
            </a:r>
            <a:endParaRPr lang="en-US" sz="950" dirty="0"/>
          </a:p>
        </p:txBody>
      </p:sp>
      <p:sp>
        <p:nvSpPr>
          <p:cNvPr id="17" name="Text 15"/>
          <p:cNvSpPr/>
          <p:nvPr/>
        </p:nvSpPr>
        <p:spPr>
          <a:xfrm>
            <a:off x="4590288" y="2148840"/>
            <a:ext cx="274320" cy="365760"/>
          </a:xfrm>
          <a:prstGeom prst="rect">
            <a:avLst/>
          </a:prstGeom>
          <a:noFill/>
          <a:ln/>
        </p:spPr>
        <p:txBody>
          <a:bodyPr wrap="square" lIns="0" tIns="0" rIns="0" bIns="0" rtlCol="0" anchor="ctr"/>
          <a:lstStyle/>
          <a:p>
            <a:pPr marL="0" indent="0" algn="ctr">
              <a:buNone/>
            </a:pPr>
            <a:r>
              <a:rPr lang="en-US" sz="2000" b="1" dirty="0">
                <a:solidFill>
                  <a:srgbClr val="B4622D"/>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4809744" y="1463040"/>
            <a:ext cx="1993392" cy="1965960"/>
          </a:xfrm>
          <a:prstGeom prst="roundRect">
            <a:avLst>
              <a:gd name="adj" fmla="val 2791"/>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9" name="Shape 17"/>
          <p:cNvSpPr/>
          <p:nvPr/>
        </p:nvSpPr>
        <p:spPr>
          <a:xfrm>
            <a:off x="4974336" y="1627632"/>
            <a:ext cx="310896" cy="310896"/>
          </a:xfrm>
          <a:prstGeom prst="ellipse">
            <a:avLst/>
          </a:prstGeom>
          <a:solidFill>
            <a:srgbClr val="5A6672"/>
          </a:solidFill>
          <a:ln/>
        </p:spPr>
      </p:sp>
      <p:sp>
        <p:nvSpPr>
          <p:cNvPr id="20" name="Text 18"/>
          <p:cNvSpPr/>
          <p:nvPr/>
        </p:nvSpPr>
        <p:spPr>
          <a:xfrm>
            <a:off x="4974336" y="1613916"/>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5376672" y="1609344"/>
            <a:ext cx="1371600" cy="292608"/>
          </a:xfrm>
          <a:prstGeom prst="rect">
            <a:avLst/>
          </a:prstGeom>
          <a:noFill/>
          <a:ln/>
        </p:spPr>
        <p:txBody>
          <a:bodyPr wrap="square" lIns="0" tIns="0" rIns="0" bIns="0" rtlCol="0" anchor="ctr"/>
          <a:lstStyle/>
          <a:p>
            <a:pPr marL="0" indent="0">
              <a:buNone/>
            </a:pPr>
            <a:r>
              <a:rPr lang="en-US" sz="1350" b="1" dirty="0">
                <a:solidFill>
                  <a:srgbClr val="22303F"/>
                </a:solidFill>
                <a:latin typeface="Calibri" pitchFamily="34" charset="0"/>
                <a:ea typeface="Calibri" pitchFamily="34" charset="-122"/>
                <a:cs typeface="Calibri" pitchFamily="34" charset="-120"/>
              </a:rPr>
              <a:t>DQN</a:t>
            </a:r>
            <a:endParaRPr lang="en-US" sz="1350" dirty="0"/>
          </a:p>
        </p:txBody>
      </p:sp>
      <p:sp>
        <p:nvSpPr>
          <p:cNvPr id="22" name="Text 20"/>
          <p:cNvSpPr/>
          <p:nvPr/>
        </p:nvSpPr>
        <p:spPr>
          <a:xfrm>
            <a:off x="4974336" y="2029968"/>
            <a:ext cx="1691640" cy="256032"/>
          </a:xfrm>
          <a:prstGeom prst="rect">
            <a:avLst/>
          </a:prstGeom>
          <a:noFill/>
          <a:ln/>
        </p:spPr>
        <p:txBody>
          <a:bodyPr wrap="square" lIns="0" tIns="0" rIns="0" bIns="0" rtlCol="0" anchor="ctr"/>
          <a:lstStyle/>
          <a:p>
            <a:pPr marL="0" indent="0">
              <a:buNone/>
            </a:pPr>
            <a:r>
              <a:rPr lang="en-US" sz="1000" b="1" dirty="0">
                <a:solidFill>
                  <a:srgbClr val="8C4A1F"/>
                </a:solidFill>
                <a:latin typeface="Calibri" pitchFamily="34" charset="0"/>
                <a:ea typeface="Calibri" pitchFamily="34" charset="-122"/>
                <a:cs typeface="Calibri" pitchFamily="34" charset="-120"/>
              </a:rPr>
              <a:t>Deep RL · valeur</a:t>
            </a:r>
            <a:endParaRPr lang="en-US" sz="1000" dirty="0"/>
          </a:p>
        </p:txBody>
      </p:sp>
      <p:sp>
        <p:nvSpPr>
          <p:cNvPr id="23" name="Text 21"/>
          <p:cNvSpPr/>
          <p:nvPr/>
        </p:nvSpPr>
        <p:spPr>
          <a:xfrm>
            <a:off x="4974336" y="2304288"/>
            <a:ext cx="1691640" cy="1005840"/>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Le réseau remplace la Q-table : exploite les 147 dimensions sans discrétisation</a:t>
            </a:r>
            <a:endParaRPr lang="en-US" sz="950" dirty="0"/>
          </a:p>
        </p:txBody>
      </p:sp>
      <p:sp>
        <p:nvSpPr>
          <p:cNvPr id="24" name="Text 22"/>
          <p:cNvSpPr/>
          <p:nvPr/>
        </p:nvSpPr>
        <p:spPr>
          <a:xfrm>
            <a:off x="6766560" y="2148840"/>
            <a:ext cx="274320" cy="365760"/>
          </a:xfrm>
          <a:prstGeom prst="rect">
            <a:avLst/>
          </a:prstGeom>
          <a:noFill/>
          <a:ln/>
        </p:spPr>
        <p:txBody>
          <a:bodyPr wrap="square" lIns="0" tIns="0" rIns="0" bIns="0" rtlCol="0" anchor="ctr"/>
          <a:lstStyle/>
          <a:p>
            <a:pPr marL="0" indent="0" algn="ctr">
              <a:buNone/>
            </a:pPr>
            <a:r>
              <a:rPr lang="en-US" sz="2000" b="1" dirty="0">
                <a:solidFill>
                  <a:srgbClr val="B4622D"/>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6986016" y="1463040"/>
            <a:ext cx="1993392" cy="1965960"/>
          </a:xfrm>
          <a:prstGeom prst="roundRect">
            <a:avLst>
              <a:gd name="adj" fmla="val 2791"/>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26" name="Shape 24"/>
          <p:cNvSpPr/>
          <p:nvPr/>
        </p:nvSpPr>
        <p:spPr>
          <a:xfrm>
            <a:off x="7150608" y="1627632"/>
            <a:ext cx="310896" cy="310896"/>
          </a:xfrm>
          <a:prstGeom prst="ellipse">
            <a:avLst/>
          </a:prstGeom>
          <a:solidFill>
            <a:srgbClr val="B4622D"/>
          </a:solidFill>
          <a:ln/>
        </p:spPr>
      </p:sp>
      <p:sp>
        <p:nvSpPr>
          <p:cNvPr id="27" name="Text 25"/>
          <p:cNvSpPr/>
          <p:nvPr/>
        </p:nvSpPr>
        <p:spPr>
          <a:xfrm>
            <a:off x="7150608" y="1613916"/>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p:nvPr/>
        </p:nvSpPr>
        <p:spPr>
          <a:xfrm>
            <a:off x="7552944" y="1609344"/>
            <a:ext cx="1371600" cy="292608"/>
          </a:xfrm>
          <a:prstGeom prst="rect">
            <a:avLst/>
          </a:prstGeom>
          <a:noFill/>
          <a:ln/>
        </p:spPr>
        <p:txBody>
          <a:bodyPr wrap="square" lIns="0" tIns="0" rIns="0" bIns="0" rtlCol="0" anchor="ctr"/>
          <a:lstStyle/>
          <a:p>
            <a:pPr marL="0" indent="0">
              <a:buNone/>
            </a:pPr>
            <a:r>
              <a:rPr lang="en-US" sz="1350" b="1" dirty="0">
                <a:solidFill>
                  <a:srgbClr val="22303F"/>
                </a:solidFill>
                <a:latin typeface="Calibri" pitchFamily="34" charset="0"/>
                <a:ea typeface="Calibri" pitchFamily="34" charset="-122"/>
                <a:cs typeface="Calibri" pitchFamily="34" charset="-120"/>
              </a:rPr>
              <a:t>PPO</a:t>
            </a:r>
            <a:endParaRPr lang="en-US" sz="1350" dirty="0"/>
          </a:p>
        </p:txBody>
      </p:sp>
      <p:sp>
        <p:nvSpPr>
          <p:cNvPr id="29" name="Text 27"/>
          <p:cNvSpPr/>
          <p:nvPr/>
        </p:nvSpPr>
        <p:spPr>
          <a:xfrm>
            <a:off x="7150608" y="2029968"/>
            <a:ext cx="1691640" cy="256032"/>
          </a:xfrm>
          <a:prstGeom prst="rect">
            <a:avLst/>
          </a:prstGeom>
          <a:noFill/>
          <a:ln/>
        </p:spPr>
        <p:txBody>
          <a:bodyPr wrap="square" lIns="0" tIns="0" rIns="0" bIns="0" rtlCol="0" anchor="ctr"/>
          <a:lstStyle/>
          <a:p>
            <a:pPr marL="0" indent="0">
              <a:buNone/>
            </a:pPr>
            <a:r>
              <a:rPr lang="en-US" sz="1000" b="1" dirty="0">
                <a:solidFill>
                  <a:srgbClr val="8C4A1F"/>
                </a:solidFill>
                <a:latin typeface="Calibri" pitchFamily="34" charset="0"/>
                <a:ea typeface="Calibri" pitchFamily="34" charset="-122"/>
                <a:cs typeface="Calibri" pitchFamily="34" charset="-120"/>
              </a:rPr>
              <a:t>Deep RL · politique</a:t>
            </a:r>
            <a:endParaRPr lang="en-US" sz="1000" dirty="0"/>
          </a:p>
        </p:txBody>
      </p:sp>
      <p:sp>
        <p:nvSpPr>
          <p:cNvPr id="30" name="Text 28"/>
          <p:cNvSpPr/>
          <p:nvPr/>
        </p:nvSpPr>
        <p:spPr>
          <a:xfrm>
            <a:off x="7150608" y="2304288"/>
            <a:ext cx="1691640" cy="1005840"/>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Algorithme final : on-policy stable, clipping, adapté au stochastique</a:t>
            </a:r>
            <a:endParaRPr lang="en-US" sz="950" dirty="0"/>
          </a:p>
        </p:txBody>
      </p:sp>
      <p:sp>
        <p:nvSpPr>
          <p:cNvPr id="31" name="Shape 29"/>
          <p:cNvSpPr/>
          <p:nvPr/>
        </p:nvSpPr>
        <p:spPr>
          <a:xfrm>
            <a:off x="457200" y="3703320"/>
            <a:ext cx="8229600" cy="1051560"/>
          </a:xfrm>
          <a:prstGeom prst="roundRect">
            <a:avLst>
              <a:gd name="adj" fmla="val 5217"/>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32" name="Text 30"/>
          <p:cNvSpPr/>
          <p:nvPr/>
        </p:nvSpPr>
        <p:spPr>
          <a:xfrm>
            <a:off x="658368" y="3822192"/>
            <a:ext cx="7863840" cy="256032"/>
          </a:xfrm>
          <a:prstGeom prst="rect">
            <a:avLst/>
          </a:prstGeom>
          <a:noFill/>
          <a:ln/>
        </p:spPr>
        <p:txBody>
          <a:bodyPr wrap="square" lIns="0" tIns="0" rIns="0" bIns="0" rtlCol="0" anchor="ctr"/>
          <a:lstStyle/>
          <a:p>
            <a:pPr marL="0" indent="0">
              <a:buNone/>
            </a:pPr>
            <a:r>
              <a:rPr lang="en-US" sz="1200" b="1" dirty="0">
                <a:solidFill>
                  <a:srgbClr val="8C4A1F"/>
                </a:solidFill>
                <a:latin typeface="Calibri" pitchFamily="34" charset="0"/>
                <a:ea typeface="Calibri" pitchFamily="34" charset="-122"/>
                <a:cs typeface="Calibri" pitchFamily="34" charset="-120"/>
              </a:rPr>
              <a:t>Deux transitions clés, chacune motivée par la limite de l'étape précédente</a:t>
            </a:r>
            <a:endParaRPr lang="en-US" sz="1200" dirty="0"/>
          </a:p>
        </p:txBody>
      </p:sp>
      <p:sp>
        <p:nvSpPr>
          <p:cNvPr id="33" name="Text 31"/>
          <p:cNvSpPr/>
          <p:nvPr/>
        </p:nvSpPr>
        <p:spPr>
          <a:xfrm>
            <a:off x="658368" y="4087368"/>
            <a:ext cx="7863840" cy="621792"/>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22303F"/>
                </a:solidFill>
                <a:latin typeface="Calibri" pitchFamily="34" charset="0"/>
                <a:ea typeface="Calibri" pitchFamily="34" charset="-122"/>
                <a:cs typeface="Calibri" pitchFamily="34" charset="-120"/>
              </a:rPr>
              <a:t>Tabulaire → Deep RL : l'espace d'état à 147 dimensions n'est pas discrétisable sans perte majeure d'information (réduction à 6 features → 17 034 états effectifs)</a:t>
            </a:r>
            <a:endParaRPr lang="en-US" sz="1050" dirty="0"/>
          </a:p>
          <a:p>
            <a:pPr marL="342900" indent="-342900">
              <a:spcAft>
                <a:spcPts val="400"/>
              </a:spcAft>
              <a:buSzPct val="100000"/>
              <a:buChar char="•"/>
            </a:pPr>
            <a:r>
              <a:rPr lang="en-US" sz="1050" dirty="0">
                <a:solidFill>
                  <a:srgbClr val="22303F"/>
                </a:solidFill>
                <a:latin typeface="Calibri" pitchFamily="34" charset="0"/>
                <a:ea typeface="Calibri" pitchFamily="34" charset="-122"/>
                <a:cs typeface="Calibri" pitchFamily="34" charset="-120"/>
              </a:rPr>
              <a:t>DQN → PPO : instabilité off-policy en environnement fortement stochastique ; PPO borne ses mises à jour par clipping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3 · ALGORITHMES ET SIMULATION</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Méthodes tabulaires : Q-Learning (off-policy) vs SARSA (on-policy)</a:t>
            </a:r>
            <a:endParaRPr lang="en-US" sz="2700" dirty="0"/>
          </a:p>
        </p:txBody>
      </p:sp>
      <p:sp>
        <p:nvSpPr>
          <p:cNvPr id="4" name="Shape 2"/>
          <p:cNvSpPr/>
          <p:nvPr/>
        </p:nvSpPr>
        <p:spPr>
          <a:xfrm>
            <a:off x="457200" y="1371600"/>
            <a:ext cx="4023360" cy="1554480"/>
          </a:xfrm>
          <a:prstGeom prst="roundRect">
            <a:avLst>
              <a:gd name="adj" fmla="val 3529"/>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Text 3"/>
          <p:cNvSpPr/>
          <p:nvPr/>
        </p:nvSpPr>
        <p:spPr>
          <a:xfrm>
            <a:off x="640080" y="1499616"/>
            <a:ext cx="3657600" cy="274320"/>
          </a:xfrm>
          <a:prstGeom prst="rect">
            <a:avLst/>
          </a:prstGeom>
          <a:noFill/>
          <a:ln/>
        </p:spPr>
        <p:txBody>
          <a:bodyPr wrap="square" lIns="0" tIns="0" rIns="0" bIns="0" rtlCol="0" anchor="ctr"/>
          <a:lstStyle/>
          <a:p>
            <a:pPr marL="0" indent="0">
              <a:buNone/>
            </a:pPr>
            <a:r>
              <a:rPr lang="en-US" sz="1300" b="1" dirty="0">
                <a:solidFill>
                  <a:srgbClr val="8C4A1F"/>
                </a:solidFill>
                <a:latin typeface="Calibri" pitchFamily="34" charset="0"/>
                <a:ea typeface="Calibri" pitchFamily="34" charset="-122"/>
                <a:cs typeface="Calibri" pitchFamily="34" charset="-120"/>
              </a:rPr>
              <a:t>Q-Learning — off-policy</a:t>
            </a:r>
            <a:endParaRPr lang="en-US" sz="1300" dirty="0"/>
          </a:p>
        </p:txBody>
      </p:sp>
      <p:sp>
        <p:nvSpPr>
          <p:cNvPr id="6" name="Text 4"/>
          <p:cNvSpPr/>
          <p:nvPr/>
        </p:nvSpPr>
        <p:spPr>
          <a:xfrm>
            <a:off x="640080" y="1810512"/>
            <a:ext cx="3703320" cy="320040"/>
          </a:xfrm>
          <a:prstGeom prst="rect">
            <a:avLst/>
          </a:prstGeom>
          <a:noFill/>
          <a:ln/>
        </p:spPr>
        <p:txBody>
          <a:bodyPr wrap="square" lIns="0" tIns="0" rIns="0" bIns="0" rtlCol="0" anchor="ctr"/>
          <a:lstStyle/>
          <a:p>
            <a:pPr marL="0" indent="0">
              <a:buNone/>
            </a:pPr>
            <a:r>
              <a:rPr lang="en-US" sz="1100" b="1" dirty="0">
                <a:solidFill>
                  <a:srgbClr val="22303F"/>
                </a:solidFill>
                <a:latin typeface="Courier New" pitchFamily="34" charset="0"/>
                <a:ea typeface="Courier New" pitchFamily="34" charset="-122"/>
                <a:cs typeface="Courier New" pitchFamily="34" charset="-120"/>
              </a:rPr>
              <a:t>Q(s,a) ← Q(s,a) + α [ r + γ·max Q(s′,a′) − Q(s,a) ]</a:t>
            </a:r>
            <a:endParaRPr lang="en-US" sz="1100" dirty="0"/>
          </a:p>
        </p:txBody>
      </p:sp>
      <p:sp>
        <p:nvSpPr>
          <p:cNvPr id="7" name="Text 5"/>
          <p:cNvSpPr/>
          <p:nvPr/>
        </p:nvSpPr>
        <p:spPr>
          <a:xfrm>
            <a:off x="640080" y="2176272"/>
            <a:ext cx="3703320" cy="658368"/>
          </a:xfrm>
          <a:prstGeom prst="rect">
            <a:avLst/>
          </a:prstGeom>
          <a:noFill/>
          <a:ln/>
        </p:spPr>
        <p:txBody>
          <a:bodyPr wrap="square" lIns="0" tIns="0" rIns="0" bIns="0" rtlCol="0" anchor="ctr"/>
          <a:lstStyle/>
          <a:p>
            <a:pPr marL="0" indent="0">
              <a:buNone/>
            </a:pPr>
            <a:r>
              <a:rPr lang="en-US" sz="1050" dirty="0">
                <a:solidFill>
                  <a:srgbClr val="5A6672"/>
                </a:solidFill>
                <a:latin typeface="Calibri" pitchFamily="34" charset="0"/>
                <a:ea typeface="Calibri" pitchFamily="34" charset="-122"/>
                <a:cs typeface="Calibri" pitchFamily="34" charset="-120"/>
              </a:rPr>
              <a:t>Apprend la politique optimale en utilisant le meilleur a′ possible, indépendamment de l'action réellement exécutée.</a:t>
            </a:r>
            <a:endParaRPr lang="en-US" sz="1050" dirty="0"/>
          </a:p>
        </p:txBody>
      </p:sp>
      <p:sp>
        <p:nvSpPr>
          <p:cNvPr id="8" name="Shape 6"/>
          <p:cNvSpPr/>
          <p:nvPr/>
        </p:nvSpPr>
        <p:spPr>
          <a:xfrm>
            <a:off x="4663440" y="1371600"/>
            <a:ext cx="4023360" cy="1554480"/>
          </a:xfrm>
          <a:prstGeom prst="roundRect">
            <a:avLst>
              <a:gd name="adj" fmla="val 3529"/>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9" name="Text 7"/>
          <p:cNvSpPr/>
          <p:nvPr/>
        </p:nvSpPr>
        <p:spPr>
          <a:xfrm>
            <a:off x="4846320" y="1499616"/>
            <a:ext cx="3657600" cy="274320"/>
          </a:xfrm>
          <a:prstGeom prst="rect">
            <a:avLst/>
          </a:prstGeom>
          <a:noFill/>
          <a:ln/>
        </p:spPr>
        <p:txBody>
          <a:bodyPr wrap="square" lIns="0" tIns="0" rIns="0" bIns="0" rtlCol="0" anchor="ctr"/>
          <a:lstStyle/>
          <a:p>
            <a:pPr marL="0" indent="0">
              <a:buNone/>
            </a:pPr>
            <a:r>
              <a:rPr lang="en-US" sz="1300" b="1" dirty="0">
                <a:solidFill>
                  <a:srgbClr val="8C4A1F"/>
                </a:solidFill>
                <a:latin typeface="Calibri" pitchFamily="34" charset="0"/>
                <a:ea typeface="Calibri" pitchFamily="34" charset="-122"/>
                <a:cs typeface="Calibri" pitchFamily="34" charset="-120"/>
              </a:rPr>
              <a:t>SARSA — on-policy</a:t>
            </a:r>
            <a:endParaRPr lang="en-US" sz="1300" dirty="0"/>
          </a:p>
        </p:txBody>
      </p:sp>
      <p:sp>
        <p:nvSpPr>
          <p:cNvPr id="10" name="Text 8"/>
          <p:cNvSpPr/>
          <p:nvPr/>
        </p:nvSpPr>
        <p:spPr>
          <a:xfrm>
            <a:off x="4846320" y="1810512"/>
            <a:ext cx="3703320" cy="320040"/>
          </a:xfrm>
          <a:prstGeom prst="rect">
            <a:avLst/>
          </a:prstGeom>
          <a:noFill/>
          <a:ln/>
        </p:spPr>
        <p:txBody>
          <a:bodyPr wrap="square" lIns="0" tIns="0" rIns="0" bIns="0" rtlCol="0" anchor="ctr"/>
          <a:lstStyle/>
          <a:p>
            <a:pPr marL="0" indent="0">
              <a:buNone/>
            </a:pPr>
            <a:r>
              <a:rPr lang="en-US" sz="1100" b="1" dirty="0">
                <a:solidFill>
                  <a:srgbClr val="22303F"/>
                </a:solidFill>
                <a:latin typeface="Courier New" pitchFamily="34" charset="0"/>
                <a:ea typeface="Courier New" pitchFamily="34" charset="-122"/>
                <a:cs typeface="Courier New" pitchFamily="34" charset="-120"/>
              </a:rPr>
              <a:t>Q(s,a) ← Q(s,a) + α [ r + γ·Q(s′,aₜ₊₁) − Q(s,a) ]</a:t>
            </a:r>
            <a:endParaRPr lang="en-US" sz="1100" dirty="0"/>
          </a:p>
        </p:txBody>
      </p:sp>
      <p:sp>
        <p:nvSpPr>
          <p:cNvPr id="11" name="Text 9"/>
          <p:cNvSpPr/>
          <p:nvPr/>
        </p:nvSpPr>
        <p:spPr>
          <a:xfrm>
            <a:off x="4846320" y="2176272"/>
            <a:ext cx="3703320" cy="658368"/>
          </a:xfrm>
          <a:prstGeom prst="rect">
            <a:avLst/>
          </a:prstGeom>
          <a:noFill/>
          <a:ln/>
        </p:spPr>
        <p:txBody>
          <a:bodyPr wrap="square" lIns="0" tIns="0" rIns="0" bIns="0" rtlCol="0" anchor="ctr"/>
          <a:lstStyle/>
          <a:p>
            <a:pPr marL="0" indent="0">
              <a:buNone/>
            </a:pPr>
            <a:r>
              <a:rPr lang="en-US" sz="1050" dirty="0">
                <a:solidFill>
                  <a:srgbClr val="5A6672"/>
                </a:solidFill>
                <a:latin typeface="Calibri" pitchFamily="34" charset="0"/>
                <a:ea typeface="Calibri" pitchFamily="34" charset="-122"/>
                <a:cs typeface="Calibri" pitchFamily="34" charset="-120"/>
              </a:rPr>
              <a:t>Évalue la politique qu'il suit réellement : plus prudent, mais plafonne plus bas dans notre environnement.</a:t>
            </a:r>
            <a:endParaRPr lang="en-US" sz="1050" dirty="0"/>
          </a:p>
        </p:txBody>
      </p:sp>
      <p:sp>
        <p:nvSpPr>
          <p:cNvPr id="12" name="Text 10"/>
          <p:cNvSpPr/>
          <p:nvPr/>
        </p:nvSpPr>
        <p:spPr>
          <a:xfrm>
            <a:off x="457200" y="3063240"/>
            <a:ext cx="8229600" cy="320040"/>
          </a:xfrm>
          <a:prstGeom prst="rect">
            <a:avLst/>
          </a:prstGeom>
          <a:noFill/>
          <a:ln/>
        </p:spPr>
        <p:txBody>
          <a:bodyPr wrap="square" lIns="0" tIns="0" rIns="0" bIns="0" rtlCol="0" anchor="ctr"/>
          <a:lstStyle/>
          <a:p>
            <a:pPr marL="0" indent="0" algn="ctr">
              <a:buNone/>
            </a:pPr>
            <a:r>
              <a:rPr lang="en-US" sz="1250" b="1" i="1" dirty="0">
                <a:solidFill>
                  <a:srgbClr val="8C4A1F"/>
                </a:solidFill>
                <a:latin typeface="Calibri" pitchFamily="34" charset="0"/>
                <a:ea typeface="Calibri" pitchFamily="34" charset="-122"/>
                <a:cs typeface="Calibri" pitchFamily="34" charset="-120"/>
              </a:rPr>
              <a:t>La différence en un mot : Q-Learning apprend avec le meilleur a′ possible ; SARSA avec l'action réellement prise.</a:t>
            </a:r>
            <a:endParaRPr lang="en-US" sz="1250" dirty="0"/>
          </a:p>
        </p:txBody>
      </p:sp>
      <p:sp>
        <p:nvSpPr>
          <p:cNvPr id="13" name="Shape 11"/>
          <p:cNvSpPr/>
          <p:nvPr/>
        </p:nvSpPr>
        <p:spPr>
          <a:xfrm>
            <a:off x="457200" y="3520440"/>
            <a:ext cx="1993392" cy="1143000"/>
          </a:xfrm>
          <a:prstGeom prst="roundRect">
            <a:avLst>
              <a:gd name="adj" fmla="val 480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4" name="Text 12"/>
          <p:cNvSpPr/>
          <p:nvPr/>
        </p:nvSpPr>
        <p:spPr>
          <a:xfrm>
            <a:off x="548640" y="3675888"/>
            <a:ext cx="1810512" cy="365760"/>
          </a:xfrm>
          <a:prstGeom prst="rect">
            <a:avLst/>
          </a:prstGeom>
          <a:noFill/>
          <a:ln/>
        </p:spPr>
        <p:txBody>
          <a:bodyPr wrap="square" lIns="0" tIns="0" rIns="0" bIns="0" rtlCol="0" anchor="ctr"/>
          <a:lstStyle/>
          <a:p>
            <a:pPr marL="0" indent="0" algn="ctr">
              <a:buNone/>
            </a:pPr>
            <a:r>
              <a:rPr lang="en-US" sz="1500" b="1" dirty="0">
                <a:solidFill>
                  <a:srgbClr val="B4622D"/>
                </a:solidFill>
                <a:latin typeface="Cambria" pitchFamily="34" charset="0"/>
                <a:ea typeface="Cambria" pitchFamily="34" charset="-122"/>
                <a:cs typeface="Cambria" pitchFamily="34" charset="-120"/>
              </a:rPr>
              <a:t>α = 0,2</a:t>
            </a:r>
            <a:endParaRPr lang="en-US" sz="1500" dirty="0"/>
          </a:p>
        </p:txBody>
      </p:sp>
      <p:sp>
        <p:nvSpPr>
          <p:cNvPr id="15" name="Text 13"/>
          <p:cNvSpPr/>
          <p:nvPr/>
        </p:nvSpPr>
        <p:spPr>
          <a:xfrm>
            <a:off x="548640" y="4059936"/>
            <a:ext cx="1810512" cy="457200"/>
          </a:xfrm>
          <a:prstGeom prst="rect">
            <a:avLst/>
          </a:prstGeom>
          <a:noFill/>
          <a:ln/>
        </p:spPr>
        <p:txBody>
          <a:bodyPr wrap="square" lIns="0" tIns="0" rIns="0" bIns="0" rtlCol="0" anchor="ctr"/>
          <a:lstStyle/>
          <a:p>
            <a:pPr marL="0" indent="0" algn="ctr">
              <a:buNone/>
            </a:pPr>
            <a:r>
              <a:rPr lang="en-US" sz="1050" dirty="0">
                <a:solidFill>
                  <a:srgbClr val="5A6672"/>
                </a:solidFill>
                <a:latin typeface="Calibri" pitchFamily="34" charset="0"/>
                <a:ea typeface="Calibri" pitchFamily="34" charset="-122"/>
                <a:cs typeface="Calibri" pitchFamily="34" charset="-120"/>
              </a:rPr>
              <a:t>taux d'apprentissage</a:t>
            </a:r>
            <a:endParaRPr lang="en-US" sz="1050" dirty="0"/>
          </a:p>
        </p:txBody>
      </p:sp>
      <p:sp>
        <p:nvSpPr>
          <p:cNvPr id="16" name="Shape 14"/>
          <p:cNvSpPr/>
          <p:nvPr/>
        </p:nvSpPr>
        <p:spPr>
          <a:xfrm>
            <a:off x="2633472" y="3520440"/>
            <a:ext cx="1993392" cy="1143000"/>
          </a:xfrm>
          <a:prstGeom prst="roundRect">
            <a:avLst>
              <a:gd name="adj" fmla="val 480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7" name="Text 15"/>
          <p:cNvSpPr/>
          <p:nvPr/>
        </p:nvSpPr>
        <p:spPr>
          <a:xfrm>
            <a:off x="2724912" y="3675888"/>
            <a:ext cx="1810512" cy="365760"/>
          </a:xfrm>
          <a:prstGeom prst="rect">
            <a:avLst/>
          </a:prstGeom>
          <a:noFill/>
          <a:ln/>
        </p:spPr>
        <p:txBody>
          <a:bodyPr wrap="square" lIns="0" tIns="0" rIns="0" bIns="0" rtlCol="0" anchor="ctr"/>
          <a:lstStyle/>
          <a:p>
            <a:pPr marL="0" indent="0" algn="ctr">
              <a:buNone/>
            </a:pPr>
            <a:r>
              <a:rPr lang="en-US" sz="1500" b="1" dirty="0">
                <a:solidFill>
                  <a:srgbClr val="B4622D"/>
                </a:solidFill>
                <a:latin typeface="Cambria" pitchFamily="34" charset="0"/>
                <a:ea typeface="Cambria" pitchFamily="34" charset="-122"/>
                <a:cs typeface="Cambria" pitchFamily="34" charset="-120"/>
              </a:rPr>
              <a:t>γ = 0,99</a:t>
            </a:r>
            <a:endParaRPr lang="en-US" sz="1500" dirty="0"/>
          </a:p>
        </p:txBody>
      </p:sp>
      <p:sp>
        <p:nvSpPr>
          <p:cNvPr id="18" name="Text 16"/>
          <p:cNvSpPr/>
          <p:nvPr/>
        </p:nvSpPr>
        <p:spPr>
          <a:xfrm>
            <a:off x="2724912" y="4059936"/>
            <a:ext cx="1810512" cy="457200"/>
          </a:xfrm>
          <a:prstGeom prst="rect">
            <a:avLst/>
          </a:prstGeom>
          <a:noFill/>
          <a:ln/>
        </p:spPr>
        <p:txBody>
          <a:bodyPr wrap="square" lIns="0" tIns="0" rIns="0" bIns="0" rtlCol="0" anchor="ctr"/>
          <a:lstStyle/>
          <a:p>
            <a:pPr marL="0" indent="0" algn="ctr">
              <a:buNone/>
            </a:pPr>
            <a:r>
              <a:rPr lang="en-US" sz="1050" dirty="0">
                <a:solidFill>
                  <a:srgbClr val="5A6672"/>
                </a:solidFill>
                <a:latin typeface="Calibri" pitchFamily="34" charset="0"/>
                <a:ea typeface="Calibri" pitchFamily="34" charset="-122"/>
                <a:cs typeface="Calibri" pitchFamily="34" charset="-120"/>
              </a:rPr>
              <a:t>actualisation</a:t>
            </a:r>
            <a:endParaRPr lang="en-US" sz="1050" dirty="0"/>
          </a:p>
        </p:txBody>
      </p:sp>
      <p:sp>
        <p:nvSpPr>
          <p:cNvPr id="19" name="Shape 17"/>
          <p:cNvSpPr/>
          <p:nvPr/>
        </p:nvSpPr>
        <p:spPr>
          <a:xfrm>
            <a:off x="4809744" y="3520440"/>
            <a:ext cx="1993392" cy="1143000"/>
          </a:xfrm>
          <a:prstGeom prst="roundRect">
            <a:avLst>
              <a:gd name="adj" fmla="val 480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20" name="Text 18"/>
          <p:cNvSpPr/>
          <p:nvPr/>
        </p:nvSpPr>
        <p:spPr>
          <a:xfrm>
            <a:off x="4901184" y="3675888"/>
            <a:ext cx="1810512" cy="365760"/>
          </a:xfrm>
          <a:prstGeom prst="rect">
            <a:avLst/>
          </a:prstGeom>
          <a:noFill/>
          <a:ln/>
        </p:spPr>
        <p:txBody>
          <a:bodyPr wrap="square" lIns="0" tIns="0" rIns="0" bIns="0" rtlCol="0" anchor="ctr"/>
          <a:lstStyle/>
          <a:p>
            <a:pPr marL="0" indent="0" algn="ctr">
              <a:buNone/>
            </a:pPr>
            <a:r>
              <a:rPr lang="en-US" sz="1500" b="1" dirty="0">
                <a:solidFill>
                  <a:srgbClr val="B4622D"/>
                </a:solidFill>
                <a:latin typeface="Cambria" pitchFamily="34" charset="0"/>
                <a:ea typeface="Cambria" pitchFamily="34" charset="-122"/>
                <a:cs typeface="Cambria" pitchFamily="34" charset="-120"/>
              </a:rPr>
              <a:t>ε : 1,0 → 0,01</a:t>
            </a:r>
            <a:endParaRPr lang="en-US" sz="1500" dirty="0"/>
          </a:p>
        </p:txBody>
      </p:sp>
      <p:sp>
        <p:nvSpPr>
          <p:cNvPr id="21" name="Text 19"/>
          <p:cNvSpPr/>
          <p:nvPr/>
        </p:nvSpPr>
        <p:spPr>
          <a:xfrm>
            <a:off x="4901184" y="4059936"/>
            <a:ext cx="1810512" cy="457200"/>
          </a:xfrm>
          <a:prstGeom prst="rect">
            <a:avLst/>
          </a:prstGeom>
          <a:noFill/>
          <a:ln/>
        </p:spPr>
        <p:txBody>
          <a:bodyPr wrap="square" lIns="0" tIns="0" rIns="0" bIns="0" rtlCol="0" anchor="ctr"/>
          <a:lstStyle/>
          <a:p>
            <a:pPr marL="0" indent="0" algn="ctr">
              <a:buNone/>
            </a:pPr>
            <a:r>
              <a:rPr lang="en-US" sz="1050" dirty="0">
                <a:solidFill>
                  <a:srgbClr val="5A6672"/>
                </a:solidFill>
                <a:latin typeface="Calibri" pitchFamily="34" charset="0"/>
                <a:ea typeface="Calibri" pitchFamily="34" charset="-122"/>
                <a:cs typeface="Calibri" pitchFamily="34" charset="-120"/>
              </a:rPr>
              <a:t>décroissance linéaire</a:t>
            </a:r>
            <a:endParaRPr lang="en-US" sz="1050" dirty="0"/>
          </a:p>
        </p:txBody>
      </p:sp>
      <p:sp>
        <p:nvSpPr>
          <p:cNvPr id="22" name="Shape 20"/>
          <p:cNvSpPr/>
          <p:nvPr/>
        </p:nvSpPr>
        <p:spPr>
          <a:xfrm>
            <a:off x="6986016" y="3520440"/>
            <a:ext cx="1993392" cy="1143000"/>
          </a:xfrm>
          <a:prstGeom prst="roundRect">
            <a:avLst>
              <a:gd name="adj" fmla="val 480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23" name="Text 21"/>
          <p:cNvSpPr/>
          <p:nvPr/>
        </p:nvSpPr>
        <p:spPr>
          <a:xfrm>
            <a:off x="7077456" y="3675888"/>
            <a:ext cx="1810512" cy="365760"/>
          </a:xfrm>
          <a:prstGeom prst="rect">
            <a:avLst/>
          </a:prstGeom>
          <a:noFill/>
          <a:ln/>
        </p:spPr>
        <p:txBody>
          <a:bodyPr wrap="square" lIns="0" tIns="0" rIns="0" bIns="0" rtlCol="0" anchor="ctr"/>
          <a:lstStyle/>
          <a:p>
            <a:pPr marL="0" indent="0" algn="ctr">
              <a:buNone/>
            </a:pPr>
            <a:r>
              <a:rPr lang="en-US" sz="1500" b="1" dirty="0">
                <a:solidFill>
                  <a:srgbClr val="B4622D"/>
                </a:solidFill>
                <a:latin typeface="Cambria" pitchFamily="34" charset="0"/>
                <a:ea typeface="Cambria" pitchFamily="34" charset="-122"/>
                <a:cs typeface="Cambria" pitchFamily="34" charset="-120"/>
              </a:rPr>
              <a:t>30 000 épisodes</a:t>
            </a:r>
            <a:endParaRPr lang="en-US" sz="1500" dirty="0"/>
          </a:p>
        </p:txBody>
      </p:sp>
      <p:sp>
        <p:nvSpPr>
          <p:cNvPr id="24" name="Text 22"/>
          <p:cNvSpPr/>
          <p:nvPr/>
        </p:nvSpPr>
        <p:spPr>
          <a:xfrm>
            <a:off x="7077456" y="4059936"/>
            <a:ext cx="1810512" cy="457200"/>
          </a:xfrm>
          <a:prstGeom prst="rect">
            <a:avLst/>
          </a:prstGeom>
          <a:noFill/>
          <a:ln/>
        </p:spPr>
        <p:txBody>
          <a:bodyPr wrap="square" lIns="0" tIns="0" rIns="0" bIns="0" rtlCol="0" anchor="ctr"/>
          <a:lstStyle/>
          <a:p>
            <a:pPr marL="0" indent="0" algn="ctr">
              <a:buNone/>
            </a:pPr>
            <a:r>
              <a:rPr lang="en-US" sz="1050" dirty="0">
                <a:solidFill>
                  <a:srgbClr val="5A6672"/>
                </a:solidFill>
                <a:latin typeface="Calibri" pitchFamily="34" charset="0"/>
                <a:ea typeface="Calibri" pitchFamily="34" charset="-122"/>
                <a:cs typeface="Calibri" pitchFamily="34" charset="-120"/>
              </a:rPr>
              <a:t>17 034 états effectifs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3 · ALGORITHMES ET SIMULATION</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DQN : le réseau de neurones remplace la Q-table</a:t>
            </a:r>
            <a:endParaRPr lang="en-US" sz="2700" dirty="0"/>
          </a:p>
        </p:txBody>
      </p:sp>
      <p:sp>
        <p:nvSpPr>
          <p:cNvPr id="4" name="Shape 2"/>
          <p:cNvSpPr/>
          <p:nvPr/>
        </p:nvSpPr>
        <p:spPr>
          <a:xfrm>
            <a:off x="457200" y="1371600"/>
            <a:ext cx="5074920" cy="1600200"/>
          </a:xfrm>
          <a:prstGeom prst="roundRect">
            <a:avLst>
              <a:gd name="adj" fmla="val 3429"/>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5" name="Image 0" descr="Architecture_du_réseau_de_neurones_MLP_de_lagent_PPO_drawio.png"/>
          <p:cNvPicPr>
            <a:picLocks noChangeAspect="1"/>
          </p:cNvPicPr>
          <p:nvPr/>
        </p:nvPicPr>
        <p:blipFill>
          <a:blip r:embed="rId3"/>
          <a:stretch>
            <a:fillRect/>
          </a:stretch>
        </p:blipFill>
        <p:spPr>
          <a:xfrm>
            <a:off x="566928" y="1546368"/>
            <a:ext cx="4846320" cy="1250663"/>
          </a:xfrm>
          <a:prstGeom prst="rect">
            <a:avLst/>
          </a:prstGeom>
        </p:spPr>
      </p:pic>
      <p:sp>
        <p:nvSpPr>
          <p:cNvPr id="6" name="Text 3"/>
          <p:cNvSpPr/>
          <p:nvPr/>
        </p:nvSpPr>
        <p:spPr>
          <a:xfrm>
            <a:off x="457200" y="3035808"/>
            <a:ext cx="5074920" cy="566928"/>
          </a:xfrm>
          <a:prstGeom prst="rect">
            <a:avLst/>
          </a:prstGeom>
          <a:noFill/>
          <a:ln/>
        </p:spPr>
        <p:txBody>
          <a:bodyPr wrap="square" lIns="0" tIns="0" rIns="0" bIns="0" rtlCol="0" anchor="ctr"/>
          <a:lstStyle/>
          <a:p>
            <a:pPr marL="0" indent="0">
              <a:buNone/>
            </a:pPr>
            <a:r>
              <a:rPr lang="en-US" sz="1050" i="1" dirty="0">
                <a:solidFill>
                  <a:srgbClr val="5A6672"/>
                </a:solidFill>
                <a:latin typeface="Calibri" pitchFamily="34" charset="0"/>
                <a:ea typeface="Calibri" pitchFamily="34" charset="-122"/>
                <a:cs typeface="Calibri" pitchFamily="34" charset="-120"/>
              </a:rPr>
              <a:t>MLP [147 → 128 → 128 → 7], activations ReLU — la même architecture sert d'approximateur à DQN et à l'acteur de PPO.</a:t>
            </a:r>
            <a:endParaRPr lang="en-US" sz="1050" dirty="0"/>
          </a:p>
        </p:txBody>
      </p:sp>
      <p:sp>
        <p:nvSpPr>
          <p:cNvPr id="7" name="Shape 4"/>
          <p:cNvSpPr/>
          <p:nvPr/>
        </p:nvSpPr>
        <p:spPr>
          <a:xfrm>
            <a:off x="5760720" y="1371600"/>
            <a:ext cx="2926080" cy="1005840"/>
          </a:xfrm>
          <a:prstGeom prst="roundRect">
            <a:avLst>
              <a:gd name="adj" fmla="val 5455"/>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8" name="Text 5"/>
          <p:cNvSpPr/>
          <p:nvPr/>
        </p:nvSpPr>
        <p:spPr>
          <a:xfrm>
            <a:off x="5925312" y="1463040"/>
            <a:ext cx="2606040" cy="256032"/>
          </a:xfrm>
          <a:prstGeom prst="rect">
            <a:avLst/>
          </a:prstGeom>
          <a:noFill/>
          <a:ln/>
        </p:spPr>
        <p:txBody>
          <a:bodyPr wrap="square" lIns="0" tIns="0" rIns="0" bIns="0" rtlCol="0" anchor="ctr"/>
          <a:lstStyle/>
          <a:p>
            <a:pPr marL="0" indent="0">
              <a:buNone/>
            </a:pPr>
            <a:r>
              <a:rPr lang="en-US" sz="1150" b="1" dirty="0">
                <a:solidFill>
                  <a:srgbClr val="8C4A1F"/>
                </a:solidFill>
                <a:latin typeface="Calibri" pitchFamily="34" charset="0"/>
                <a:ea typeface="Calibri" pitchFamily="34" charset="-122"/>
                <a:cs typeface="Calibri" pitchFamily="34" charset="-120"/>
              </a:rPr>
              <a:t>Experience Replay</a:t>
            </a:r>
            <a:endParaRPr lang="en-US" sz="1150" dirty="0"/>
          </a:p>
        </p:txBody>
      </p:sp>
      <p:sp>
        <p:nvSpPr>
          <p:cNvPr id="9" name="Text 6"/>
          <p:cNvSpPr/>
          <p:nvPr/>
        </p:nvSpPr>
        <p:spPr>
          <a:xfrm>
            <a:off x="5925312" y="1719072"/>
            <a:ext cx="2633472" cy="621792"/>
          </a:xfrm>
          <a:prstGeom prst="rect">
            <a:avLst/>
          </a:prstGeom>
          <a:noFill/>
          <a:ln/>
        </p:spPr>
        <p:txBody>
          <a:bodyPr wrap="square" lIns="0" tIns="0" rIns="0" bIns="0" rtlCol="0" anchor="ctr"/>
          <a:lstStyle/>
          <a:p>
            <a:pPr marL="0" indent="0">
              <a:buNone/>
            </a:pPr>
            <a:r>
              <a:rPr lang="en-US" sz="930" dirty="0">
                <a:solidFill>
                  <a:srgbClr val="5A6672"/>
                </a:solidFill>
                <a:latin typeface="Calibri" pitchFamily="34" charset="0"/>
                <a:ea typeface="Calibri" pitchFamily="34" charset="-122"/>
                <a:cs typeface="Calibri" pitchFamily="34" charset="-120"/>
              </a:rPr>
              <a:t>Buffer de 200 000 transitions (s, a, r, s′) : les mini-batches tirés au hasard brisent les corrélations temporelles</a:t>
            </a:r>
            <a:endParaRPr lang="en-US" sz="930" dirty="0"/>
          </a:p>
        </p:txBody>
      </p:sp>
      <p:sp>
        <p:nvSpPr>
          <p:cNvPr id="10" name="Shape 7"/>
          <p:cNvSpPr/>
          <p:nvPr/>
        </p:nvSpPr>
        <p:spPr>
          <a:xfrm>
            <a:off x="5760720" y="2514600"/>
            <a:ext cx="2926080" cy="1005840"/>
          </a:xfrm>
          <a:prstGeom prst="roundRect">
            <a:avLst>
              <a:gd name="adj" fmla="val 5455"/>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1" name="Text 8"/>
          <p:cNvSpPr/>
          <p:nvPr/>
        </p:nvSpPr>
        <p:spPr>
          <a:xfrm>
            <a:off x="5925312" y="2606040"/>
            <a:ext cx="2606040" cy="256032"/>
          </a:xfrm>
          <a:prstGeom prst="rect">
            <a:avLst/>
          </a:prstGeom>
          <a:noFill/>
          <a:ln/>
        </p:spPr>
        <p:txBody>
          <a:bodyPr wrap="square" lIns="0" tIns="0" rIns="0" bIns="0" rtlCol="0" anchor="ctr"/>
          <a:lstStyle/>
          <a:p>
            <a:pPr marL="0" indent="0">
              <a:buNone/>
            </a:pPr>
            <a:r>
              <a:rPr lang="en-US" sz="1150" b="1" dirty="0">
                <a:solidFill>
                  <a:srgbClr val="8C4A1F"/>
                </a:solidFill>
                <a:latin typeface="Calibri" pitchFamily="34" charset="0"/>
                <a:ea typeface="Calibri" pitchFamily="34" charset="-122"/>
                <a:cs typeface="Calibri" pitchFamily="34" charset="-120"/>
              </a:rPr>
              <a:t>Target Network</a:t>
            </a:r>
            <a:endParaRPr lang="en-US" sz="1150" dirty="0"/>
          </a:p>
        </p:txBody>
      </p:sp>
      <p:sp>
        <p:nvSpPr>
          <p:cNvPr id="12" name="Text 9"/>
          <p:cNvSpPr/>
          <p:nvPr/>
        </p:nvSpPr>
        <p:spPr>
          <a:xfrm>
            <a:off x="5925312" y="2862072"/>
            <a:ext cx="2633472" cy="621792"/>
          </a:xfrm>
          <a:prstGeom prst="rect">
            <a:avLst/>
          </a:prstGeom>
          <a:noFill/>
          <a:ln/>
        </p:spPr>
        <p:txBody>
          <a:bodyPr wrap="square" lIns="0" tIns="0" rIns="0" bIns="0" rtlCol="0" anchor="ctr"/>
          <a:lstStyle/>
          <a:p>
            <a:pPr marL="0" indent="0">
              <a:buNone/>
            </a:pPr>
            <a:r>
              <a:rPr lang="en-US" sz="930" dirty="0">
                <a:solidFill>
                  <a:srgbClr val="5A6672"/>
                </a:solidFill>
                <a:latin typeface="Calibri" pitchFamily="34" charset="0"/>
                <a:ea typeface="Calibri" pitchFamily="34" charset="-122"/>
                <a:cs typeface="Calibri" pitchFamily="34" charset="-120"/>
              </a:rPr>
              <a:t>Réseau cible figé, synchronisé périodiquement : stabilise les cibles d'apprentissage et évite la divergence</a:t>
            </a:r>
            <a:endParaRPr lang="en-US" sz="930" dirty="0"/>
          </a:p>
        </p:txBody>
      </p:sp>
      <p:sp>
        <p:nvSpPr>
          <p:cNvPr id="13" name="Shape 10"/>
          <p:cNvSpPr/>
          <p:nvPr/>
        </p:nvSpPr>
        <p:spPr>
          <a:xfrm>
            <a:off x="5760720" y="3657600"/>
            <a:ext cx="2926080" cy="1005840"/>
          </a:xfrm>
          <a:prstGeom prst="roundRect">
            <a:avLst>
              <a:gd name="adj" fmla="val 5455"/>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4" name="Text 11"/>
          <p:cNvSpPr/>
          <p:nvPr/>
        </p:nvSpPr>
        <p:spPr>
          <a:xfrm>
            <a:off x="5925312" y="3749040"/>
            <a:ext cx="2606040" cy="256032"/>
          </a:xfrm>
          <a:prstGeom prst="rect">
            <a:avLst/>
          </a:prstGeom>
          <a:noFill/>
          <a:ln/>
        </p:spPr>
        <p:txBody>
          <a:bodyPr wrap="square" lIns="0" tIns="0" rIns="0" bIns="0" rtlCol="0" anchor="ctr"/>
          <a:lstStyle/>
          <a:p>
            <a:pPr marL="0" indent="0">
              <a:buNone/>
            </a:pPr>
            <a:r>
              <a:rPr lang="en-US" sz="1150" b="1" dirty="0">
                <a:solidFill>
                  <a:srgbClr val="8C4A1F"/>
                </a:solidFill>
                <a:latin typeface="Calibri" pitchFamily="34" charset="0"/>
                <a:ea typeface="Calibri" pitchFamily="34" charset="-122"/>
                <a:cs typeface="Calibri" pitchFamily="34" charset="-120"/>
              </a:rPr>
              <a:t>2 000 000 steps</a:t>
            </a:r>
            <a:endParaRPr lang="en-US" sz="1150" dirty="0"/>
          </a:p>
        </p:txBody>
      </p:sp>
      <p:sp>
        <p:nvSpPr>
          <p:cNvPr id="15" name="Text 12"/>
          <p:cNvSpPr/>
          <p:nvPr/>
        </p:nvSpPr>
        <p:spPr>
          <a:xfrm>
            <a:off x="5925312" y="4005072"/>
            <a:ext cx="2633472" cy="621792"/>
          </a:xfrm>
          <a:prstGeom prst="rect">
            <a:avLst/>
          </a:prstGeom>
          <a:noFill/>
          <a:ln/>
        </p:spPr>
        <p:txBody>
          <a:bodyPr wrap="square" lIns="0" tIns="0" rIns="0" bIns="0" rtlCol="0" anchor="ctr"/>
          <a:lstStyle/>
          <a:p>
            <a:pPr marL="0" indent="0">
              <a:buNone/>
            </a:pPr>
            <a:r>
              <a:rPr lang="en-US" sz="930" dirty="0">
                <a:solidFill>
                  <a:srgbClr val="5A6672"/>
                </a:solidFill>
                <a:latin typeface="Calibri" pitchFamily="34" charset="0"/>
                <a:ea typeface="Calibri" pitchFamily="34" charset="-122"/>
                <a:cs typeface="Calibri" pitchFamily="34" charset="-120"/>
              </a:rPr>
              <a:t>Budget d'entraînement, learning rate 3×10⁻⁴, batch 64 — implémentation Stable-Baselines3</a:t>
            </a:r>
            <a:endParaRPr lang="en-US" sz="930" dirty="0"/>
          </a:p>
        </p:txBody>
      </p:sp>
      <p:sp>
        <p:nvSpPr>
          <p:cNvPr id="16" name="Text 13"/>
          <p:cNvSpPr/>
          <p:nvPr/>
        </p:nvSpPr>
        <p:spPr>
          <a:xfrm>
            <a:off x="457200" y="4343400"/>
            <a:ext cx="8229600" cy="502920"/>
          </a:xfrm>
          <a:prstGeom prst="rect">
            <a:avLst/>
          </a:prstGeom>
          <a:noFill/>
          <a:ln/>
        </p:spPr>
        <p:txBody>
          <a:bodyPr wrap="square" lIns="0" tIns="0" rIns="0" bIns="0" rtlCol="0" anchor="ctr"/>
          <a:lstStyle/>
          <a:p>
            <a:pPr marL="0" indent="0">
              <a:buNone/>
            </a:pPr>
            <a:r>
              <a:rPr lang="en-US" sz="1200" b="1" i="1" dirty="0">
                <a:solidFill>
                  <a:srgbClr val="8C4A1F"/>
                </a:solidFill>
                <a:latin typeface="Calibri" pitchFamily="34" charset="0"/>
                <a:ea typeface="Calibri" pitchFamily="34" charset="-122"/>
                <a:cs typeface="Calibri" pitchFamily="34" charset="-120"/>
              </a:rPr>
              <a:t>Pourquoi le Deep RL ? Il exploite directement les 147 dimensions continues — positions exactes, files, disponibilités — sans discrétisation ni perte d'information.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3 · ALGORITHMES ET SIMULATION</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PPO : l'algorithme final — acteur-critique avec objectif tronqué</a:t>
            </a:r>
            <a:endParaRPr lang="en-US" sz="2700" dirty="0"/>
          </a:p>
        </p:txBody>
      </p:sp>
      <p:sp>
        <p:nvSpPr>
          <p:cNvPr id="4" name="Shape 2"/>
          <p:cNvSpPr/>
          <p:nvPr/>
        </p:nvSpPr>
        <p:spPr>
          <a:xfrm>
            <a:off x="457200" y="1371600"/>
            <a:ext cx="4023360" cy="1060704"/>
          </a:xfrm>
          <a:prstGeom prst="roundRect">
            <a:avLst>
              <a:gd name="adj" fmla="val 5172"/>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Text 3"/>
          <p:cNvSpPr/>
          <p:nvPr/>
        </p:nvSpPr>
        <p:spPr>
          <a:xfrm>
            <a:off x="640080" y="1481328"/>
            <a:ext cx="3657600" cy="274320"/>
          </a:xfrm>
          <a:prstGeom prst="rect">
            <a:avLst/>
          </a:prstGeom>
          <a:noFill/>
          <a:ln/>
        </p:spPr>
        <p:txBody>
          <a:bodyPr wrap="square" lIns="0" tIns="0" rIns="0" bIns="0" rtlCol="0" anchor="ctr"/>
          <a:lstStyle/>
          <a:p>
            <a:pPr marL="0" indent="0">
              <a:buNone/>
            </a:pPr>
            <a:r>
              <a:rPr lang="en-US" sz="1250" b="1" dirty="0">
                <a:solidFill>
                  <a:srgbClr val="8C4A1F"/>
                </a:solidFill>
                <a:latin typeface="Calibri" pitchFamily="34" charset="0"/>
                <a:ea typeface="Calibri" pitchFamily="34" charset="-122"/>
                <a:cs typeface="Calibri" pitchFamily="34" charset="-120"/>
              </a:rPr>
              <a:t>Acteur  πθ</a:t>
            </a:r>
            <a:endParaRPr lang="en-US" sz="1250" dirty="0"/>
          </a:p>
        </p:txBody>
      </p:sp>
      <p:sp>
        <p:nvSpPr>
          <p:cNvPr id="6" name="Text 4"/>
          <p:cNvSpPr/>
          <p:nvPr/>
        </p:nvSpPr>
        <p:spPr>
          <a:xfrm>
            <a:off x="640080" y="1773936"/>
            <a:ext cx="3703320" cy="621792"/>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Produit une distribution de probabilités sur les 7 actions : choisit la paire (pelle, dump) ou ATTENDRE</a:t>
            </a:r>
            <a:endParaRPr lang="en-US" sz="1000" dirty="0"/>
          </a:p>
        </p:txBody>
      </p:sp>
      <p:sp>
        <p:nvSpPr>
          <p:cNvPr id="7" name="Shape 5"/>
          <p:cNvSpPr/>
          <p:nvPr/>
        </p:nvSpPr>
        <p:spPr>
          <a:xfrm>
            <a:off x="4709160" y="1371600"/>
            <a:ext cx="4023360" cy="1060704"/>
          </a:xfrm>
          <a:prstGeom prst="roundRect">
            <a:avLst>
              <a:gd name="adj" fmla="val 5172"/>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8" name="Text 6"/>
          <p:cNvSpPr/>
          <p:nvPr/>
        </p:nvSpPr>
        <p:spPr>
          <a:xfrm>
            <a:off x="4892040" y="1481328"/>
            <a:ext cx="3657600" cy="274320"/>
          </a:xfrm>
          <a:prstGeom prst="rect">
            <a:avLst/>
          </a:prstGeom>
          <a:noFill/>
          <a:ln/>
        </p:spPr>
        <p:txBody>
          <a:bodyPr wrap="square" lIns="0" tIns="0" rIns="0" bIns="0" rtlCol="0" anchor="ctr"/>
          <a:lstStyle/>
          <a:p>
            <a:pPr marL="0" indent="0">
              <a:buNone/>
            </a:pPr>
            <a:r>
              <a:rPr lang="en-US" sz="1250" b="1" dirty="0">
                <a:solidFill>
                  <a:srgbClr val="8C4A1F"/>
                </a:solidFill>
                <a:latin typeface="Calibri" pitchFamily="34" charset="0"/>
                <a:ea typeface="Calibri" pitchFamily="34" charset="-122"/>
                <a:cs typeface="Calibri" pitchFamily="34" charset="-120"/>
              </a:rPr>
              <a:t>Critique  Vφ</a:t>
            </a:r>
            <a:endParaRPr lang="en-US" sz="1250" dirty="0"/>
          </a:p>
        </p:txBody>
      </p:sp>
      <p:sp>
        <p:nvSpPr>
          <p:cNvPr id="9" name="Text 7"/>
          <p:cNvSpPr/>
          <p:nvPr/>
        </p:nvSpPr>
        <p:spPr>
          <a:xfrm>
            <a:off x="4892040" y="1773936"/>
            <a:ext cx="3703320" cy="621792"/>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Estime la valeur de l'état : « cette situation de la mine est-elle bonne ? » — réduit la variance du gradient</a:t>
            </a:r>
            <a:endParaRPr lang="en-US" sz="1000" dirty="0"/>
          </a:p>
        </p:txBody>
      </p:sp>
      <p:sp>
        <p:nvSpPr>
          <p:cNvPr id="10" name="Shape 8"/>
          <p:cNvSpPr/>
          <p:nvPr/>
        </p:nvSpPr>
        <p:spPr>
          <a:xfrm>
            <a:off x="457200" y="2578608"/>
            <a:ext cx="4023360" cy="1060704"/>
          </a:xfrm>
          <a:prstGeom prst="roundRect">
            <a:avLst>
              <a:gd name="adj" fmla="val 5172"/>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1" name="Text 9"/>
          <p:cNvSpPr/>
          <p:nvPr/>
        </p:nvSpPr>
        <p:spPr>
          <a:xfrm>
            <a:off x="640080" y="2688336"/>
            <a:ext cx="3657600" cy="274320"/>
          </a:xfrm>
          <a:prstGeom prst="rect">
            <a:avLst/>
          </a:prstGeom>
          <a:noFill/>
          <a:ln/>
        </p:spPr>
        <p:txBody>
          <a:bodyPr wrap="square" lIns="0" tIns="0" rIns="0" bIns="0" rtlCol="0" anchor="ctr"/>
          <a:lstStyle/>
          <a:p>
            <a:pPr marL="0" indent="0">
              <a:buNone/>
            </a:pPr>
            <a:r>
              <a:rPr lang="en-US" sz="1250" b="1" dirty="0">
                <a:solidFill>
                  <a:srgbClr val="8C4A1F"/>
                </a:solidFill>
                <a:latin typeface="Calibri" pitchFamily="34" charset="0"/>
                <a:ea typeface="Calibri" pitchFamily="34" charset="-122"/>
                <a:cs typeface="Calibri" pitchFamily="34" charset="-120"/>
              </a:rPr>
              <a:t>Clipping  ε = 0,2</a:t>
            </a:r>
            <a:endParaRPr lang="en-US" sz="1250" dirty="0"/>
          </a:p>
        </p:txBody>
      </p:sp>
      <p:sp>
        <p:nvSpPr>
          <p:cNvPr id="12" name="Text 10"/>
          <p:cNvSpPr/>
          <p:nvPr/>
        </p:nvSpPr>
        <p:spPr>
          <a:xfrm>
            <a:off x="640080" y="2980944"/>
            <a:ext cx="3703320" cy="621792"/>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clip(rₜ, 0,8, 1,2) : les mises à jour de politique sont bornées → pas de changement brutal, stabilité garantie</a:t>
            </a:r>
            <a:endParaRPr lang="en-US" sz="1000" dirty="0"/>
          </a:p>
        </p:txBody>
      </p:sp>
      <p:sp>
        <p:nvSpPr>
          <p:cNvPr id="13" name="Shape 11"/>
          <p:cNvSpPr/>
          <p:nvPr/>
        </p:nvSpPr>
        <p:spPr>
          <a:xfrm>
            <a:off x="4709160" y="2578608"/>
            <a:ext cx="4023360" cy="1060704"/>
          </a:xfrm>
          <a:prstGeom prst="roundRect">
            <a:avLst>
              <a:gd name="adj" fmla="val 5172"/>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4" name="Text 12"/>
          <p:cNvSpPr/>
          <p:nvPr/>
        </p:nvSpPr>
        <p:spPr>
          <a:xfrm>
            <a:off x="4892040" y="2688336"/>
            <a:ext cx="3657600" cy="274320"/>
          </a:xfrm>
          <a:prstGeom prst="rect">
            <a:avLst/>
          </a:prstGeom>
          <a:noFill/>
          <a:ln/>
        </p:spPr>
        <p:txBody>
          <a:bodyPr wrap="square" lIns="0" tIns="0" rIns="0" bIns="0" rtlCol="0" anchor="ctr"/>
          <a:lstStyle/>
          <a:p>
            <a:pPr marL="0" indent="0">
              <a:buNone/>
            </a:pPr>
            <a:r>
              <a:rPr lang="en-US" sz="1250" b="1" dirty="0">
                <a:solidFill>
                  <a:srgbClr val="8C4A1F"/>
                </a:solidFill>
                <a:latin typeface="Calibri" pitchFamily="34" charset="0"/>
                <a:ea typeface="Calibri" pitchFamily="34" charset="-122"/>
                <a:cs typeface="Calibri" pitchFamily="34" charset="-120"/>
              </a:rPr>
              <a:t>GAE  λ = 0,95</a:t>
            </a:r>
            <a:endParaRPr lang="en-US" sz="1250" dirty="0"/>
          </a:p>
        </p:txBody>
      </p:sp>
      <p:sp>
        <p:nvSpPr>
          <p:cNvPr id="15" name="Text 13"/>
          <p:cNvSpPr/>
          <p:nvPr/>
        </p:nvSpPr>
        <p:spPr>
          <a:xfrm>
            <a:off x="4892040" y="2980944"/>
            <a:ext cx="3703320" cy="621792"/>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Generalized Advantage Estimation : compromis biais-variance dans l'estimation de l'avantage Âₜ</a:t>
            </a:r>
            <a:endParaRPr lang="en-US" sz="1000" dirty="0"/>
          </a:p>
        </p:txBody>
      </p:sp>
      <p:sp>
        <p:nvSpPr>
          <p:cNvPr id="16" name="Shape 14"/>
          <p:cNvSpPr/>
          <p:nvPr/>
        </p:nvSpPr>
        <p:spPr>
          <a:xfrm>
            <a:off x="457200" y="3913632"/>
            <a:ext cx="8229600" cy="868680"/>
          </a:xfrm>
          <a:prstGeom prst="roundRect">
            <a:avLst>
              <a:gd name="adj" fmla="val 6316"/>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7" name="Text 15"/>
          <p:cNvSpPr/>
          <p:nvPr/>
        </p:nvSpPr>
        <p:spPr>
          <a:xfrm>
            <a:off x="658368" y="4041648"/>
            <a:ext cx="7863840" cy="658368"/>
          </a:xfrm>
          <a:prstGeom prst="rect">
            <a:avLst/>
          </a:prstGeom>
          <a:noFill/>
          <a:ln/>
        </p:spPr>
        <p:txBody>
          <a:bodyPr wrap="square" lIns="0" tIns="0" rIns="0" bIns="0" rtlCol="0" anchor="ctr"/>
          <a:lstStyle/>
          <a:p>
            <a:pPr marL="0" indent="0">
              <a:buNone/>
            </a:pPr>
            <a:r>
              <a:rPr lang="en-US" sz="1100" b="1" dirty="0">
                <a:solidFill>
                  <a:srgbClr val="8C4A1F"/>
                </a:solidFill>
                <a:latin typeface="Calibri" pitchFamily="34" charset="0"/>
                <a:ea typeface="Calibri" pitchFamily="34" charset="-122"/>
                <a:cs typeface="Calibri" pitchFamily="34" charset="-120"/>
              </a:rPr>
              <a:t>Pourquoi PPO plutôt que DQN ?  </a:t>
            </a:r>
            <a:r>
              <a:rPr lang="en-US" sz="1100" dirty="0">
                <a:solidFill>
                  <a:srgbClr val="22303F"/>
                </a:solidFill>
                <a:latin typeface="Calibri" pitchFamily="34" charset="0"/>
                <a:ea typeface="Calibri" pitchFamily="34" charset="-122"/>
                <a:cs typeface="Calibri" pitchFamily="34" charset="-120"/>
              </a:rPr>
              <a:t>On-policy : apprend sur ses propres interactions, sans replay buffer — plus adapté à un environnement fortement stochastique. Peu sensible aux hyperparamètres (défauts SB3 : lr = 3×10⁻⁴, γ = 0,99, batch 64). Convergence confirmée : explained_variance = 0,999.</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3 · ALGORITHMES ET SIMULATION</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Architecture logicielle : un banc d'essai modulaire et reproductible</a:t>
            </a:r>
            <a:endParaRPr lang="en-US" sz="2700" dirty="0"/>
          </a:p>
        </p:txBody>
      </p:sp>
      <p:sp>
        <p:nvSpPr>
          <p:cNvPr id="4" name="Shape 2"/>
          <p:cNvSpPr/>
          <p:nvPr/>
        </p:nvSpPr>
        <p:spPr>
          <a:xfrm>
            <a:off x="457200" y="1325880"/>
            <a:ext cx="4892040" cy="3429000"/>
          </a:xfrm>
          <a:prstGeom prst="roundRect">
            <a:avLst>
              <a:gd name="adj" fmla="val 1600"/>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5" name="Image 0" descr="Architecture_logicielle_du_projet_drawio.png"/>
          <p:cNvPicPr>
            <a:picLocks noChangeAspect="1"/>
          </p:cNvPicPr>
          <p:nvPr/>
        </p:nvPicPr>
        <p:blipFill>
          <a:blip r:embed="rId3"/>
          <a:stretch>
            <a:fillRect/>
          </a:stretch>
        </p:blipFill>
        <p:spPr>
          <a:xfrm>
            <a:off x="566928" y="1682629"/>
            <a:ext cx="4663440" cy="2715502"/>
          </a:xfrm>
          <a:prstGeom prst="rect">
            <a:avLst/>
          </a:prstGeom>
        </p:spPr>
      </p:pic>
      <p:sp>
        <p:nvSpPr>
          <p:cNvPr id="6" name="Shape 3"/>
          <p:cNvSpPr/>
          <p:nvPr/>
        </p:nvSpPr>
        <p:spPr>
          <a:xfrm>
            <a:off x="5486400" y="1325880"/>
            <a:ext cx="3200400" cy="768096"/>
          </a:xfrm>
          <a:prstGeom prst="roundRect">
            <a:avLst>
              <a:gd name="adj" fmla="val 71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7" name="Text 4"/>
          <p:cNvSpPr/>
          <p:nvPr/>
        </p:nvSpPr>
        <p:spPr>
          <a:xfrm>
            <a:off x="5650992" y="1408176"/>
            <a:ext cx="2880360" cy="256032"/>
          </a:xfrm>
          <a:prstGeom prst="rect">
            <a:avLst/>
          </a:prstGeom>
          <a:noFill/>
          <a:ln/>
        </p:spPr>
        <p:txBody>
          <a:bodyPr wrap="square" lIns="0" tIns="0" rIns="0" bIns="0" rtlCol="0" anchor="ctr"/>
          <a:lstStyle/>
          <a:p>
            <a:pPr marL="0" indent="0">
              <a:buNone/>
            </a:pPr>
            <a:r>
              <a:rPr lang="en-US" sz="1100" b="1" dirty="0">
                <a:solidFill>
                  <a:srgbClr val="8C4A1F"/>
                </a:solidFill>
                <a:latin typeface="Calibri" pitchFamily="34" charset="0"/>
                <a:ea typeface="Calibri" pitchFamily="34" charset="-122"/>
                <a:cs typeface="Calibri" pitchFamily="34" charset="-120"/>
              </a:rPr>
              <a:t>Simulateur Gymnasium</a:t>
            </a:r>
            <a:endParaRPr lang="en-US" sz="1100" dirty="0"/>
          </a:p>
        </p:txBody>
      </p:sp>
      <p:sp>
        <p:nvSpPr>
          <p:cNvPr id="8" name="Text 5"/>
          <p:cNvSpPr/>
          <p:nvPr/>
        </p:nvSpPr>
        <p:spPr>
          <a:xfrm>
            <a:off x="5650992" y="1655064"/>
            <a:ext cx="2907792" cy="420624"/>
          </a:xfrm>
          <a:prstGeom prst="rect">
            <a:avLst/>
          </a:prstGeom>
          <a:noFill/>
          <a:ln/>
        </p:spPr>
        <p:txBody>
          <a:bodyPr wrap="square" lIns="0" tIns="0" rIns="0" bIns="0" rtlCol="0" anchor="ctr"/>
          <a:lstStyle/>
          <a:p>
            <a:pPr marL="0" indent="0">
              <a:buNone/>
            </a:pPr>
            <a:r>
              <a:rPr lang="en-US" sz="880" dirty="0">
                <a:solidFill>
                  <a:srgbClr val="5A6672"/>
                </a:solidFill>
                <a:latin typeface="Calibri" pitchFamily="34" charset="0"/>
                <a:ea typeface="Calibri" pitchFamily="34" charset="-122"/>
                <a:cs typeface="Calibri" pitchFamily="34" charset="-120"/>
              </a:rPr>
              <a:t>Classe MineEnv (reset, step, render) au-dessus du moteur physique (camions, pelles, graphe, pannes)</a:t>
            </a:r>
            <a:endParaRPr lang="en-US" sz="880" dirty="0"/>
          </a:p>
        </p:txBody>
      </p:sp>
      <p:sp>
        <p:nvSpPr>
          <p:cNvPr id="9" name="Shape 6"/>
          <p:cNvSpPr/>
          <p:nvPr/>
        </p:nvSpPr>
        <p:spPr>
          <a:xfrm>
            <a:off x="5486400" y="2203704"/>
            <a:ext cx="3200400" cy="768096"/>
          </a:xfrm>
          <a:prstGeom prst="roundRect">
            <a:avLst>
              <a:gd name="adj" fmla="val 71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0" name="Text 7"/>
          <p:cNvSpPr/>
          <p:nvPr/>
        </p:nvSpPr>
        <p:spPr>
          <a:xfrm>
            <a:off x="5650992" y="2286000"/>
            <a:ext cx="2880360" cy="256032"/>
          </a:xfrm>
          <a:prstGeom prst="rect">
            <a:avLst/>
          </a:prstGeom>
          <a:noFill/>
          <a:ln/>
        </p:spPr>
        <p:txBody>
          <a:bodyPr wrap="square" lIns="0" tIns="0" rIns="0" bIns="0" rtlCol="0" anchor="ctr"/>
          <a:lstStyle/>
          <a:p>
            <a:pPr marL="0" indent="0">
              <a:buNone/>
            </a:pPr>
            <a:r>
              <a:rPr lang="en-US" sz="1100" b="1" dirty="0">
                <a:solidFill>
                  <a:srgbClr val="8C4A1F"/>
                </a:solidFill>
                <a:latin typeface="Calibri" pitchFamily="34" charset="0"/>
                <a:ea typeface="Calibri" pitchFamily="34" charset="-122"/>
                <a:cs typeface="Calibri" pitchFamily="34" charset="-120"/>
              </a:rPr>
              <a:t>Module Agents RL</a:t>
            </a:r>
            <a:endParaRPr lang="en-US" sz="1100" dirty="0"/>
          </a:p>
        </p:txBody>
      </p:sp>
      <p:sp>
        <p:nvSpPr>
          <p:cNvPr id="11" name="Text 8"/>
          <p:cNvSpPr/>
          <p:nvPr/>
        </p:nvSpPr>
        <p:spPr>
          <a:xfrm>
            <a:off x="5650992" y="2532888"/>
            <a:ext cx="2907792" cy="420624"/>
          </a:xfrm>
          <a:prstGeom prst="rect">
            <a:avLst/>
          </a:prstGeom>
          <a:noFill/>
          <a:ln/>
        </p:spPr>
        <p:txBody>
          <a:bodyPr wrap="square" lIns="0" tIns="0" rIns="0" bIns="0" rtlCol="0" anchor="ctr"/>
          <a:lstStyle/>
          <a:p>
            <a:pPr marL="0" indent="0">
              <a:buNone/>
            </a:pPr>
            <a:r>
              <a:rPr lang="en-US" sz="880" dirty="0">
                <a:solidFill>
                  <a:srgbClr val="5A6672"/>
                </a:solidFill>
                <a:latin typeface="Calibri" pitchFamily="34" charset="0"/>
                <a:ea typeface="Calibri" pitchFamily="34" charset="-122"/>
                <a:cs typeface="Calibri" pitchFamily="34" charset="-120"/>
              </a:rPr>
              <a:t>Stable-Baselines3 (PPO, DQN) + implémentations Q-Learning / SARSA</a:t>
            </a:r>
            <a:endParaRPr lang="en-US" sz="880" dirty="0"/>
          </a:p>
        </p:txBody>
      </p:sp>
      <p:sp>
        <p:nvSpPr>
          <p:cNvPr id="12" name="Shape 9"/>
          <p:cNvSpPr/>
          <p:nvPr/>
        </p:nvSpPr>
        <p:spPr>
          <a:xfrm>
            <a:off x="5486400" y="3081528"/>
            <a:ext cx="3200400" cy="768096"/>
          </a:xfrm>
          <a:prstGeom prst="roundRect">
            <a:avLst>
              <a:gd name="adj" fmla="val 71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3" name="Text 10"/>
          <p:cNvSpPr/>
          <p:nvPr/>
        </p:nvSpPr>
        <p:spPr>
          <a:xfrm>
            <a:off x="5650992" y="3163824"/>
            <a:ext cx="2880360" cy="256032"/>
          </a:xfrm>
          <a:prstGeom prst="rect">
            <a:avLst/>
          </a:prstGeom>
          <a:noFill/>
          <a:ln/>
        </p:spPr>
        <p:txBody>
          <a:bodyPr wrap="square" lIns="0" tIns="0" rIns="0" bIns="0" rtlCol="0" anchor="ctr"/>
          <a:lstStyle/>
          <a:p>
            <a:pPr marL="0" indent="0">
              <a:buNone/>
            </a:pPr>
            <a:r>
              <a:rPr lang="en-US" sz="1100" b="1" dirty="0">
                <a:solidFill>
                  <a:srgbClr val="8C4A1F"/>
                </a:solidFill>
                <a:latin typeface="Calibri" pitchFamily="34" charset="0"/>
                <a:ea typeface="Calibri" pitchFamily="34" charset="-122"/>
                <a:cs typeface="Calibri" pitchFamily="34" charset="-120"/>
              </a:rPr>
              <a:t>Module Heuristiques</a:t>
            </a:r>
            <a:endParaRPr lang="en-US" sz="1100" dirty="0"/>
          </a:p>
        </p:txBody>
      </p:sp>
      <p:sp>
        <p:nvSpPr>
          <p:cNvPr id="14" name="Text 11"/>
          <p:cNvSpPr/>
          <p:nvPr/>
        </p:nvSpPr>
        <p:spPr>
          <a:xfrm>
            <a:off x="5650992" y="3410712"/>
            <a:ext cx="2907792" cy="420624"/>
          </a:xfrm>
          <a:prstGeom prst="rect">
            <a:avLst/>
          </a:prstGeom>
          <a:noFill/>
          <a:ln/>
        </p:spPr>
        <p:txBody>
          <a:bodyPr wrap="square" lIns="0" tIns="0" rIns="0" bIns="0" rtlCol="0" anchor="ctr"/>
          <a:lstStyle/>
          <a:p>
            <a:pPr marL="0" indent="0">
              <a:buNone/>
            </a:pPr>
            <a:r>
              <a:rPr lang="en-US" sz="880" dirty="0">
                <a:solidFill>
                  <a:srgbClr val="5A6672"/>
                </a:solidFill>
                <a:latin typeface="Calibri" pitchFamily="34" charset="0"/>
                <a:ea typeface="Calibri" pitchFamily="34" charset="-122"/>
                <a:cs typeface="Calibri" pitchFamily="34" charset="-120"/>
              </a:rPr>
              <a:t>FIFO, Fixed, Nearest Shovel, Shortest Path — mêmes interfaces que les agents</a:t>
            </a:r>
            <a:endParaRPr lang="en-US" sz="880" dirty="0"/>
          </a:p>
        </p:txBody>
      </p:sp>
      <p:sp>
        <p:nvSpPr>
          <p:cNvPr id="15" name="Shape 12"/>
          <p:cNvSpPr/>
          <p:nvPr/>
        </p:nvSpPr>
        <p:spPr>
          <a:xfrm>
            <a:off x="5486400" y="3959352"/>
            <a:ext cx="3200400" cy="768096"/>
          </a:xfrm>
          <a:prstGeom prst="roundRect">
            <a:avLst>
              <a:gd name="adj" fmla="val 71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6" name="Text 13"/>
          <p:cNvSpPr/>
          <p:nvPr/>
        </p:nvSpPr>
        <p:spPr>
          <a:xfrm>
            <a:off x="5650992" y="4041648"/>
            <a:ext cx="2880360" cy="256032"/>
          </a:xfrm>
          <a:prstGeom prst="rect">
            <a:avLst/>
          </a:prstGeom>
          <a:noFill/>
          <a:ln/>
        </p:spPr>
        <p:txBody>
          <a:bodyPr wrap="square" lIns="0" tIns="0" rIns="0" bIns="0" rtlCol="0" anchor="ctr"/>
          <a:lstStyle/>
          <a:p>
            <a:pPr marL="0" indent="0">
              <a:buNone/>
            </a:pPr>
            <a:r>
              <a:rPr lang="en-US" sz="1100" b="1" dirty="0">
                <a:solidFill>
                  <a:srgbClr val="8C4A1F"/>
                </a:solidFill>
                <a:latin typeface="Calibri" pitchFamily="34" charset="0"/>
                <a:ea typeface="Calibri" pitchFamily="34" charset="-122"/>
                <a:cs typeface="Calibri" pitchFamily="34" charset="-120"/>
              </a:rPr>
              <a:t>Module Évaluation</a:t>
            </a:r>
            <a:endParaRPr lang="en-US" sz="1100" dirty="0"/>
          </a:p>
        </p:txBody>
      </p:sp>
      <p:sp>
        <p:nvSpPr>
          <p:cNvPr id="17" name="Text 14"/>
          <p:cNvSpPr/>
          <p:nvPr/>
        </p:nvSpPr>
        <p:spPr>
          <a:xfrm>
            <a:off x="5650992" y="4288536"/>
            <a:ext cx="2907792" cy="420624"/>
          </a:xfrm>
          <a:prstGeom prst="rect">
            <a:avLst/>
          </a:prstGeom>
          <a:noFill/>
          <a:ln/>
        </p:spPr>
        <p:txBody>
          <a:bodyPr wrap="square" lIns="0" tIns="0" rIns="0" bIns="0" rtlCol="0" anchor="ctr"/>
          <a:lstStyle/>
          <a:p>
            <a:pPr marL="0" indent="0">
              <a:buNone/>
            </a:pPr>
            <a:r>
              <a:rPr lang="en-US" sz="880" dirty="0">
                <a:solidFill>
                  <a:srgbClr val="5A6672"/>
                </a:solidFill>
                <a:latin typeface="Calibri" pitchFamily="34" charset="0"/>
                <a:ea typeface="Calibri" pitchFamily="34" charset="-122"/>
                <a:cs typeface="Calibri" pitchFamily="34" charset="-120"/>
              </a:rPr>
              <a:t>Benchmarks, calcul des KPIs (t/h, L/t, min), analyse statistique</a:t>
            </a:r>
            <a:endParaRPr lang="en-US" sz="8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4 · RÉSULTATS EXPÉRIMENTAUX</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Protocole d'évaluation : 8 politiques × 3 scénarios × 10 réplications</a:t>
            </a:r>
            <a:endParaRPr lang="en-US" sz="2700" dirty="0"/>
          </a:p>
        </p:txBody>
      </p:sp>
      <p:sp>
        <p:nvSpPr>
          <p:cNvPr id="4" name="Shape 2"/>
          <p:cNvSpPr/>
          <p:nvPr/>
        </p:nvSpPr>
        <p:spPr>
          <a:xfrm>
            <a:off x="457200" y="1371600"/>
            <a:ext cx="2651760" cy="1691640"/>
          </a:xfrm>
          <a:prstGeom prst="roundRect">
            <a:avLst>
              <a:gd name="adj" fmla="val 32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Text 3"/>
          <p:cNvSpPr/>
          <p:nvPr/>
        </p:nvSpPr>
        <p:spPr>
          <a:xfrm>
            <a:off x="621792" y="1517904"/>
            <a:ext cx="2331720" cy="292608"/>
          </a:xfrm>
          <a:prstGeom prst="rect">
            <a:avLst/>
          </a:prstGeom>
          <a:noFill/>
          <a:ln/>
        </p:spPr>
        <p:txBody>
          <a:bodyPr wrap="square" lIns="0" tIns="0" rIns="0" bIns="0" rtlCol="0" anchor="ctr"/>
          <a:lstStyle/>
          <a:p>
            <a:pPr marL="0" indent="0">
              <a:buNone/>
            </a:pPr>
            <a:r>
              <a:rPr lang="en-US" sz="1400" b="1" dirty="0">
                <a:solidFill>
                  <a:srgbClr val="8C4A1F"/>
                </a:solidFill>
                <a:latin typeface="Calibri" pitchFamily="34" charset="0"/>
                <a:ea typeface="Calibri" pitchFamily="34" charset="-122"/>
                <a:cs typeface="Calibri" pitchFamily="34" charset="-120"/>
              </a:rPr>
              <a:t>Nominal</a:t>
            </a:r>
            <a:endParaRPr lang="en-US" sz="1400" dirty="0"/>
          </a:p>
        </p:txBody>
      </p:sp>
      <p:sp>
        <p:nvSpPr>
          <p:cNvPr id="6" name="Text 4"/>
          <p:cNvSpPr/>
          <p:nvPr/>
        </p:nvSpPr>
        <p:spPr>
          <a:xfrm>
            <a:off x="621792" y="1847088"/>
            <a:ext cx="2331720" cy="256032"/>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12 camions · 3 pelles</a:t>
            </a:r>
            <a:endParaRPr lang="en-US" sz="1150" dirty="0"/>
          </a:p>
        </p:txBody>
      </p:sp>
      <p:sp>
        <p:nvSpPr>
          <p:cNvPr id="7" name="Text 5"/>
          <p:cNvSpPr/>
          <p:nvPr/>
        </p:nvSpPr>
        <p:spPr>
          <a:xfrm>
            <a:off x="621792" y="2103120"/>
            <a:ext cx="2331720" cy="256032"/>
          </a:xfrm>
          <a:prstGeom prst="rect">
            <a:avLst/>
          </a:prstGeom>
          <a:noFill/>
          <a:ln/>
        </p:spPr>
        <p:txBody>
          <a:bodyPr wrap="square" lIns="0" tIns="0" rIns="0" bIns="0" rtlCol="0" anchor="ctr"/>
          <a:lstStyle/>
          <a:p>
            <a:pPr marL="0" indent="0">
              <a:buNone/>
            </a:pPr>
            <a:r>
              <a:rPr lang="en-US" sz="1150" b="1" dirty="0">
                <a:solidFill>
                  <a:srgbClr val="B4622D"/>
                </a:solidFill>
                <a:latin typeface="Calibri" pitchFamily="34" charset="0"/>
                <a:ea typeface="Calibri" pitchFamily="34" charset="-122"/>
                <a:cs typeface="Calibri" pitchFamily="34" charset="-120"/>
              </a:rPr>
              <a:t>p_panne = 2 %</a:t>
            </a:r>
            <a:endParaRPr lang="en-US" sz="1150" dirty="0"/>
          </a:p>
        </p:txBody>
      </p:sp>
      <p:sp>
        <p:nvSpPr>
          <p:cNvPr id="8" name="Text 6"/>
          <p:cNvSpPr/>
          <p:nvPr/>
        </p:nvSpPr>
        <p:spPr>
          <a:xfrm>
            <a:off x="621792" y="2377440"/>
            <a:ext cx="2359152" cy="603504"/>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Match Factor 4,0 — régime standard de la mine</a:t>
            </a:r>
            <a:endParaRPr lang="en-US" sz="950" dirty="0"/>
          </a:p>
        </p:txBody>
      </p:sp>
      <p:sp>
        <p:nvSpPr>
          <p:cNvPr id="9" name="Shape 7"/>
          <p:cNvSpPr/>
          <p:nvPr/>
        </p:nvSpPr>
        <p:spPr>
          <a:xfrm>
            <a:off x="3291840" y="1371600"/>
            <a:ext cx="2651760" cy="1691640"/>
          </a:xfrm>
          <a:prstGeom prst="roundRect">
            <a:avLst>
              <a:gd name="adj" fmla="val 32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0" name="Text 8"/>
          <p:cNvSpPr/>
          <p:nvPr/>
        </p:nvSpPr>
        <p:spPr>
          <a:xfrm>
            <a:off x="3456432" y="1517904"/>
            <a:ext cx="2331720" cy="292608"/>
          </a:xfrm>
          <a:prstGeom prst="rect">
            <a:avLst/>
          </a:prstGeom>
          <a:noFill/>
          <a:ln/>
        </p:spPr>
        <p:txBody>
          <a:bodyPr wrap="square" lIns="0" tIns="0" rIns="0" bIns="0" rtlCol="0" anchor="ctr"/>
          <a:lstStyle/>
          <a:p>
            <a:pPr marL="0" indent="0">
              <a:buNone/>
            </a:pPr>
            <a:r>
              <a:rPr lang="en-US" sz="1400" b="1" dirty="0">
                <a:solidFill>
                  <a:srgbClr val="8C4A1F"/>
                </a:solidFill>
                <a:latin typeface="Calibri" pitchFamily="34" charset="0"/>
                <a:ea typeface="Calibri" pitchFamily="34" charset="-122"/>
                <a:cs typeface="Calibri" pitchFamily="34" charset="-120"/>
              </a:rPr>
              <a:t>High Load</a:t>
            </a:r>
            <a:endParaRPr lang="en-US" sz="1400" dirty="0"/>
          </a:p>
        </p:txBody>
      </p:sp>
      <p:sp>
        <p:nvSpPr>
          <p:cNvPr id="11" name="Text 9"/>
          <p:cNvSpPr/>
          <p:nvPr/>
        </p:nvSpPr>
        <p:spPr>
          <a:xfrm>
            <a:off x="3456432" y="1847088"/>
            <a:ext cx="2331720" cy="256032"/>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18 camions · 3 pelles</a:t>
            </a:r>
            <a:endParaRPr lang="en-US" sz="1150" dirty="0"/>
          </a:p>
        </p:txBody>
      </p:sp>
      <p:sp>
        <p:nvSpPr>
          <p:cNvPr id="12" name="Text 10"/>
          <p:cNvSpPr/>
          <p:nvPr/>
        </p:nvSpPr>
        <p:spPr>
          <a:xfrm>
            <a:off x="3456432" y="2103120"/>
            <a:ext cx="2331720" cy="256032"/>
          </a:xfrm>
          <a:prstGeom prst="rect">
            <a:avLst/>
          </a:prstGeom>
          <a:noFill/>
          <a:ln/>
        </p:spPr>
        <p:txBody>
          <a:bodyPr wrap="square" lIns="0" tIns="0" rIns="0" bIns="0" rtlCol="0" anchor="ctr"/>
          <a:lstStyle/>
          <a:p>
            <a:pPr marL="0" indent="0">
              <a:buNone/>
            </a:pPr>
            <a:r>
              <a:rPr lang="en-US" sz="1150" b="1" dirty="0">
                <a:solidFill>
                  <a:srgbClr val="B4622D"/>
                </a:solidFill>
                <a:latin typeface="Calibri" pitchFamily="34" charset="0"/>
                <a:ea typeface="Calibri" pitchFamily="34" charset="-122"/>
                <a:cs typeface="Calibri" pitchFamily="34" charset="-120"/>
              </a:rPr>
              <a:t>p_panne = 2 %</a:t>
            </a:r>
            <a:endParaRPr lang="en-US" sz="1150" dirty="0"/>
          </a:p>
        </p:txBody>
      </p:sp>
      <p:sp>
        <p:nvSpPr>
          <p:cNvPr id="13" name="Text 11"/>
          <p:cNvSpPr/>
          <p:nvPr/>
        </p:nvSpPr>
        <p:spPr>
          <a:xfrm>
            <a:off x="3456432" y="2377440"/>
            <a:ext cx="2359152" cy="603504"/>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Match Factor 6,0 — surcharge : test de la congestion</a:t>
            </a:r>
            <a:endParaRPr lang="en-US" sz="950" dirty="0"/>
          </a:p>
        </p:txBody>
      </p:sp>
      <p:sp>
        <p:nvSpPr>
          <p:cNvPr id="14" name="Shape 12"/>
          <p:cNvSpPr/>
          <p:nvPr/>
        </p:nvSpPr>
        <p:spPr>
          <a:xfrm>
            <a:off x="6126480" y="1371600"/>
            <a:ext cx="2651760" cy="1691640"/>
          </a:xfrm>
          <a:prstGeom prst="roundRect">
            <a:avLst>
              <a:gd name="adj" fmla="val 3243"/>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5" name="Text 13"/>
          <p:cNvSpPr/>
          <p:nvPr/>
        </p:nvSpPr>
        <p:spPr>
          <a:xfrm>
            <a:off x="6291072" y="1517904"/>
            <a:ext cx="2331720" cy="292608"/>
          </a:xfrm>
          <a:prstGeom prst="rect">
            <a:avLst/>
          </a:prstGeom>
          <a:noFill/>
          <a:ln/>
        </p:spPr>
        <p:txBody>
          <a:bodyPr wrap="square" lIns="0" tIns="0" rIns="0" bIns="0" rtlCol="0" anchor="ctr"/>
          <a:lstStyle/>
          <a:p>
            <a:pPr marL="0" indent="0">
              <a:buNone/>
            </a:pPr>
            <a:r>
              <a:rPr lang="en-US" sz="1400" b="1" dirty="0">
                <a:solidFill>
                  <a:srgbClr val="8C4A1F"/>
                </a:solidFill>
                <a:latin typeface="Calibri" pitchFamily="34" charset="0"/>
                <a:ea typeface="Calibri" pitchFamily="34" charset="-122"/>
                <a:cs typeface="Calibri" pitchFamily="34" charset="-120"/>
              </a:rPr>
              <a:t>High Breakdown</a:t>
            </a:r>
            <a:endParaRPr lang="en-US" sz="1400" dirty="0"/>
          </a:p>
        </p:txBody>
      </p:sp>
      <p:sp>
        <p:nvSpPr>
          <p:cNvPr id="16" name="Text 14"/>
          <p:cNvSpPr/>
          <p:nvPr/>
        </p:nvSpPr>
        <p:spPr>
          <a:xfrm>
            <a:off x="6291072" y="1847088"/>
            <a:ext cx="2331720" cy="256032"/>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12 camions · 3 pelles</a:t>
            </a:r>
            <a:endParaRPr lang="en-US" sz="1150" dirty="0"/>
          </a:p>
        </p:txBody>
      </p:sp>
      <p:sp>
        <p:nvSpPr>
          <p:cNvPr id="17" name="Text 15"/>
          <p:cNvSpPr/>
          <p:nvPr/>
        </p:nvSpPr>
        <p:spPr>
          <a:xfrm>
            <a:off x="6291072" y="2103120"/>
            <a:ext cx="2331720" cy="256032"/>
          </a:xfrm>
          <a:prstGeom prst="rect">
            <a:avLst/>
          </a:prstGeom>
          <a:noFill/>
          <a:ln/>
        </p:spPr>
        <p:txBody>
          <a:bodyPr wrap="square" lIns="0" tIns="0" rIns="0" bIns="0" rtlCol="0" anchor="ctr"/>
          <a:lstStyle/>
          <a:p>
            <a:pPr marL="0" indent="0">
              <a:buNone/>
            </a:pPr>
            <a:r>
              <a:rPr lang="en-US" sz="1150" b="1" dirty="0">
                <a:solidFill>
                  <a:srgbClr val="B4622D"/>
                </a:solidFill>
                <a:latin typeface="Calibri" pitchFamily="34" charset="0"/>
                <a:ea typeface="Calibri" pitchFamily="34" charset="-122"/>
                <a:cs typeface="Calibri" pitchFamily="34" charset="-120"/>
              </a:rPr>
              <a:t>p_panne = 10 %</a:t>
            </a:r>
            <a:endParaRPr lang="en-US" sz="1150" dirty="0"/>
          </a:p>
        </p:txBody>
      </p:sp>
      <p:sp>
        <p:nvSpPr>
          <p:cNvPr id="18" name="Text 16"/>
          <p:cNvSpPr/>
          <p:nvPr/>
        </p:nvSpPr>
        <p:spPr>
          <a:xfrm>
            <a:off x="6291072" y="2377440"/>
            <a:ext cx="2359152" cy="603504"/>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Match Factor 4,0 — pannes fréquentes : test de robustesse</a:t>
            </a:r>
            <a:endParaRPr lang="en-US" sz="950" dirty="0"/>
          </a:p>
        </p:txBody>
      </p:sp>
      <p:sp>
        <p:nvSpPr>
          <p:cNvPr id="19" name="Shape 17"/>
          <p:cNvSpPr/>
          <p:nvPr/>
        </p:nvSpPr>
        <p:spPr>
          <a:xfrm>
            <a:off x="457200" y="3291840"/>
            <a:ext cx="8229600" cy="1417320"/>
          </a:xfrm>
          <a:prstGeom prst="roundRect">
            <a:avLst>
              <a:gd name="adj" fmla="val 3871"/>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20" name="Text 18"/>
          <p:cNvSpPr/>
          <p:nvPr/>
        </p:nvSpPr>
        <p:spPr>
          <a:xfrm>
            <a:off x="658368" y="3419856"/>
            <a:ext cx="7772400" cy="274320"/>
          </a:xfrm>
          <a:prstGeom prst="rect">
            <a:avLst/>
          </a:prstGeom>
          <a:noFill/>
          <a:ln/>
        </p:spPr>
        <p:txBody>
          <a:bodyPr wrap="square" lIns="0" tIns="0" rIns="0" bIns="0" rtlCol="0" anchor="ctr"/>
          <a:lstStyle/>
          <a:p>
            <a:pPr marL="0" indent="0">
              <a:buNone/>
            </a:pPr>
            <a:r>
              <a:rPr lang="en-US" sz="1250" b="1" dirty="0">
                <a:solidFill>
                  <a:srgbClr val="8C4A1F"/>
                </a:solidFill>
                <a:latin typeface="Calibri" pitchFamily="34" charset="0"/>
                <a:ea typeface="Calibri" pitchFamily="34" charset="-122"/>
                <a:cs typeface="Calibri" pitchFamily="34" charset="-120"/>
              </a:rPr>
              <a:t>Un protocole conçu pour la validité statistique</a:t>
            </a:r>
            <a:endParaRPr lang="en-US" sz="1250" dirty="0"/>
          </a:p>
        </p:txBody>
      </p:sp>
      <p:sp>
        <p:nvSpPr>
          <p:cNvPr id="21" name="Text 19"/>
          <p:cNvSpPr/>
          <p:nvPr/>
        </p:nvSpPr>
        <p:spPr>
          <a:xfrm>
            <a:off x="658368" y="3712464"/>
            <a:ext cx="7863840" cy="91440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22303F"/>
                </a:solidFill>
                <a:latin typeface="Calibri" pitchFamily="34" charset="0"/>
                <a:ea typeface="Calibri" pitchFamily="34" charset="-122"/>
                <a:cs typeface="Calibri" pitchFamily="34" charset="-120"/>
              </a:rPr>
              <a:t>8 politiques comparées : 4 heuristiques industrielles (FIFO, Fixed, Nearest, Shortest Path) + 4 agents RL (Q-Learning, SARSA, DQN, PPO)</a:t>
            </a:r>
            <a:endParaRPr lang="en-US" sz="1100" dirty="0"/>
          </a:p>
          <a:p>
            <a:pPr marL="342900" indent="-342900">
              <a:spcAft>
                <a:spcPts val="500"/>
              </a:spcAft>
              <a:buSzPct val="100000"/>
              <a:buChar char="•"/>
            </a:pPr>
            <a:r>
              <a:rPr lang="en-US" sz="1100" dirty="0">
                <a:solidFill>
                  <a:srgbClr val="22303F"/>
                </a:solidFill>
                <a:latin typeface="Calibri" pitchFamily="34" charset="0"/>
                <a:ea typeface="Calibri" pitchFamily="34" charset="-122"/>
                <a:cs typeface="Calibri" pitchFamily="34" charset="-120"/>
              </a:rPr>
              <a:t>10 réplications indépendantes par scénario (graines 42–51) → 240 simulations au total</a:t>
            </a:r>
            <a:endParaRPr lang="en-US" sz="1100" dirty="0"/>
          </a:p>
          <a:p>
            <a:pPr marL="342900" indent="-342900">
              <a:spcAft>
                <a:spcPts val="500"/>
              </a:spcAft>
              <a:buSzPct val="100000"/>
              <a:buChar char="•"/>
            </a:pPr>
            <a:r>
              <a:rPr lang="en-US" sz="1100" dirty="0">
                <a:solidFill>
                  <a:srgbClr val="22303F"/>
                </a:solidFill>
                <a:latin typeface="Calibri" pitchFamily="34" charset="0"/>
                <a:ea typeface="Calibri" pitchFamily="34" charset="-122"/>
                <a:cs typeface="Calibri" pitchFamily="34" charset="-120"/>
              </a:rPr>
              <a:t>Tests statistiques : ANOVA à un facteur, post-hoc Tukey HSD, tests t de Welch unilatéraux</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4 · RÉSULTATS EXPÉRIMENTAUX</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Scénario nominal : PPO et DQN dominent sur deux critères simultanément</a:t>
            </a:r>
            <a:endParaRPr lang="en-US" sz="2700" dirty="0"/>
          </a:p>
        </p:txBody>
      </p:sp>
      <p:sp>
        <p:nvSpPr>
          <p:cNvPr id="4" name="Shape 2"/>
          <p:cNvSpPr/>
          <p:nvPr/>
        </p:nvSpPr>
        <p:spPr>
          <a:xfrm>
            <a:off x="457200" y="1325880"/>
            <a:ext cx="5212080" cy="2880360"/>
          </a:xfrm>
          <a:prstGeom prst="roundRect">
            <a:avLst>
              <a:gd name="adj" fmla="val 1905"/>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5" name="Image 0" descr="barplot_productivite_scenarios.png"/>
          <p:cNvPicPr>
            <a:picLocks noChangeAspect="1"/>
          </p:cNvPicPr>
          <p:nvPr/>
        </p:nvPicPr>
        <p:blipFill>
          <a:blip r:embed="rId3"/>
          <a:stretch>
            <a:fillRect/>
          </a:stretch>
        </p:blipFill>
        <p:spPr>
          <a:xfrm>
            <a:off x="548640" y="1513332"/>
            <a:ext cx="5029200" cy="2514600"/>
          </a:xfrm>
          <a:prstGeom prst="rect">
            <a:avLst/>
          </a:prstGeom>
        </p:spPr>
      </p:pic>
      <p:sp>
        <p:nvSpPr>
          <p:cNvPr id="6" name="Shape 3"/>
          <p:cNvSpPr/>
          <p:nvPr/>
        </p:nvSpPr>
        <p:spPr>
          <a:xfrm>
            <a:off x="5806440" y="1325880"/>
            <a:ext cx="2880360" cy="603504"/>
          </a:xfrm>
          <a:prstGeom prst="roundRect">
            <a:avLst>
              <a:gd name="adj" fmla="val 9091"/>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7" name="Text 4"/>
          <p:cNvSpPr/>
          <p:nvPr/>
        </p:nvSpPr>
        <p:spPr>
          <a:xfrm>
            <a:off x="5989320" y="1399032"/>
            <a:ext cx="1417320" cy="457200"/>
          </a:xfrm>
          <a:prstGeom prst="rect">
            <a:avLst/>
          </a:prstGeom>
          <a:noFill/>
          <a:ln/>
        </p:spPr>
        <p:txBody>
          <a:bodyPr wrap="square" lIns="0" tIns="0" rIns="0" bIns="0" rtlCol="0" anchor="ctr"/>
          <a:lstStyle/>
          <a:p>
            <a:pPr marL="0" indent="0">
              <a:buNone/>
            </a:pPr>
            <a:r>
              <a:rPr lang="en-US" sz="1200" b="1" dirty="0">
                <a:solidFill>
                  <a:srgbClr val="22303F"/>
                </a:solidFill>
                <a:latin typeface="Calibri" pitchFamily="34" charset="0"/>
                <a:ea typeface="Calibri" pitchFamily="34" charset="-122"/>
                <a:cs typeface="Calibri" pitchFamily="34" charset="-120"/>
              </a:rPr>
              <a:t>PPO</a:t>
            </a:r>
            <a:endParaRPr lang="en-US" sz="1200" dirty="0"/>
          </a:p>
        </p:txBody>
      </p:sp>
      <p:sp>
        <p:nvSpPr>
          <p:cNvPr id="8" name="Text 5"/>
          <p:cNvSpPr/>
          <p:nvPr/>
        </p:nvSpPr>
        <p:spPr>
          <a:xfrm>
            <a:off x="7315200" y="1399032"/>
            <a:ext cx="1280160" cy="457200"/>
          </a:xfrm>
          <a:prstGeom prst="rect">
            <a:avLst/>
          </a:prstGeom>
          <a:noFill/>
          <a:ln/>
        </p:spPr>
        <p:txBody>
          <a:bodyPr wrap="square" lIns="0" tIns="0" rIns="0" bIns="0" rtlCol="0" anchor="ctr"/>
          <a:lstStyle/>
          <a:p>
            <a:pPr marL="0" indent="0" algn="r">
              <a:buNone/>
            </a:pPr>
            <a:r>
              <a:rPr lang="en-US" sz="1400" b="1" dirty="0">
                <a:solidFill>
                  <a:srgbClr val="2E7D32"/>
                </a:solidFill>
                <a:latin typeface="Cambria" pitchFamily="34" charset="0"/>
                <a:ea typeface="Cambria" pitchFamily="34" charset="-122"/>
                <a:cs typeface="Cambria" pitchFamily="34" charset="-120"/>
              </a:rPr>
              <a:t>4 208,8 t/h</a:t>
            </a:r>
            <a:endParaRPr lang="en-US" sz="1400" dirty="0"/>
          </a:p>
        </p:txBody>
      </p:sp>
      <p:sp>
        <p:nvSpPr>
          <p:cNvPr id="9" name="Shape 6"/>
          <p:cNvSpPr/>
          <p:nvPr/>
        </p:nvSpPr>
        <p:spPr>
          <a:xfrm>
            <a:off x="5806440" y="2039112"/>
            <a:ext cx="2880360" cy="603504"/>
          </a:xfrm>
          <a:prstGeom prst="roundRect">
            <a:avLst>
              <a:gd name="adj" fmla="val 9091"/>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0" name="Text 7"/>
          <p:cNvSpPr/>
          <p:nvPr/>
        </p:nvSpPr>
        <p:spPr>
          <a:xfrm>
            <a:off x="5989320" y="2112264"/>
            <a:ext cx="1417320" cy="457200"/>
          </a:xfrm>
          <a:prstGeom prst="rect">
            <a:avLst/>
          </a:prstGeom>
          <a:noFill/>
          <a:ln/>
        </p:spPr>
        <p:txBody>
          <a:bodyPr wrap="square" lIns="0" tIns="0" rIns="0" bIns="0" rtlCol="0" anchor="ctr"/>
          <a:lstStyle/>
          <a:p>
            <a:pPr marL="0" indent="0">
              <a:buNone/>
            </a:pPr>
            <a:r>
              <a:rPr lang="en-US" sz="1200" b="1" dirty="0">
                <a:solidFill>
                  <a:srgbClr val="22303F"/>
                </a:solidFill>
                <a:latin typeface="Calibri" pitchFamily="34" charset="0"/>
                <a:ea typeface="Calibri" pitchFamily="34" charset="-122"/>
                <a:cs typeface="Calibri" pitchFamily="34" charset="-120"/>
              </a:rPr>
              <a:t>DQN</a:t>
            </a:r>
            <a:endParaRPr lang="en-US" sz="1200" dirty="0"/>
          </a:p>
        </p:txBody>
      </p:sp>
      <p:sp>
        <p:nvSpPr>
          <p:cNvPr id="11" name="Text 8"/>
          <p:cNvSpPr/>
          <p:nvPr/>
        </p:nvSpPr>
        <p:spPr>
          <a:xfrm>
            <a:off x="7315200" y="2112264"/>
            <a:ext cx="1280160" cy="457200"/>
          </a:xfrm>
          <a:prstGeom prst="rect">
            <a:avLst/>
          </a:prstGeom>
          <a:noFill/>
          <a:ln/>
        </p:spPr>
        <p:txBody>
          <a:bodyPr wrap="square" lIns="0" tIns="0" rIns="0" bIns="0" rtlCol="0" anchor="ctr"/>
          <a:lstStyle/>
          <a:p>
            <a:pPr marL="0" indent="0" algn="r">
              <a:buNone/>
            </a:pPr>
            <a:r>
              <a:rPr lang="en-US" sz="1400" b="1" dirty="0">
                <a:solidFill>
                  <a:srgbClr val="2E7D32"/>
                </a:solidFill>
                <a:latin typeface="Cambria" pitchFamily="34" charset="0"/>
                <a:ea typeface="Cambria" pitchFamily="34" charset="-122"/>
                <a:cs typeface="Cambria" pitchFamily="34" charset="-120"/>
              </a:rPr>
              <a:t>4 168,5 t/h</a:t>
            </a:r>
            <a:endParaRPr lang="en-US" sz="1400" dirty="0"/>
          </a:p>
        </p:txBody>
      </p:sp>
      <p:sp>
        <p:nvSpPr>
          <p:cNvPr id="12" name="Shape 9"/>
          <p:cNvSpPr/>
          <p:nvPr/>
        </p:nvSpPr>
        <p:spPr>
          <a:xfrm>
            <a:off x="5806440" y="2752344"/>
            <a:ext cx="2880360" cy="603504"/>
          </a:xfrm>
          <a:prstGeom prst="roundRect">
            <a:avLst>
              <a:gd name="adj" fmla="val 9091"/>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3" name="Text 10"/>
          <p:cNvSpPr/>
          <p:nvPr/>
        </p:nvSpPr>
        <p:spPr>
          <a:xfrm>
            <a:off x="5989320" y="2825496"/>
            <a:ext cx="1417320" cy="457200"/>
          </a:xfrm>
          <a:prstGeom prst="rect">
            <a:avLst/>
          </a:prstGeom>
          <a:noFill/>
          <a:ln/>
        </p:spPr>
        <p:txBody>
          <a:bodyPr wrap="square" lIns="0" tIns="0" rIns="0" bIns="0" rtlCol="0" anchor="ctr"/>
          <a:lstStyle/>
          <a:p>
            <a:pPr marL="0" indent="0">
              <a:buNone/>
            </a:pPr>
            <a:r>
              <a:rPr lang="en-US" sz="1200" b="1" dirty="0">
                <a:solidFill>
                  <a:srgbClr val="22303F"/>
                </a:solidFill>
                <a:latin typeface="Calibri" pitchFamily="34" charset="0"/>
                <a:ea typeface="Calibri" pitchFamily="34" charset="-122"/>
                <a:cs typeface="Calibri" pitchFamily="34" charset="-120"/>
              </a:rPr>
              <a:t>Fixed (référence)</a:t>
            </a:r>
            <a:endParaRPr lang="en-US" sz="1200" dirty="0"/>
          </a:p>
        </p:txBody>
      </p:sp>
      <p:sp>
        <p:nvSpPr>
          <p:cNvPr id="14" name="Text 11"/>
          <p:cNvSpPr/>
          <p:nvPr/>
        </p:nvSpPr>
        <p:spPr>
          <a:xfrm>
            <a:off x="7315200" y="2825496"/>
            <a:ext cx="1280160" cy="457200"/>
          </a:xfrm>
          <a:prstGeom prst="rect">
            <a:avLst/>
          </a:prstGeom>
          <a:noFill/>
          <a:ln/>
        </p:spPr>
        <p:txBody>
          <a:bodyPr wrap="square" lIns="0" tIns="0" rIns="0" bIns="0" rtlCol="0" anchor="ctr"/>
          <a:lstStyle/>
          <a:p>
            <a:pPr marL="0" indent="0" algn="r">
              <a:buNone/>
            </a:pPr>
            <a:r>
              <a:rPr lang="en-US" sz="1400" b="1" dirty="0">
                <a:solidFill>
                  <a:srgbClr val="5A6672"/>
                </a:solidFill>
                <a:latin typeface="Cambria" pitchFamily="34" charset="0"/>
                <a:ea typeface="Cambria" pitchFamily="34" charset="-122"/>
                <a:cs typeface="Cambria" pitchFamily="34" charset="-120"/>
              </a:rPr>
              <a:t>4 074,0 t/h</a:t>
            </a:r>
            <a:endParaRPr lang="en-US" sz="1400" dirty="0"/>
          </a:p>
        </p:txBody>
      </p:sp>
      <p:sp>
        <p:nvSpPr>
          <p:cNvPr id="15" name="Shape 12"/>
          <p:cNvSpPr/>
          <p:nvPr/>
        </p:nvSpPr>
        <p:spPr>
          <a:xfrm>
            <a:off x="5806440" y="3474720"/>
            <a:ext cx="2880360" cy="1234440"/>
          </a:xfrm>
          <a:prstGeom prst="roundRect">
            <a:avLst>
              <a:gd name="adj" fmla="val 4444"/>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6" name="Text 13"/>
          <p:cNvSpPr/>
          <p:nvPr/>
        </p:nvSpPr>
        <p:spPr>
          <a:xfrm>
            <a:off x="5989320" y="3584448"/>
            <a:ext cx="2560320" cy="256032"/>
          </a:xfrm>
          <a:prstGeom prst="rect">
            <a:avLst/>
          </a:prstGeom>
          <a:noFill/>
          <a:ln/>
        </p:spPr>
        <p:txBody>
          <a:bodyPr wrap="square" lIns="0" tIns="0" rIns="0" bIns="0" rtlCol="0" anchor="ctr"/>
          <a:lstStyle/>
          <a:p>
            <a:pPr marL="0" indent="0">
              <a:buNone/>
            </a:pPr>
            <a:r>
              <a:rPr lang="en-US" sz="1150" b="1" dirty="0">
                <a:solidFill>
                  <a:srgbClr val="8C4A1F"/>
                </a:solidFill>
                <a:latin typeface="Calibri" pitchFamily="34" charset="0"/>
                <a:ea typeface="Calibri" pitchFamily="34" charset="-122"/>
                <a:cs typeface="Calibri" pitchFamily="34" charset="-120"/>
              </a:rPr>
              <a:t>Gains PPO vs Fixed</a:t>
            </a:r>
            <a:endParaRPr lang="en-US" sz="1150" dirty="0"/>
          </a:p>
        </p:txBody>
      </p:sp>
      <p:sp>
        <p:nvSpPr>
          <p:cNvPr id="17" name="Text 14"/>
          <p:cNvSpPr/>
          <p:nvPr/>
        </p:nvSpPr>
        <p:spPr>
          <a:xfrm>
            <a:off x="5989320" y="3840480"/>
            <a:ext cx="2606040" cy="82296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22303F"/>
                </a:solidFill>
                <a:latin typeface="Calibri" pitchFamily="34" charset="0"/>
                <a:ea typeface="Calibri" pitchFamily="34" charset="-122"/>
                <a:cs typeface="Calibri" pitchFamily="34" charset="-120"/>
              </a:rPr>
              <a:t>+3,3 % de productivité</a:t>
            </a:r>
            <a:endParaRPr lang="en-US" sz="1050" dirty="0"/>
          </a:p>
          <a:p>
            <a:pPr marL="342900" indent="-342900">
              <a:spcAft>
                <a:spcPts val="300"/>
              </a:spcAft>
              <a:buSzPct val="100000"/>
              <a:buChar char="•"/>
            </a:pPr>
            <a:r>
              <a:rPr lang="en-US" sz="1050" dirty="0">
                <a:solidFill>
                  <a:srgbClr val="22303F"/>
                </a:solidFill>
                <a:latin typeface="Calibri" pitchFamily="34" charset="0"/>
                <a:ea typeface="Calibri" pitchFamily="34" charset="-122"/>
                <a:cs typeface="Calibri" pitchFamily="34" charset="-120"/>
              </a:rPr>
              <a:t>−4,4 % de carburant (L/t)</a:t>
            </a:r>
            <a:endParaRPr lang="en-US" sz="1050" dirty="0"/>
          </a:p>
          <a:p>
            <a:pPr marL="342900" indent="-342900">
              <a:spcAft>
                <a:spcPts val="300"/>
              </a:spcAft>
              <a:buSzPct val="100000"/>
              <a:buChar char="•"/>
            </a:pPr>
            <a:r>
              <a:rPr lang="en-US" sz="1050" b="1" dirty="0">
                <a:solidFill>
                  <a:srgbClr val="22303F"/>
                </a:solidFill>
                <a:latin typeface="Calibri" pitchFamily="34" charset="0"/>
                <a:ea typeface="Calibri" pitchFamily="34" charset="-122"/>
                <a:cs typeface="Calibri" pitchFamily="34" charset="-120"/>
              </a:rPr>
              <a:t>Welch : t = 6,36 · p = 3×10⁻⁶ ✓</a:t>
            </a:r>
            <a:endParaRPr lang="en-US" sz="1050" dirty="0"/>
          </a:p>
        </p:txBody>
      </p:sp>
      <p:sp>
        <p:nvSpPr>
          <p:cNvPr id="18" name="Text 15"/>
          <p:cNvSpPr/>
          <p:nvPr/>
        </p:nvSpPr>
        <p:spPr>
          <a:xfrm>
            <a:off x="457200" y="4389120"/>
            <a:ext cx="5212080" cy="502920"/>
          </a:xfrm>
          <a:prstGeom prst="rect">
            <a:avLst/>
          </a:prstGeom>
          <a:noFill/>
          <a:ln/>
        </p:spPr>
        <p:txBody>
          <a:bodyPr wrap="square" lIns="0" tIns="0" rIns="0" bIns="0" rtlCol="0" anchor="ctr"/>
          <a:lstStyle/>
          <a:p>
            <a:pPr marL="0" indent="0">
              <a:buNone/>
            </a:pPr>
            <a:r>
              <a:rPr lang="en-US" sz="1150" b="1" i="1" dirty="0">
                <a:solidFill>
                  <a:srgbClr val="8C4A1F"/>
                </a:solidFill>
                <a:latin typeface="Calibri" pitchFamily="34" charset="0"/>
                <a:ea typeface="Calibri" pitchFamily="34" charset="-122"/>
                <a:cs typeface="Calibri" pitchFamily="34" charset="-120"/>
              </a:rPr>
              <a:t>Message : les agents Deep RL surpassent la meilleure heuristique en productivité ET en carburant — H1 validée dans le scénario standard.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4 · RÉSULTATS EXPÉRIMENTAUX</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Scénario high_load : les heuristiques myopes s'effondrent</a:t>
            </a:r>
            <a:endParaRPr lang="en-US" sz="2700" dirty="0"/>
          </a:p>
        </p:txBody>
      </p:sp>
      <p:sp>
        <p:nvSpPr>
          <p:cNvPr id="4" name="Shape 2"/>
          <p:cNvSpPr/>
          <p:nvPr/>
        </p:nvSpPr>
        <p:spPr>
          <a:xfrm>
            <a:off x="457200" y="1371600"/>
            <a:ext cx="4023360" cy="1463040"/>
          </a:xfrm>
          <a:prstGeom prst="roundRect">
            <a:avLst>
              <a:gd name="adj" fmla="val 375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Text 3"/>
          <p:cNvSpPr/>
          <p:nvPr/>
        </p:nvSpPr>
        <p:spPr>
          <a:xfrm>
            <a:off x="640080" y="1499616"/>
            <a:ext cx="3657600" cy="2743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Fixed Assignment gagne… par construction</a:t>
            </a:r>
            <a:endParaRPr lang="en-US" sz="1250" dirty="0"/>
          </a:p>
        </p:txBody>
      </p:sp>
      <p:sp>
        <p:nvSpPr>
          <p:cNvPr id="6" name="Text 4"/>
          <p:cNvSpPr/>
          <p:nvPr/>
        </p:nvSpPr>
        <p:spPr>
          <a:xfrm>
            <a:off x="640080" y="1792224"/>
            <a:ext cx="3703320" cy="91440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22303F"/>
                </a:solidFill>
                <a:latin typeface="Calibri" pitchFamily="34" charset="0"/>
                <a:ea typeface="Calibri" pitchFamily="34" charset="-122"/>
                <a:cs typeface="Calibri" pitchFamily="34" charset="-120"/>
              </a:rPr>
              <a:t>Fixed : 5 874,8 t/h — Match Factor parfait (18/3 = 6)</a:t>
            </a:r>
            <a:endParaRPr lang="en-US" sz="1100" dirty="0"/>
          </a:p>
          <a:p>
            <a:pPr marL="342900" indent="-342900">
              <a:spcAft>
                <a:spcPts val="500"/>
              </a:spcAft>
              <a:buSzPct val="100000"/>
              <a:buChar char="•"/>
            </a:pPr>
            <a:r>
              <a:rPr lang="en-US" sz="1100" dirty="0">
                <a:solidFill>
                  <a:srgbClr val="22303F"/>
                </a:solidFill>
                <a:latin typeface="Calibri" pitchFamily="34" charset="0"/>
                <a:ea typeface="Calibri" pitchFamily="34" charset="-122"/>
                <a:cs typeface="Calibri" pitchFamily="34" charset="-120"/>
              </a:rPr>
              <a:t>DQN : 5 664,8 t/h, soit −3,6 % seulement</a:t>
            </a:r>
            <a:endParaRPr lang="en-US" sz="1100" dirty="0"/>
          </a:p>
        </p:txBody>
      </p:sp>
      <p:sp>
        <p:nvSpPr>
          <p:cNvPr id="7" name="Shape 5"/>
          <p:cNvSpPr/>
          <p:nvPr/>
        </p:nvSpPr>
        <p:spPr>
          <a:xfrm>
            <a:off x="4663440" y="1371600"/>
            <a:ext cx="4023360" cy="1463040"/>
          </a:xfrm>
          <a:prstGeom prst="roundRect">
            <a:avLst>
              <a:gd name="adj" fmla="val 375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8" name="Text 6"/>
          <p:cNvSpPr/>
          <p:nvPr/>
        </p:nvSpPr>
        <p:spPr>
          <a:xfrm>
            <a:off x="4846320" y="1499616"/>
            <a:ext cx="3657600" cy="274320"/>
          </a:xfrm>
          <a:prstGeom prst="rect">
            <a:avLst/>
          </a:prstGeom>
          <a:noFill/>
          <a:ln/>
        </p:spPr>
        <p:txBody>
          <a:bodyPr wrap="square" lIns="0" tIns="0" rIns="0" bIns="0" rtlCol="0" anchor="ctr"/>
          <a:lstStyle/>
          <a:p>
            <a:pPr marL="0" indent="0">
              <a:buNone/>
            </a:pPr>
            <a:r>
              <a:rPr lang="en-US" sz="1250" b="1" dirty="0">
                <a:solidFill>
                  <a:srgbClr val="B03A2E"/>
                </a:solidFill>
                <a:latin typeface="Calibri" pitchFamily="34" charset="0"/>
                <a:ea typeface="Calibri" pitchFamily="34" charset="-122"/>
                <a:cs typeface="Calibri" pitchFamily="34" charset="-120"/>
              </a:rPr>
              <a:t>… mais les heuristiques myopes explosent</a:t>
            </a:r>
            <a:endParaRPr lang="en-US" sz="1250" dirty="0"/>
          </a:p>
        </p:txBody>
      </p:sp>
      <p:sp>
        <p:nvSpPr>
          <p:cNvPr id="9" name="Text 7"/>
          <p:cNvSpPr/>
          <p:nvPr/>
        </p:nvSpPr>
        <p:spPr>
          <a:xfrm>
            <a:off x="4846320" y="1792224"/>
            <a:ext cx="3703320" cy="914400"/>
          </a:xfrm>
          <a:prstGeom prst="rect">
            <a:avLst/>
          </a:prstGeom>
          <a:noFill/>
          <a:ln/>
        </p:spPr>
        <p:txBody>
          <a:bodyPr wrap="square" lIns="0" tIns="0" rIns="0" bIns="0" rtlCol="0" anchor="ctr"/>
          <a:lstStyle/>
          <a:p>
            <a:pPr marL="342900" indent="-342900">
              <a:spcAft>
                <a:spcPts val="500"/>
              </a:spcAft>
              <a:buSzPct val="100000"/>
              <a:buChar char="•"/>
            </a:pPr>
            <a:r>
              <a:rPr lang="en-US" sz="1100" b="1" dirty="0">
                <a:solidFill>
                  <a:srgbClr val="22303F"/>
                </a:solidFill>
                <a:latin typeface="Calibri" pitchFamily="34" charset="0"/>
                <a:ea typeface="Calibri" pitchFamily="34" charset="-122"/>
                <a:cs typeface="Calibri" pitchFamily="34" charset="-120"/>
              </a:rPr>
              <a:t>Nearest Shovel : 200,2 min d'attente moyenne</a:t>
            </a:r>
            <a:endParaRPr lang="en-US" sz="1100" dirty="0"/>
          </a:p>
          <a:p>
            <a:pPr marL="342900" indent="-342900">
              <a:spcAft>
                <a:spcPts val="500"/>
              </a:spcAft>
              <a:buSzPct val="100000"/>
              <a:buChar char="•"/>
            </a:pPr>
            <a:r>
              <a:rPr lang="en-US" sz="1100" dirty="0">
                <a:solidFill>
                  <a:srgbClr val="22303F"/>
                </a:solidFill>
                <a:latin typeface="Calibri" pitchFamily="34" charset="0"/>
                <a:ea typeface="Calibri" pitchFamily="34" charset="-122"/>
                <a:cs typeface="Calibri" pitchFamily="34" charset="-120"/>
              </a:rPr>
              <a:t>Toute la flotte converge vers la même pelle → saturation totale</a:t>
            </a:r>
            <a:endParaRPr lang="en-US" sz="1100" dirty="0"/>
          </a:p>
        </p:txBody>
      </p:sp>
      <p:sp>
        <p:nvSpPr>
          <p:cNvPr id="10" name="Shape 8"/>
          <p:cNvSpPr/>
          <p:nvPr/>
        </p:nvSpPr>
        <p:spPr>
          <a:xfrm>
            <a:off x="457200" y="3017520"/>
            <a:ext cx="8229600" cy="1097280"/>
          </a:xfrm>
          <a:prstGeom prst="roundRect">
            <a:avLst>
              <a:gd name="adj" fmla="val 500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1" name="Text 9"/>
          <p:cNvSpPr/>
          <p:nvPr/>
        </p:nvSpPr>
        <p:spPr>
          <a:xfrm>
            <a:off x="731520" y="3145536"/>
            <a:ext cx="2743200" cy="566928"/>
          </a:xfrm>
          <a:prstGeom prst="rect">
            <a:avLst/>
          </a:prstGeom>
          <a:noFill/>
          <a:ln/>
        </p:spPr>
        <p:txBody>
          <a:bodyPr wrap="square" lIns="0" tIns="0" rIns="0" bIns="0" rtlCol="0" anchor="ctr"/>
          <a:lstStyle/>
          <a:p>
            <a:pPr marL="0" indent="0" algn="ctr">
              <a:buNone/>
            </a:pPr>
            <a:r>
              <a:rPr lang="en-US" sz="3000" b="1" dirty="0">
                <a:solidFill>
                  <a:srgbClr val="2E7D32"/>
                </a:solidFill>
                <a:latin typeface="Cambria" pitchFamily="34" charset="0"/>
                <a:ea typeface="Cambria" pitchFamily="34" charset="-122"/>
                <a:cs typeface="Cambria" pitchFamily="34" charset="-120"/>
              </a:rPr>
              <a:t>+1 725,5 t/h</a:t>
            </a:r>
            <a:endParaRPr lang="en-US" sz="3000" dirty="0"/>
          </a:p>
        </p:txBody>
      </p:sp>
      <p:sp>
        <p:nvSpPr>
          <p:cNvPr id="12" name="Text 10"/>
          <p:cNvSpPr/>
          <p:nvPr/>
        </p:nvSpPr>
        <p:spPr>
          <a:xfrm>
            <a:off x="731520" y="3694176"/>
            <a:ext cx="2743200" cy="502920"/>
          </a:xfrm>
          <a:prstGeom prst="rect">
            <a:avLst/>
          </a:prstGeom>
          <a:noFill/>
          <a:ln/>
        </p:spPr>
        <p:txBody>
          <a:bodyPr wrap="square" lIns="0" tIns="0" rIns="0" bIns="0" rtlCol="0" anchor="ctr"/>
          <a:lstStyle/>
          <a:p>
            <a:pPr marL="0" indent="0" algn="ctr">
              <a:buNone/>
            </a:pPr>
            <a:r>
              <a:rPr lang="en-US" sz="1150" dirty="0">
                <a:solidFill>
                  <a:srgbClr val="5A6672"/>
                </a:solidFill>
                <a:latin typeface="Calibri" pitchFamily="34" charset="0"/>
                <a:ea typeface="Calibri" pitchFamily="34" charset="-122"/>
                <a:cs typeface="Calibri" pitchFamily="34" charset="-120"/>
              </a:rPr>
              <a:t>écart DQN vs Nearest Shovel</a:t>
            </a:r>
            <a:endParaRPr lang="en-US" sz="1150" dirty="0"/>
          </a:p>
        </p:txBody>
      </p:sp>
      <p:sp>
        <p:nvSpPr>
          <p:cNvPr id="13" name="Text 11"/>
          <p:cNvSpPr/>
          <p:nvPr/>
        </p:nvSpPr>
        <p:spPr>
          <a:xfrm>
            <a:off x="3566160" y="3145536"/>
            <a:ext cx="2377440" cy="566928"/>
          </a:xfrm>
          <a:prstGeom prst="rect">
            <a:avLst/>
          </a:prstGeom>
          <a:noFill/>
          <a:ln/>
        </p:spPr>
        <p:txBody>
          <a:bodyPr wrap="square" lIns="0" tIns="0" rIns="0" bIns="0" rtlCol="0" anchor="ctr"/>
          <a:lstStyle/>
          <a:p>
            <a:pPr marL="0" indent="0" algn="ctr">
              <a:buNone/>
            </a:pPr>
            <a:r>
              <a:rPr lang="en-US" sz="3000" b="1" dirty="0">
                <a:solidFill>
                  <a:srgbClr val="22303F"/>
                </a:solidFill>
                <a:latin typeface="Cambria" pitchFamily="34" charset="0"/>
                <a:ea typeface="Cambria" pitchFamily="34" charset="-122"/>
                <a:cs typeface="Cambria" pitchFamily="34" charset="-120"/>
              </a:rPr>
              <a:t>t = 65,33</a:t>
            </a:r>
            <a:endParaRPr lang="en-US" sz="3000" dirty="0"/>
          </a:p>
        </p:txBody>
      </p:sp>
      <p:sp>
        <p:nvSpPr>
          <p:cNvPr id="14" name="Text 12"/>
          <p:cNvSpPr/>
          <p:nvPr/>
        </p:nvSpPr>
        <p:spPr>
          <a:xfrm>
            <a:off x="3566160" y="3694176"/>
            <a:ext cx="2377440" cy="502920"/>
          </a:xfrm>
          <a:prstGeom prst="rect">
            <a:avLst/>
          </a:prstGeom>
          <a:noFill/>
          <a:ln/>
        </p:spPr>
        <p:txBody>
          <a:bodyPr wrap="square" lIns="0" tIns="0" rIns="0" bIns="0" rtlCol="0" anchor="ctr"/>
          <a:lstStyle/>
          <a:p>
            <a:pPr marL="0" indent="0" algn="ctr">
              <a:buNone/>
            </a:pPr>
            <a:r>
              <a:rPr lang="en-US" sz="1150" dirty="0">
                <a:solidFill>
                  <a:srgbClr val="5A6672"/>
                </a:solidFill>
                <a:latin typeface="Calibri" pitchFamily="34" charset="0"/>
                <a:ea typeface="Calibri" pitchFamily="34" charset="-122"/>
                <a:cs typeface="Calibri" pitchFamily="34" charset="-120"/>
              </a:rPr>
              <a:t>test t de Welch · p ≈ 0</a:t>
            </a:r>
            <a:endParaRPr lang="en-US" sz="1150" dirty="0"/>
          </a:p>
        </p:txBody>
      </p:sp>
      <p:sp>
        <p:nvSpPr>
          <p:cNvPr id="15" name="Text 13"/>
          <p:cNvSpPr/>
          <p:nvPr/>
        </p:nvSpPr>
        <p:spPr>
          <a:xfrm>
            <a:off x="6035040" y="3145536"/>
            <a:ext cx="2377440" cy="566928"/>
          </a:xfrm>
          <a:prstGeom prst="rect">
            <a:avLst/>
          </a:prstGeom>
          <a:noFill/>
          <a:ln/>
        </p:spPr>
        <p:txBody>
          <a:bodyPr wrap="square" lIns="0" tIns="0" rIns="0" bIns="0" rtlCol="0" anchor="ctr"/>
          <a:lstStyle/>
          <a:p>
            <a:pPr marL="0" indent="0" algn="ctr">
              <a:buNone/>
            </a:pPr>
            <a:r>
              <a:rPr lang="en-US" sz="3000" b="1" dirty="0">
                <a:solidFill>
                  <a:srgbClr val="B8860B"/>
                </a:solidFill>
                <a:latin typeface="Cambria" pitchFamily="34" charset="0"/>
                <a:ea typeface="Cambria" pitchFamily="34" charset="-122"/>
                <a:cs typeface="Cambria" pitchFamily="34" charset="-120"/>
              </a:rPr>
              <a:t>93,3 %</a:t>
            </a:r>
            <a:endParaRPr lang="en-US" sz="3000" dirty="0"/>
          </a:p>
        </p:txBody>
      </p:sp>
      <p:sp>
        <p:nvSpPr>
          <p:cNvPr id="16" name="Text 14"/>
          <p:cNvSpPr/>
          <p:nvPr/>
        </p:nvSpPr>
        <p:spPr>
          <a:xfrm>
            <a:off x="6035040" y="3694176"/>
            <a:ext cx="2377440" cy="502920"/>
          </a:xfrm>
          <a:prstGeom prst="rect">
            <a:avLst/>
          </a:prstGeom>
          <a:noFill/>
          <a:ln/>
        </p:spPr>
        <p:txBody>
          <a:bodyPr wrap="square" lIns="0" tIns="0" rIns="0" bIns="0" rtlCol="0" anchor="ctr"/>
          <a:lstStyle/>
          <a:p>
            <a:pPr marL="0" indent="0" algn="ctr">
              <a:buNone/>
            </a:pPr>
            <a:r>
              <a:rPr lang="en-US" sz="1150" dirty="0">
                <a:solidFill>
                  <a:srgbClr val="5A6672"/>
                </a:solidFill>
                <a:latin typeface="Calibri" pitchFamily="34" charset="0"/>
                <a:ea typeface="Calibri" pitchFamily="34" charset="-122"/>
                <a:cs typeface="Calibri" pitchFamily="34" charset="-120"/>
              </a:rPr>
              <a:t>d'actions ATTENDRE chez PPO en surcharge</a:t>
            </a:r>
            <a:endParaRPr lang="en-US" sz="1150" dirty="0"/>
          </a:p>
        </p:txBody>
      </p:sp>
      <p:sp>
        <p:nvSpPr>
          <p:cNvPr id="17" name="Text 15"/>
          <p:cNvSpPr/>
          <p:nvPr/>
        </p:nvSpPr>
        <p:spPr>
          <a:xfrm>
            <a:off x="457200" y="4315968"/>
            <a:ext cx="8229600" cy="457200"/>
          </a:xfrm>
          <a:prstGeom prst="rect">
            <a:avLst/>
          </a:prstGeom>
          <a:noFill/>
          <a:ln/>
        </p:spPr>
        <p:txBody>
          <a:bodyPr wrap="square" lIns="0" tIns="0" rIns="0" bIns="0" rtlCol="0" anchor="ctr"/>
          <a:lstStyle/>
          <a:p>
            <a:pPr marL="0" indent="0">
              <a:buNone/>
            </a:pPr>
            <a:r>
              <a:rPr lang="en-US" sz="1200" b="1" i="1" dirty="0">
                <a:solidFill>
                  <a:srgbClr val="8C4A1F"/>
                </a:solidFill>
                <a:latin typeface="Calibri" pitchFamily="34" charset="0"/>
                <a:ea typeface="Calibri" pitchFamily="34" charset="-122"/>
                <a:cs typeface="Calibri" pitchFamily="34" charset="-120"/>
              </a:rPr>
              <a:t>Message : quand la mine sature, le RL maintient ses performances là où les règles myopes s'effondrent — c'est ici que le RL justifie son existence.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4 · RÉSULTATS EXPÉRIMENTAUX</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Scénario high_breakdown : le RL s'adapte aux pannes</a:t>
            </a:r>
            <a:endParaRPr lang="en-US" sz="2700" dirty="0"/>
          </a:p>
        </p:txBody>
      </p:sp>
      <p:sp>
        <p:nvSpPr>
          <p:cNvPr id="4" name="Shape 2"/>
          <p:cNvSpPr/>
          <p:nvPr/>
        </p:nvSpPr>
        <p:spPr>
          <a:xfrm>
            <a:off x="457200" y="1325880"/>
            <a:ext cx="4572000" cy="2926080"/>
          </a:xfrm>
          <a:prstGeom prst="roundRect">
            <a:avLst>
              <a:gd name="adj" fmla="val 1875"/>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5" name="Image 0" descr="wait_time_comparison.png"/>
          <p:cNvPicPr>
            <a:picLocks noChangeAspect="1"/>
          </p:cNvPicPr>
          <p:nvPr/>
        </p:nvPicPr>
        <p:blipFill>
          <a:blip r:embed="rId3"/>
          <a:stretch>
            <a:fillRect/>
          </a:stretch>
        </p:blipFill>
        <p:spPr>
          <a:xfrm>
            <a:off x="548640" y="1415512"/>
            <a:ext cx="4389120" cy="2755959"/>
          </a:xfrm>
          <a:prstGeom prst="rect">
            <a:avLst/>
          </a:prstGeom>
        </p:spPr>
      </p:pic>
      <p:sp>
        <p:nvSpPr>
          <p:cNvPr id="6" name="Shape 3"/>
          <p:cNvSpPr/>
          <p:nvPr/>
        </p:nvSpPr>
        <p:spPr>
          <a:xfrm>
            <a:off x="5212080" y="1325880"/>
            <a:ext cx="3474720" cy="731520"/>
          </a:xfrm>
          <a:prstGeom prst="roundRect">
            <a:avLst>
              <a:gd name="adj" fmla="val 750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7" name="Text 4"/>
          <p:cNvSpPr/>
          <p:nvPr/>
        </p:nvSpPr>
        <p:spPr>
          <a:xfrm>
            <a:off x="5394960" y="1417320"/>
            <a:ext cx="914400" cy="54864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DQN</a:t>
            </a:r>
            <a:endParaRPr lang="en-US" sz="1250" dirty="0"/>
          </a:p>
        </p:txBody>
      </p:sp>
      <p:sp>
        <p:nvSpPr>
          <p:cNvPr id="8" name="Text 5"/>
          <p:cNvSpPr/>
          <p:nvPr/>
        </p:nvSpPr>
        <p:spPr>
          <a:xfrm>
            <a:off x="6309360" y="1399032"/>
            <a:ext cx="1234440" cy="566928"/>
          </a:xfrm>
          <a:prstGeom prst="rect">
            <a:avLst/>
          </a:prstGeom>
          <a:noFill/>
          <a:ln/>
        </p:spPr>
        <p:txBody>
          <a:bodyPr wrap="square" lIns="0" tIns="0" rIns="0" bIns="0" rtlCol="0" anchor="ctr"/>
          <a:lstStyle/>
          <a:p>
            <a:pPr marL="0" indent="0">
              <a:buNone/>
            </a:pPr>
            <a:r>
              <a:rPr lang="en-US" sz="1400" b="1" dirty="0">
                <a:solidFill>
                  <a:srgbClr val="2E7D32"/>
                </a:solidFill>
                <a:latin typeface="Cambria" pitchFamily="34" charset="0"/>
                <a:ea typeface="Cambria" pitchFamily="34" charset="-122"/>
                <a:cs typeface="Cambria" pitchFamily="34" charset="-120"/>
              </a:rPr>
              <a:t>3 991,8 t/h</a:t>
            </a:r>
            <a:endParaRPr lang="en-US" sz="1400" dirty="0"/>
          </a:p>
        </p:txBody>
      </p:sp>
      <p:sp>
        <p:nvSpPr>
          <p:cNvPr id="9" name="Text 6"/>
          <p:cNvSpPr/>
          <p:nvPr/>
        </p:nvSpPr>
        <p:spPr>
          <a:xfrm>
            <a:off x="7452360" y="1417320"/>
            <a:ext cx="1170432" cy="566928"/>
          </a:xfrm>
          <a:prstGeom prst="rect">
            <a:avLst/>
          </a:prstGeom>
          <a:noFill/>
          <a:ln/>
        </p:spPr>
        <p:txBody>
          <a:bodyPr wrap="square" lIns="0" tIns="0" rIns="0" bIns="0" rtlCol="0" anchor="ctr"/>
          <a:lstStyle/>
          <a:p>
            <a:pPr marL="0" indent="0">
              <a:buNone/>
            </a:pPr>
            <a:r>
              <a:rPr lang="en-US" sz="900" dirty="0">
                <a:solidFill>
                  <a:srgbClr val="5A6672"/>
                </a:solidFill>
                <a:latin typeface="Calibri" pitchFamily="34" charset="0"/>
                <a:ea typeface="Calibri" pitchFamily="34" charset="-122"/>
                <a:cs typeface="Calibri" pitchFamily="34" charset="-120"/>
              </a:rPr>
              <a:t>+3,4 % prod. · −7,4 % carburant</a:t>
            </a:r>
            <a:endParaRPr lang="en-US" sz="900" dirty="0"/>
          </a:p>
        </p:txBody>
      </p:sp>
      <p:sp>
        <p:nvSpPr>
          <p:cNvPr id="10" name="Shape 7"/>
          <p:cNvSpPr/>
          <p:nvPr/>
        </p:nvSpPr>
        <p:spPr>
          <a:xfrm>
            <a:off x="5212080" y="2167128"/>
            <a:ext cx="3474720" cy="731520"/>
          </a:xfrm>
          <a:prstGeom prst="roundRect">
            <a:avLst>
              <a:gd name="adj" fmla="val 750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11" name="Text 8"/>
          <p:cNvSpPr/>
          <p:nvPr/>
        </p:nvSpPr>
        <p:spPr>
          <a:xfrm>
            <a:off x="5394960" y="2258568"/>
            <a:ext cx="914400" cy="54864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PPO</a:t>
            </a:r>
            <a:endParaRPr lang="en-US" sz="1250" dirty="0"/>
          </a:p>
        </p:txBody>
      </p:sp>
      <p:sp>
        <p:nvSpPr>
          <p:cNvPr id="12" name="Text 9"/>
          <p:cNvSpPr/>
          <p:nvPr/>
        </p:nvSpPr>
        <p:spPr>
          <a:xfrm>
            <a:off x="6309360" y="2240280"/>
            <a:ext cx="1234440" cy="566928"/>
          </a:xfrm>
          <a:prstGeom prst="rect">
            <a:avLst/>
          </a:prstGeom>
          <a:noFill/>
          <a:ln/>
        </p:spPr>
        <p:txBody>
          <a:bodyPr wrap="square" lIns="0" tIns="0" rIns="0" bIns="0" rtlCol="0" anchor="ctr"/>
          <a:lstStyle/>
          <a:p>
            <a:pPr marL="0" indent="0">
              <a:buNone/>
            </a:pPr>
            <a:r>
              <a:rPr lang="en-US" sz="1400" b="1" dirty="0">
                <a:solidFill>
                  <a:srgbClr val="2E7D32"/>
                </a:solidFill>
                <a:latin typeface="Cambria" pitchFamily="34" charset="0"/>
                <a:ea typeface="Cambria" pitchFamily="34" charset="-122"/>
                <a:cs typeface="Cambria" pitchFamily="34" charset="-120"/>
              </a:rPr>
              <a:t>3 946,3 t/h</a:t>
            </a:r>
            <a:endParaRPr lang="en-US" sz="1400" dirty="0"/>
          </a:p>
        </p:txBody>
      </p:sp>
      <p:sp>
        <p:nvSpPr>
          <p:cNvPr id="13" name="Text 10"/>
          <p:cNvSpPr/>
          <p:nvPr/>
        </p:nvSpPr>
        <p:spPr>
          <a:xfrm>
            <a:off x="7452360" y="2258568"/>
            <a:ext cx="1170432" cy="566928"/>
          </a:xfrm>
          <a:prstGeom prst="rect">
            <a:avLst/>
          </a:prstGeom>
          <a:noFill/>
          <a:ln/>
        </p:spPr>
        <p:txBody>
          <a:bodyPr wrap="square" lIns="0" tIns="0" rIns="0" bIns="0" rtlCol="0" anchor="ctr"/>
          <a:lstStyle/>
          <a:p>
            <a:pPr marL="0" indent="0">
              <a:buNone/>
            </a:pPr>
            <a:r>
              <a:rPr lang="en-US" sz="900" dirty="0">
                <a:solidFill>
                  <a:srgbClr val="5A6672"/>
                </a:solidFill>
                <a:latin typeface="Calibri" pitchFamily="34" charset="0"/>
                <a:ea typeface="Calibri" pitchFamily="34" charset="-122"/>
                <a:cs typeface="Calibri" pitchFamily="34" charset="-120"/>
              </a:rPr>
              <a:t>+2,2 % prod. · −5,6 % carburant</a:t>
            </a:r>
            <a:endParaRPr lang="en-US" sz="900" dirty="0"/>
          </a:p>
        </p:txBody>
      </p:sp>
      <p:sp>
        <p:nvSpPr>
          <p:cNvPr id="14" name="Shape 11"/>
          <p:cNvSpPr/>
          <p:nvPr/>
        </p:nvSpPr>
        <p:spPr>
          <a:xfrm>
            <a:off x="5212080" y="3008376"/>
            <a:ext cx="3474720" cy="731520"/>
          </a:xfrm>
          <a:prstGeom prst="roundRect">
            <a:avLst>
              <a:gd name="adj" fmla="val 750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5" name="Text 12"/>
          <p:cNvSpPr/>
          <p:nvPr/>
        </p:nvSpPr>
        <p:spPr>
          <a:xfrm>
            <a:off x="5394960" y="3099816"/>
            <a:ext cx="914400" cy="54864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Fixed</a:t>
            </a:r>
            <a:endParaRPr lang="en-US" sz="1250" dirty="0"/>
          </a:p>
        </p:txBody>
      </p:sp>
      <p:sp>
        <p:nvSpPr>
          <p:cNvPr id="16" name="Text 13"/>
          <p:cNvSpPr/>
          <p:nvPr/>
        </p:nvSpPr>
        <p:spPr>
          <a:xfrm>
            <a:off x="6309360" y="3081528"/>
            <a:ext cx="1234440" cy="566928"/>
          </a:xfrm>
          <a:prstGeom prst="rect">
            <a:avLst/>
          </a:prstGeom>
          <a:noFill/>
          <a:ln/>
        </p:spPr>
        <p:txBody>
          <a:bodyPr wrap="square" lIns="0" tIns="0" rIns="0" bIns="0" rtlCol="0" anchor="ctr"/>
          <a:lstStyle/>
          <a:p>
            <a:pPr marL="0" indent="0">
              <a:buNone/>
            </a:pPr>
            <a:r>
              <a:rPr lang="en-US" sz="1400" b="1" dirty="0">
                <a:solidFill>
                  <a:srgbClr val="5A6672"/>
                </a:solidFill>
                <a:latin typeface="Cambria" pitchFamily="34" charset="0"/>
                <a:ea typeface="Cambria" pitchFamily="34" charset="-122"/>
                <a:cs typeface="Cambria" pitchFamily="34" charset="-120"/>
              </a:rPr>
              <a:t>3 860,5 t/h</a:t>
            </a:r>
            <a:endParaRPr lang="en-US" sz="1400" dirty="0"/>
          </a:p>
        </p:txBody>
      </p:sp>
      <p:sp>
        <p:nvSpPr>
          <p:cNvPr id="17" name="Text 14"/>
          <p:cNvSpPr/>
          <p:nvPr/>
        </p:nvSpPr>
        <p:spPr>
          <a:xfrm>
            <a:off x="7452360" y="3099816"/>
            <a:ext cx="1170432" cy="566928"/>
          </a:xfrm>
          <a:prstGeom prst="rect">
            <a:avLst/>
          </a:prstGeom>
          <a:noFill/>
          <a:ln/>
        </p:spPr>
        <p:txBody>
          <a:bodyPr wrap="square" lIns="0" tIns="0" rIns="0" bIns="0" rtlCol="0" anchor="ctr"/>
          <a:lstStyle/>
          <a:p>
            <a:pPr marL="0" indent="0">
              <a:buNone/>
            </a:pPr>
            <a:r>
              <a:rPr lang="en-US" sz="900" dirty="0">
                <a:solidFill>
                  <a:srgbClr val="5A6672"/>
                </a:solidFill>
                <a:latin typeface="Calibri" pitchFamily="34" charset="0"/>
                <a:ea typeface="Calibri" pitchFamily="34" charset="-122"/>
                <a:cs typeface="Calibri" pitchFamily="34" charset="-120"/>
              </a:rPr>
              <a:t>référence · 0,0451 L/t</a:t>
            </a:r>
            <a:endParaRPr lang="en-US" sz="900" dirty="0"/>
          </a:p>
        </p:txBody>
      </p:sp>
      <p:sp>
        <p:nvSpPr>
          <p:cNvPr id="18" name="Shape 15"/>
          <p:cNvSpPr/>
          <p:nvPr/>
        </p:nvSpPr>
        <p:spPr>
          <a:xfrm>
            <a:off x="5212080" y="3840480"/>
            <a:ext cx="3474720" cy="868680"/>
          </a:xfrm>
          <a:prstGeom prst="roundRect">
            <a:avLst>
              <a:gd name="adj" fmla="val 6316"/>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9" name="Text 16"/>
          <p:cNvSpPr/>
          <p:nvPr/>
        </p:nvSpPr>
        <p:spPr>
          <a:xfrm>
            <a:off x="5394960" y="3968496"/>
            <a:ext cx="3154680" cy="640080"/>
          </a:xfrm>
          <a:prstGeom prst="rect">
            <a:avLst/>
          </a:prstGeom>
          <a:noFill/>
          <a:ln/>
        </p:spPr>
        <p:txBody>
          <a:bodyPr wrap="square" lIns="0" tIns="0" rIns="0" bIns="0" rtlCol="0" anchor="ctr"/>
          <a:lstStyle/>
          <a:p>
            <a:pPr marL="0" indent="0">
              <a:buNone/>
            </a:pPr>
            <a:r>
              <a:rPr lang="en-US" sz="1050" b="1" dirty="0">
                <a:solidFill>
                  <a:srgbClr val="8C4A1F"/>
                </a:solidFill>
                <a:latin typeface="Calibri" pitchFamily="34" charset="0"/>
                <a:ea typeface="Calibri" pitchFamily="34" charset="-122"/>
                <a:cs typeface="Calibri" pitchFamily="34" charset="-120"/>
              </a:rPr>
              <a:t>Significativité : </a:t>
            </a:r>
            <a:r>
              <a:rPr lang="en-US" sz="1050" dirty="0">
                <a:solidFill>
                  <a:srgbClr val="22303F"/>
                </a:solidFill>
                <a:latin typeface="Calibri" pitchFamily="34" charset="0"/>
                <a:ea typeface="Calibri" pitchFamily="34" charset="-122"/>
                <a:cs typeface="Calibri" pitchFamily="34" charset="-120"/>
              </a:rPr>
              <a:t>DQN vs Fixed p = 1,3×10⁻⁵ (productivité) et p = 2×10⁻⁶ (carburant) ✓</a:t>
            </a:r>
            <a:endParaRPr lang="en-US" sz="1050" dirty="0"/>
          </a:p>
        </p:txBody>
      </p:sp>
      <p:sp>
        <p:nvSpPr>
          <p:cNvPr id="20" name="Text 17"/>
          <p:cNvSpPr/>
          <p:nvPr/>
        </p:nvSpPr>
        <p:spPr>
          <a:xfrm>
            <a:off x="457200" y="4407408"/>
            <a:ext cx="4572000" cy="548640"/>
          </a:xfrm>
          <a:prstGeom prst="rect">
            <a:avLst/>
          </a:prstGeom>
          <a:noFill/>
          <a:ln/>
        </p:spPr>
        <p:txBody>
          <a:bodyPr wrap="square" lIns="0" tIns="0" rIns="0" bIns="0" rtlCol="0" anchor="ctr"/>
          <a:lstStyle/>
          <a:p>
            <a:pPr marL="0" indent="0">
              <a:buNone/>
            </a:pPr>
            <a:r>
              <a:rPr lang="en-US" sz="1100" b="1" i="1" dirty="0">
                <a:solidFill>
                  <a:srgbClr val="8C4A1F"/>
                </a:solidFill>
                <a:latin typeface="Calibri" pitchFamily="34" charset="0"/>
                <a:ea typeface="Calibri" pitchFamily="34" charset="-122"/>
                <a:cs typeface="Calibri" pitchFamily="34" charset="-120"/>
              </a:rPr>
              <a:t>Avec 10 % de pannes, Fixed continue d'envoyer des camions vers des pelles immobilisées — le RL réaffecte et économise le carburant.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4 · RÉSULTATS EXPÉRIMENTAUX</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Sous le capot : convergence et comportement des agents</a:t>
            </a:r>
            <a:endParaRPr lang="en-US" sz="2700" dirty="0"/>
          </a:p>
        </p:txBody>
      </p:sp>
      <p:sp>
        <p:nvSpPr>
          <p:cNvPr id="4" name="Shape 2"/>
          <p:cNvSpPr/>
          <p:nvPr/>
        </p:nvSpPr>
        <p:spPr>
          <a:xfrm>
            <a:off x="457200" y="1325880"/>
            <a:ext cx="4114800" cy="2377440"/>
          </a:xfrm>
          <a:prstGeom prst="roundRect">
            <a:avLst>
              <a:gd name="adj" fmla="val 2308"/>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5" name="Image 0" descr="learning_curves_nominal.png"/>
          <p:cNvPicPr>
            <a:picLocks noChangeAspect="1"/>
          </p:cNvPicPr>
          <p:nvPr/>
        </p:nvPicPr>
        <p:blipFill>
          <a:blip r:embed="rId3"/>
          <a:stretch>
            <a:fillRect/>
          </a:stretch>
        </p:blipFill>
        <p:spPr>
          <a:xfrm>
            <a:off x="548640" y="1536192"/>
            <a:ext cx="3931920" cy="1965960"/>
          </a:xfrm>
          <a:prstGeom prst="rect">
            <a:avLst/>
          </a:prstGeom>
        </p:spPr>
      </p:pic>
      <p:sp>
        <p:nvSpPr>
          <p:cNvPr id="6" name="Text 3"/>
          <p:cNvSpPr/>
          <p:nvPr/>
        </p:nvSpPr>
        <p:spPr>
          <a:xfrm>
            <a:off x="457200" y="3767328"/>
            <a:ext cx="4114800" cy="685800"/>
          </a:xfrm>
          <a:prstGeom prst="rect">
            <a:avLst/>
          </a:prstGeom>
          <a:noFill/>
          <a:ln/>
        </p:spPr>
        <p:txBody>
          <a:bodyPr wrap="square" lIns="0" tIns="0" rIns="0" bIns="0" rtlCol="0" anchor="ctr"/>
          <a:lstStyle/>
          <a:p>
            <a:pPr marL="0" indent="0">
              <a:buNone/>
            </a:pPr>
            <a:r>
              <a:rPr lang="en-US" sz="1000" i="1" dirty="0">
                <a:solidFill>
                  <a:srgbClr val="5A6672"/>
                </a:solidFill>
                <a:latin typeface="Calibri" pitchFamily="34" charset="0"/>
                <a:ea typeface="Calibri" pitchFamily="34" charset="-122"/>
                <a:cs typeface="Calibri" pitchFamily="34" charset="-120"/>
              </a:rPr>
              <a:t>Q-Learning : 155 → 175 (+12,5 %) sur 30 000 épisodes · SARSA plafonne à ≈ 145 (−17 %) — l'off-policy l'emporte empiriquement.</a:t>
            </a:r>
            <a:endParaRPr lang="en-US" sz="1000" dirty="0"/>
          </a:p>
        </p:txBody>
      </p:sp>
      <p:sp>
        <p:nvSpPr>
          <p:cNvPr id="7" name="Shape 4"/>
          <p:cNvSpPr/>
          <p:nvPr/>
        </p:nvSpPr>
        <p:spPr>
          <a:xfrm>
            <a:off x="4754880" y="1325880"/>
            <a:ext cx="3931920" cy="2377440"/>
          </a:xfrm>
          <a:prstGeom prst="roundRect">
            <a:avLst>
              <a:gd name="adj" fmla="val 2308"/>
            </a:avLst>
          </a:prstGeom>
          <a:solidFill>
            <a:srgbClr val="FFFFFF"/>
          </a:solidFill>
          <a:ln w="9525">
            <a:solidFill>
              <a:srgbClr val="E3E7EA"/>
            </a:solidFill>
            <a:prstDash val="solid"/>
          </a:ln>
          <a:effectLst>
            <a:outerShdw blurRad="88900" dist="25400" dir="2700000" algn="bl" rotWithShape="0">
              <a:srgbClr val="000000">
                <a:alpha val="13000"/>
              </a:srgbClr>
            </a:outerShdw>
          </a:effectLst>
        </p:spPr>
      </p:sp>
      <p:pic>
        <p:nvPicPr>
          <p:cNvPr id="8" name="Image 1" descr="action_distribution_nominal.png"/>
          <p:cNvPicPr>
            <a:picLocks noChangeAspect="1"/>
          </p:cNvPicPr>
          <p:nvPr/>
        </p:nvPicPr>
        <p:blipFill>
          <a:blip r:embed="rId4"/>
          <a:stretch>
            <a:fillRect/>
          </a:stretch>
        </p:blipFill>
        <p:spPr>
          <a:xfrm>
            <a:off x="4846320" y="1581912"/>
            <a:ext cx="3749040" cy="1874520"/>
          </a:xfrm>
          <a:prstGeom prst="rect">
            <a:avLst/>
          </a:prstGeom>
        </p:spPr>
      </p:pic>
      <p:sp>
        <p:nvSpPr>
          <p:cNvPr id="9" name="Text 5"/>
          <p:cNvSpPr/>
          <p:nvPr/>
        </p:nvSpPr>
        <p:spPr>
          <a:xfrm>
            <a:off x="4754880" y="3767328"/>
            <a:ext cx="3931920" cy="685800"/>
          </a:xfrm>
          <a:prstGeom prst="rect">
            <a:avLst/>
          </a:prstGeom>
          <a:noFill/>
          <a:ln/>
        </p:spPr>
        <p:txBody>
          <a:bodyPr wrap="square" lIns="0" tIns="0" rIns="0" bIns="0" rtlCol="0" anchor="ctr"/>
          <a:lstStyle/>
          <a:p>
            <a:pPr marL="0" indent="0">
              <a:buNone/>
            </a:pPr>
            <a:r>
              <a:rPr lang="en-US" sz="1000" i="1" dirty="0">
                <a:solidFill>
                  <a:srgbClr val="5A6672"/>
                </a:solidFill>
                <a:latin typeface="Calibri" pitchFamily="34" charset="0"/>
                <a:ea typeface="Calibri" pitchFamily="34" charset="-122"/>
                <a:cs typeface="Calibri" pitchFamily="34" charset="-120"/>
              </a:rPr>
              <a:t>DQN concentre 80,3 % de ses choix sur 2 actions (ATTENDRE 44,7 % + P1→D1 35,6 %) ; PPO diversifie sur les 7 actions.</a:t>
            </a:r>
            <a:endParaRPr lang="en-US" sz="1000" dirty="0"/>
          </a:p>
        </p:txBody>
      </p:sp>
      <p:sp>
        <p:nvSpPr>
          <p:cNvPr id="10" name="Text 6"/>
          <p:cNvSpPr/>
          <p:nvPr/>
        </p:nvSpPr>
        <p:spPr>
          <a:xfrm>
            <a:off x="457200" y="4462272"/>
            <a:ext cx="8229600" cy="457200"/>
          </a:xfrm>
          <a:prstGeom prst="rect">
            <a:avLst/>
          </a:prstGeom>
          <a:noFill/>
          <a:ln/>
        </p:spPr>
        <p:txBody>
          <a:bodyPr wrap="square" lIns="0" tIns="0" rIns="0" bIns="0" rtlCol="0" anchor="ctr"/>
          <a:lstStyle/>
          <a:p>
            <a:pPr marL="0" indent="0">
              <a:buNone/>
            </a:pPr>
            <a:r>
              <a:rPr lang="en-US" sz="1150" b="1" i="1" dirty="0">
                <a:solidFill>
                  <a:srgbClr val="8C4A1F"/>
                </a:solidFill>
                <a:latin typeface="Calibri" pitchFamily="34" charset="0"/>
                <a:ea typeface="Calibri" pitchFamily="34" charset="-122"/>
                <a:cs typeface="Calibri" pitchFamily="34" charset="-120"/>
              </a:rPr>
              <a:t>Nous n'avons pas seulement mesuré les scores : nous avons analysé ce que font les agents. PPO : explained_variance = 0,999 — convergence confirmée.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4 · RÉSULTATS EXPÉRIMENTAUX</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Validation statistique : des écarts robustes, pas des artefacts</a:t>
            </a:r>
            <a:endParaRPr lang="en-US" sz="2700" dirty="0"/>
          </a:p>
        </p:txBody>
      </p:sp>
      <p:sp>
        <p:nvSpPr>
          <p:cNvPr id="4" name="Shape 2"/>
          <p:cNvSpPr/>
          <p:nvPr/>
        </p:nvSpPr>
        <p:spPr>
          <a:xfrm>
            <a:off x="457200" y="1371600"/>
            <a:ext cx="8229600" cy="932688"/>
          </a:xfrm>
          <a:prstGeom prst="roundRect">
            <a:avLst>
              <a:gd name="adj" fmla="val 5882"/>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5" name="Text 3"/>
          <p:cNvSpPr/>
          <p:nvPr/>
        </p:nvSpPr>
        <p:spPr>
          <a:xfrm>
            <a:off x="685800" y="1481328"/>
            <a:ext cx="2286000" cy="7315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ANOVA à un facteur</a:t>
            </a:r>
            <a:endParaRPr lang="en-US" sz="1250" dirty="0"/>
          </a:p>
        </p:txBody>
      </p:sp>
      <p:sp>
        <p:nvSpPr>
          <p:cNvPr id="6" name="Text 4"/>
          <p:cNvSpPr/>
          <p:nvPr/>
        </p:nvSpPr>
        <p:spPr>
          <a:xfrm>
            <a:off x="3017520" y="1481328"/>
            <a:ext cx="2194560" cy="731520"/>
          </a:xfrm>
          <a:prstGeom prst="rect">
            <a:avLst/>
          </a:prstGeom>
          <a:noFill/>
          <a:ln/>
        </p:spPr>
        <p:txBody>
          <a:bodyPr wrap="square" lIns="0" tIns="0" rIns="0" bIns="0" rtlCol="0" anchor="ctr"/>
          <a:lstStyle/>
          <a:p>
            <a:pPr marL="0" indent="0">
              <a:buNone/>
            </a:pPr>
            <a:r>
              <a:rPr lang="en-US" sz="1500" b="1" dirty="0">
                <a:solidFill>
                  <a:srgbClr val="B4622D"/>
                </a:solidFill>
                <a:latin typeface="Cambria" pitchFamily="34" charset="0"/>
                <a:ea typeface="Cambria" pitchFamily="34" charset="-122"/>
                <a:cs typeface="Cambria" pitchFamily="34" charset="-120"/>
              </a:rPr>
              <a:t>F(7, 72) = 481,25</a:t>
            </a:r>
            <a:endParaRPr lang="en-US" sz="1500" dirty="0"/>
          </a:p>
        </p:txBody>
      </p:sp>
      <p:sp>
        <p:nvSpPr>
          <p:cNvPr id="7" name="Text 5"/>
          <p:cNvSpPr/>
          <p:nvPr/>
        </p:nvSpPr>
        <p:spPr>
          <a:xfrm>
            <a:off x="5349240" y="1481328"/>
            <a:ext cx="3154680" cy="731520"/>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p &lt; 10⁻⁵⁶ : les 8 méthodes diffèrent globalement — l'algorithme explique l'essentiel de la variance</a:t>
            </a:r>
            <a:endParaRPr lang="en-US" sz="1000" dirty="0"/>
          </a:p>
        </p:txBody>
      </p:sp>
      <p:sp>
        <p:nvSpPr>
          <p:cNvPr id="8" name="Shape 6"/>
          <p:cNvSpPr/>
          <p:nvPr/>
        </p:nvSpPr>
        <p:spPr>
          <a:xfrm>
            <a:off x="457200" y="2450592"/>
            <a:ext cx="8229600" cy="932688"/>
          </a:xfrm>
          <a:prstGeom prst="roundRect">
            <a:avLst>
              <a:gd name="adj" fmla="val 5882"/>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9" name="Text 7"/>
          <p:cNvSpPr/>
          <p:nvPr/>
        </p:nvSpPr>
        <p:spPr>
          <a:xfrm>
            <a:off x="685800" y="2560320"/>
            <a:ext cx="2286000" cy="7315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Welch  PPO vs Fixed</a:t>
            </a:r>
            <a:endParaRPr lang="en-US" sz="1250" dirty="0"/>
          </a:p>
        </p:txBody>
      </p:sp>
      <p:sp>
        <p:nvSpPr>
          <p:cNvPr id="10" name="Text 8"/>
          <p:cNvSpPr/>
          <p:nvPr/>
        </p:nvSpPr>
        <p:spPr>
          <a:xfrm>
            <a:off x="3017520" y="2560320"/>
            <a:ext cx="2194560" cy="731520"/>
          </a:xfrm>
          <a:prstGeom prst="rect">
            <a:avLst/>
          </a:prstGeom>
          <a:noFill/>
          <a:ln/>
        </p:spPr>
        <p:txBody>
          <a:bodyPr wrap="square" lIns="0" tIns="0" rIns="0" bIns="0" rtlCol="0" anchor="ctr"/>
          <a:lstStyle/>
          <a:p>
            <a:pPr marL="0" indent="0">
              <a:buNone/>
            </a:pPr>
            <a:r>
              <a:rPr lang="en-US" sz="1500" b="1" dirty="0">
                <a:solidFill>
                  <a:srgbClr val="B4622D"/>
                </a:solidFill>
                <a:latin typeface="Cambria" pitchFamily="34" charset="0"/>
                <a:ea typeface="Cambria" pitchFamily="34" charset="-122"/>
                <a:cs typeface="Cambria" pitchFamily="34" charset="-120"/>
              </a:rPr>
              <a:t>t = 6,356 · p = 3×10⁻⁶</a:t>
            </a:r>
            <a:endParaRPr lang="en-US" sz="1500" dirty="0"/>
          </a:p>
        </p:txBody>
      </p:sp>
      <p:sp>
        <p:nvSpPr>
          <p:cNvPr id="11" name="Text 9"/>
          <p:cNvSpPr/>
          <p:nvPr/>
        </p:nvSpPr>
        <p:spPr>
          <a:xfrm>
            <a:off x="5349240" y="2560320"/>
            <a:ext cx="3154680" cy="731520"/>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Test unilatéral (H1 : PPO &gt; Fixed), robuste aux variances inégales — significatif en nominal</a:t>
            </a:r>
            <a:endParaRPr lang="en-US" sz="1000" dirty="0"/>
          </a:p>
        </p:txBody>
      </p:sp>
      <p:sp>
        <p:nvSpPr>
          <p:cNvPr id="12" name="Shape 10"/>
          <p:cNvSpPr/>
          <p:nvPr/>
        </p:nvSpPr>
        <p:spPr>
          <a:xfrm>
            <a:off x="457200" y="3529584"/>
            <a:ext cx="8229600" cy="932688"/>
          </a:xfrm>
          <a:prstGeom prst="roundRect">
            <a:avLst>
              <a:gd name="adj" fmla="val 5882"/>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3" name="Text 11"/>
          <p:cNvSpPr/>
          <p:nvPr/>
        </p:nvSpPr>
        <p:spPr>
          <a:xfrm>
            <a:off x="685800" y="3639312"/>
            <a:ext cx="2286000" cy="731520"/>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Tukey HSD  PPO ≈ DQN</a:t>
            </a:r>
            <a:endParaRPr lang="en-US" sz="1250" dirty="0"/>
          </a:p>
        </p:txBody>
      </p:sp>
      <p:sp>
        <p:nvSpPr>
          <p:cNvPr id="14" name="Text 12"/>
          <p:cNvSpPr/>
          <p:nvPr/>
        </p:nvSpPr>
        <p:spPr>
          <a:xfrm>
            <a:off x="3017520" y="3639312"/>
            <a:ext cx="2194560" cy="731520"/>
          </a:xfrm>
          <a:prstGeom prst="rect">
            <a:avLst/>
          </a:prstGeom>
          <a:noFill/>
          <a:ln/>
        </p:spPr>
        <p:txBody>
          <a:bodyPr wrap="square" lIns="0" tIns="0" rIns="0" bIns="0" rtlCol="0" anchor="ctr"/>
          <a:lstStyle/>
          <a:p>
            <a:pPr marL="0" indent="0">
              <a:buNone/>
            </a:pPr>
            <a:r>
              <a:rPr lang="en-US" sz="1500" b="1" dirty="0">
                <a:solidFill>
                  <a:srgbClr val="B4622D"/>
                </a:solidFill>
                <a:latin typeface="Cambria" pitchFamily="34" charset="0"/>
                <a:ea typeface="Cambria" pitchFamily="34" charset="-122"/>
                <a:cs typeface="Cambria" pitchFamily="34" charset="-120"/>
              </a:rPr>
              <a:t>p = 0,799</a:t>
            </a:r>
            <a:endParaRPr lang="en-US" sz="1500" dirty="0"/>
          </a:p>
        </p:txBody>
      </p:sp>
      <p:sp>
        <p:nvSpPr>
          <p:cNvPr id="15" name="Text 13"/>
          <p:cNvSpPr/>
          <p:nvPr/>
        </p:nvSpPr>
        <p:spPr>
          <a:xfrm>
            <a:off x="5349240" y="3639312"/>
            <a:ext cx="3154680" cy="731520"/>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Après correction pour comparaisons multiples : PPO et DQN statistiquement équivalents en nominal</a:t>
            </a:r>
            <a:endParaRPr lang="en-US" sz="1000" dirty="0"/>
          </a:p>
        </p:txBody>
      </p:sp>
      <p:sp>
        <p:nvSpPr>
          <p:cNvPr id="16" name="Text 14"/>
          <p:cNvSpPr/>
          <p:nvPr/>
        </p:nvSpPr>
        <p:spPr>
          <a:xfrm>
            <a:off x="457200" y="4590288"/>
            <a:ext cx="8229600" cy="502920"/>
          </a:xfrm>
          <a:prstGeom prst="rect">
            <a:avLst/>
          </a:prstGeom>
          <a:noFill/>
          <a:ln/>
        </p:spPr>
        <p:txBody>
          <a:bodyPr wrap="square" lIns="0" tIns="0" rIns="0" bIns="0" rtlCol="0" anchor="ctr"/>
          <a:lstStyle/>
          <a:p>
            <a:pPr marL="0" indent="0">
              <a:buNone/>
            </a:pPr>
            <a:r>
              <a:rPr lang="en-US" sz="1100" i="1" dirty="0">
                <a:solidFill>
                  <a:srgbClr val="8C4A1F"/>
                </a:solidFill>
                <a:latin typeface="Calibri" pitchFamily="34" charset="0"/>
                <a:ea typeface="Calibri" pitchFamily="34" charset="-122"/>
                <a:cs typeface="Calibri" pitchFamily="34" charset="-120"/>
              </a:rPr>
              <a:t>Même rigueur dans les autres scénarios : high_load — DQN vs Nearest t = 65,33, p ≈ 0 · high_breakdown — DQN vs Fixed +131,25 t/h, Tukey p = 0,0014 ; DQN ≈ PPO, p = 0,813.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5 · ANALYSE CRITIQUE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Validation de H1 : une lecture différenciée par scénario et par critère</a:t>
            </a:r>
            <a:endParaRPr lang="en-US" sz="2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8229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6692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Scénario</a:t>
                      </a:r>
                      <a:endParaRPr lang="en-US" sz="11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1F2A38"/>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Productivité</a:t>
                      </a:r>
                      <a:endParaRPr lang="en-US" sz="11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1F2A38"/>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Temps d'attente</a:t>
                      </a:r>
                      <a:endParaRPr lang="en-US" sz="11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1F2A38"/>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Carburant</a:t>
                      </a:r>
                      <a:endParaRPr lang="en-US" sz="11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1F2A38"/>
                    </a:solidFill>
                  </a:tcPr>
                </a:tc>
                <a:extLst>
                  <a:ext uri="{0D108BD9-81ED-4DB2-BD59-A6C34878D82A}">
                    <a16:rowId xmlns:a16="http://schemas.microsoft.com/office/drawing/2014/main" val="10000"/>
                  </a:ext>
                </a:extLst>
              </a:tr>
              <a:tr h="566928">
                <a:tc>
                  <a:txBody>
                    <a:bodyPr/>
                    <a:lstStyle/>
                    <a:p>
                      <a:pPr marL="0" indent="0">
                        <a:buNone/>
                      </a:pPr>
                      <a:r>
                        <a:rPr lang="en-US" sz="1050" dirty="0">
                          <a:solidFill>
                            <a:srgbClr val="22303F"/>
                          </a:solidFill>
                          <a:latin typeface="Calibri" pitchFamily="34" charset="0"/>
                          <a:ea typeface="Calibri" pitchFamily="34" charset="-122"/>
                          <a:cs typeface="Calibri" pitchFamily="34" charset="-120"/>
                        </a:rPr>
                        <a:t>Nominal</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E7D32"/>
                          </a:solidFill>
                          <a:latin typeface="Calibri" pitchFamily="34" charset="0"/>
                          <a:ea typeface="Calibri" pitchFamily="34" charset="-122"/>
                          <a:cs typeface="Calibri" pitchFamily="34" charset="-120"/>
                        </a:rPr>
                        <a:t>✓ PPO/DQN &gt; Fixed (p = 3×10⁻⁶)</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B03A2E"/>
                          </a:solidFill>
                          <a:latin typeface="Calibri" pitchFamily="34" charset="0"/>
                          <a:ea typeface="Calibri" pitchFamily="34" charset="-122"/>
                          <a:cs typeface="Calibri" pitchFamily="34" charset="-120"/>
                        </a:rPr>
                        <a:t>✗ Fixed meilleur</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E7D32"/>
                          </a:solidFill>
                          <a:latin typeface="Calibri" pitchFamily="34" charset="0"/>
                          <a:ea typeface="Calibri" pitchFamily="34" charset="-122"/>
                          <a:cs typeface="Calibri" pitchFamily="34" charset="-120"/>
                        </a:rPr>
                        <a:t>✓ PPO/DQN &lt; Fixed (p &lt; 10⁻⁸)</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050" dirty="0">
                          <a:solidFill>
                            <a:srgbClr val="22303F"/>
                          </a:solidFill>
                          <a:latin typeface="Calibri" pitchFamily="34" charset="0"/>
                          <a:ea typeface="Calibri" pitchFamily="34" charset="-122"/>
                          <a:cs typeface="Calibri" pitchFamily="34" charset="-120"/>
                        </a:rPr>
                        <a:t>High Load</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B8860B"/>
                          </a:solidFill>
                          <a:latin typeface="Calibri" pitchFamily="34" charset="0"/>
                          <a:ea typeface="Calibri" pitchFamily="34" charset="-122"/>
                          <a:cs typeface="Calibri" pitchFamily="34" charset="-120"/>
                        </a:rPr>
                        <a:t>~ DQN proche de Fixed (−3,6 %)</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E7D32"/>
                          </a:solidFill>
                          <a:latin typeface="Calibri" pitchFamily="34" charset="0"/>
                          <a:ea typeface="Calibri" pitchFamily="34" charset="-122"/>
                          <a:cs typeface="Calibri" pitchFamily="34" charset="-120"/>
                        </a:rPr>
                        <a:t>✓ RL ≫ myopes (+1 725 t/h)</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B8860B"/>
                          </a:solidFill>
                          <a:latin typeface="Calibri" pitchFamily="34" charset="0"/>
                          <a:ea typeface="Calibri" pitchFamily="34" charset="-122"/>
                          <a:cs typeface="Calibri" pitchFamily="34" charset="-120"/>
                        </a:rPr>
                        <a:t>~ comparable</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050" dirty="0">
                          <a:solidFill>
                            <a:srgbClr val="22303F"/>
                          </a:solidFill>
                          <a:latin typeface="Calibri" pitchFamily="34" charset="0"/>
                          <a:ea typeface="Calibri" pitchFamily="34" charset="-122"/>
                          <a:cs typeface="Calibri" pitchFamily="34" charset="-120"/>
                        </a:rPr>
                        <a:t>High Breakdown</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E7D32"/>
                          </a:solidFill>
                          <a:latin typeface="Calibri" pitchFamily="34" charset="0"/>
                          <a:ea typeface="Calibri" pitchFamily="34" charset="-122"/>
                          <a:cs typeface="Calibri" pitchFamily="34" charset="-120"/>
                        </a:rPr>
                        <a:t>✓ PPO/DQN &gt; Fixed (p = 1,3×10⁻⁵)</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B8860B"/>
                          </a:solidFill>
                          <a:latin typeface="Calibri" pitchFamily="34" charset="0"/>
                          <a:ea typeface="Calibri" pitchFamily="34" charset="-122"/>
                          <a:cs typeface="Calibri" pitchFamily="34" charset="-120"/>
                        </a:rPr>
                        <a:t>~ Fixed meilleur (53 vs 65 min)</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E7D32"/>
                          </a:solidFill>
                          <a:latin typeface="Calibri" pitchFamily="34" charset="0"/>
                          <a:ea typeface="Calibri" pitchFamily="34" charset="-122"/>
                          <a:cs typeface="Calibri" pitchFamily="34" charset="-120"/>
                        </a:rPr>
                        <a:t>✓ PPO/DQN &lt; Fixed (p = 2×10⁻⁶)</a:t>
                      </a:r>
                      <a:endParaRPr lang="en-US" sz="1050" dirty="0">
                        <a:latin typeface="Calibri" charset="0"/>
                        <a:ea typeface="Calibri" charset="0"/>
                        <a:cs typeface="Calibri" charset="0"/>
                      </a:endParaRPr>
                    </a:p>
                  </a:txBody>
                  <a:tcPr marL="54864" marR="54864" marT="54864" marB="54864" anchor="ctr">
                    <a:lnL w="9525" cap="flat" cmpd="sng" algn="ctr">
                      <a:solidFill>
                        <a:srgbClr val="D8DDE2"/>
                      </a:solidFill>
                      <a:prstDash val="solid"/>
                      <a:round/>
                      <a:headEnd type="none" w="med" len="med"/>
                      <a:tailEnd type="none" w="med" len="med"/>
                    </a:lnL>
                    <a:lnR w="9525" cap="flat" cmpd="sng" algn="ctr">
                      <a:solidFill>
                        <a:srgbClr val="D8DDE2"/>
                      </a:solidFill>
                      <a:prstDash val="solid"/>
                      <a:round/>
                      <a:headEnd type="none" w="med" len="med"/>
                      <a:tailEnd type="none" w="med" len="med"/>
                    </a:lnR>
                    <a:lnT w="9525" cap="flat" cmpd="sng" algn="ctr">
                      <a:solidFill>
                        <a:srgbClr val="D8DDE2"/>
                      </a:solidFill>
                      <a:prstDash val="solid"/>
                      <a:round/>
                      <a:headEnd type="none" w="med" len="med"/>
                      <a:tailEnd type="none" w="med" len="med"/>
                    </a:lnT>
                    <a:lnB w="9525" cap="flat" cmpd="sng" algn="ctr">
                      <a:solidFill>
                        <a:srgbClr val="D8DD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457200" y="3977640"/>
            <a:ext cx="8229600" cy="822960"/>
          </a:xfrm>
          <a:prstGeom prst="roundRect">
            <a:avLst>
              <a:gd name="adj" fmla="val 6667"/>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6" name="Text 3"/>
          <p:cNvSpPr/>
          <p:nvPr/>
        </p:nvSpPr>
        <p:spPr>
          <a:xfrm>
            <a:off x="658368" y="4133088"/>
            <a:ext cx="7863840" cy="594360"/>
          </a:xfrm>
          <a:prstGeom prst="rect">
            <a:avLst/>
          </a:prstGeom>
          <a:noFill/>
          <a:ln/>
        </p:spPr>
        <p:txBody>
          <a:bodyPr wrap="square" lIns="0" tIns="0" rIns="0" bIns="0" rtlCol="0" anchor="ctr"/>
          <a:lstStyle/>
          <a:p>
            <a:pPr marL="0" indent="0">
              <a:buNone/>
            </a:pPr>
            <a:r>
              <a:rPr lang="en-US" sz="1150" b="1" dirty="0">
                <a:solidFill>
                  <a:srgbClr val="8C4A1F"/>
                </a:solidFill>
                <a:latin typeface="Calibri" pitchFamily="34" charset="0"/>
                <a:ea typeface="Calibri" pitchFamily="34" charset="-122"/>
                <a:cs typeface="Calibri" pitchFamily="34" charset="-120"/>
              </a:rPr>
              <a:t>H1 validée dans 2 scénarios sur 3, sur la productivité ET le carburant. </a:t>
            </a:r>
            <a:r>
              <a:rPr lang="en-US" sz="1150" dirty="0">
                <a:solidFill>
                  <a:srgbClr val="22303F"/>
                </a:solidFill>
                <a:latin typeface="Calibri" pitchFamily="34" charset="0"/>
                <a:ea typeface="Calibri" pitchFamily="34" charset="-122"/>
                <a:cs typeface="Calibri" pitchFamily="34" charset="-120"/>
              </a:rPr>
              <a:t>La nuance en high_load est assumée et expliquée : Fixed y bénéficie d'un Match Factor parfait (18/3 = 6) — et ne surpasse pas le RL sur le carburant.</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5 · ANALYSE CRITIQUE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Difficultés rencontrées et solutions apportées</a:t>
            </a:r>
            <a:endParaRPr lang="en-US" sz="2700" dirty="0"/>
          </a:p>
        </p:txBody>
      </p:sp>
      <p:sp>
        <p:nvSpPr>
          <p:cNvPr id="4" name="Shape 2"/>
          <p:cNvSpPr/>
          <p:nvPr/>
        </p:nvSpPr>
        <p:spPr>
          <a:xfrm>
            <a:off x="457200" y="1371600"/>
            <a:ext cx="8229600" cy="1005840"/>
          </a:xfrm>
          <a:prstGeom prst="roundRect">
            <a:avLst>
              <a:gd name="adj" fmla="val 5455"/>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Text 3"/>
          <p:cNvSpPr/>
          <p:nvPr/>
        </p:nvSpPr>
        <p:spPr>
          <a:xfrm>
            <a:off x="685800" y="1481328"/>
            <a:ext cx="2148840" cy="786384"/>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Reward shaping non discriminant</a:t>
            </a:r>
            <a:endParaRPr lang="en-US" sz="1150" dirty="0"/>
          </a:p>
        </p:txBody>
      </p:sp>
      <p:sp>
        <p:nvSpPr>
          <p:cNvPr id="6" name="Text 4"/>
          <p:cNvSpPr/>
          <p:nvPr/>
        </p:nvSpPr>
        <p:spPr>
          <a:xfrm>
            <a:off x="2926080" y="1481328"/>
            <a:ext cx="2743200" cy="786384"/>
          </a:xfrm>
          <a:prstGeom prst="rect">
            <a:avLst/>
          </a:prstGeom>
          <a:noFill/>
          <a:ln/>
        </p:spPr>
        <p:txBody>
          <a:bodyPr wrap="square" lIns="0" tIns="0" rIns="0" bIns="0" rtlCol="0" anchor="ctr"/>
          <a:lstStyle/>
          <a:p>
            <a:pPr marL="0" indent="0">
              <a:buNone/>
            </a:pPr>
            <a:r>
              <a:rPr lang="en-US" sz="980" dirty="0">
                <a:solidFill>
                  <a:srgbClr val="B03A2E"/>
                </a:solidFill>
                <a:latin typeface="Calibri" pitchFamily="34" charset="0"/>
                <a:ea typeface="Calibri" pitchFamily="34" charset="-122"/>
                <a:cs typeface="Calibri" pitchFamily="34" charset="-120"/>
              </a:rPr>
              <a:t>La récompense initiale à 3 termes produisait ΔR &lt; 6×10⁻⁴ : aucun apprentissage tabulaire possible</a:t>
            </a:r>
            <a:endParaRPr lang="en-US" sz="980" dirty="0"/>
          </a:p>
        </p:txBody>
      </p:sp>
      <p:sp>
        <p:nvSpPr>
          <p:cNvPr id="7" name="Text 5"/>
          <p:cNvSpPr/>
          <p:nvPr/>
        </p:nvSpPr>
        <p:spPr>
          <a:xfrm>
            <a:off x="5806440" y="1481328"/>
            <a:ext cx="2697480" cy="786384"/>
          </a:xfrm>
          <a:prstGeom prst="rect">
            <a:avLst/>
          </a:prstGeom>
          <a:noFill/>
          <a:ln/>
        </p:spPr>
        <p:txBody>
          <a:bodyPr wrap="square" lIns="0" tIns="0" rIns="0" bIns="0" rtlCol="0" anchor="ctr"/>
          <a:lstStyle/>
          <a:p>
            <a:pPr marL="0" indent="0">
              <a:buNone/>
            </a:pPr>
            <a:r>
              <a:rPr lang="en-US" sz="980" dirty="0">
                <a:solidFill>
                  <a:srgbClr val="2E7D32"/>
                </a:solidFill>
                <a:latin typeface="Calibri" pitchFamily="34" charset="0"/>
                <a:ea typeface="Calibri" pitchFamily="34" charset="-122"/>
                <a:cs typeface="Calibri" pitchFamily="34" charset="-120"/>
              </a:rPr>
              <a:t>Diagnostic empirique → ajout du terme w₄ = 0,3 (ΔR ×53) — devenu une contribution du mémoire</a:t>
            </a:r>
            <a:endParaRPr lang="en-US" sz="980" dirty="0"/>
          </a:p>
        </p:txBody>
      </p:sp>
      <p:sp>
        <p:nvSpPr>
          <p:cNvPr id="8" name="Shape 6"/>
          <p:cNvSpPr/>
          <p:nvPr/>
        </p:nvSpPr>
        <p:spPr>
          <a:xfrm>
            <a:off x="457200" y="2514600"/>
            <a:ext cx="8229600" cy="1005840"/>
          </a:xfrm>
          <a:prstGeom prst="roundRect">
            <a:avLst>
              <a:gd name="adj" fmla="val 5455"/>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9" name="Text 7"/>
          <p:cNvSpPr/>
          <p:nvPr/>
        </p:nvSpPr>
        <p:spPr>
          <a:xfrm>
            <a:off x="685800" y="2624328"/>
            <a:ext cx="2148840" cy="786384"/>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État non tabulable</a:t>
            </a:r>
            <a:endParaRPr lang="en-US" sz="1150" dirty="0"/>
          </a:p>
        </p:txBody>
      </p:sp>
      <p:sp>
        <p:nvSpPr>
          <p:cNvPr id="10" name="Text 8"/>
          <p:cNvSpPr/>
          <p:nvPr/>
        </p:nvSpPr>
        <p:spPr>
          <a:xfrm>
            <a:off x="2926080" y="2624328"/>
            <a:ext cx="2743200" cy="786384"/>
          </a:xfrm>
          <a:prstGeom prst="rect">
            <a:avLst/>
          </a:prstGeom>
          <a:noFill/>
          <a:ln/>
        </p:spPr>
        <p:txBody>
          <a:bodyPr wrap="square" lIns="0" tIns="0" rIns="0" bIns="0" rtlCol="0" anchor="ctr"/>
          <a:lstStyle/>
          <a:p>
            <a:pPr marL="0" indent="0">
              <a:buNone/>
            </a:pPr>
            <a:r>
              <a:rPr lang="en-US" sz="980" dirty="0">
                <a:solidFill>
                  <a:srgbClr val="B03A2E"/>
                </a:solidFill>
                <a:latin typeface="Calibri" pitchFamily="34" charset="0"/>
                <a:ea typeface="Calibri" pitchFamily="34" charset="-122"/>
                <a:cs typeface="Calibri" pitchFamily="34" charset="-120"/>
              </a:rPr>
              <a:t>147 dimensions continues : impossible à discrétiser sans explosion combinatoire</a:t>
            </a:r>
            <a:endParaRPr lang="en-US" sz="980" dirty="0"/>
          </a:p>
        </p:txBody>
      </p:sp>
      <p:sp>
        <p:nvSpPr>
          <p:cNvPr id="11" name="Text 9"/>
          <p:cNvSpPr/>
          <p:nvPr/>
        </p:nvSpPr>
        <p:spPr>
          <a:xfrm>
            <a:off x="5806440" y="2624328"/>
            <a:ext cx="2697480" cy="786384"/>
          </a:xfrm>
          <a:prstGeom prst="rect">
            <a:avLst/>
          </a:prstGeom>
          <a:noFill/>
          <a:ln/>
        </p:spPr>
        <p:txBody>
          <a:bodyPr wrap="square" lIns="0" tIns="0" rIns="0" bIns="0" rtlCol="0" anchor="ctr"/>
          <a:lstStyle/>
          <a:p>
            <a:pPr marL="0" indent="0">
              <a:buNone/>
            </a:pPr>
            <a:r>
              <a:rPr lang="en-US" sz="980" dirty="0">
                <a:solidFill>
                  <a:srgbClr val="2E7D32"/>
                </a:solidFill>
                <a:latin typeface="Calibri" pitchFamily="34" charset="0"/>
                <a:ea typeface="Calibri" pitchFamily="34" charset="-122"/>
                <a:cs typeface="Calibri" pitchFamily="34" charset="-120"/>
              </a:rPr>
              <a:t>Extraction de 6 features décisionnelles → 17 034 états effectifs pour Q-Learning / SARSA</a:t>
            </a:r>
            <a:endParaRPr lang="en-US" sz="980" dirty="0"/>
          </a:p>
        </p:txBody>
      </p:sp>
      <p:sp>
        <p:nvSpPr>
          <p:cNvPr id="12" name="Shape 10"/>
          <p:cNvSpPr/>
          <p:nvPr/>
        </p:nvSpPr>
        <p:spPr>
          <a:xfrm>
            <a:off x="457200" y="3657600"/>
            <a:ext cx="8229600" cy="1005840"/>
          </a:xfrm>
          <a:prstGeom prst="roundRect">
            <a:avLst>
              <a:gd name="adj" fmla="val 5455"/>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3" name="Text 11"/>
          <p:cNvSpPr/>
          <p:nvPr/>
        </p:nvSpPr>
        <p:spPr>
          <a:xfrm>
            <a:off x="685800" y="3767328"/>
            <a:ext cx="2148840" cy="786384"/>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Instabilité de PPO en surcharge</a:t>
            </a:r>
            <a:endParaRPr lang="en-US" sz="1150" dirty="0"/>
          </a:p>
        </p:txBody>
      </p:sp>
      <p:sp>
        <p:nvSpPr>
          <p:cNvPr id="14" name="Text 12"/>
          <p:cNvSpPr/>
          <p:nvPr/>
        </p:nvSpPr>
        <p:spPr>
          <a:xfrm>
            <a:off x="2926080" y="3767328"/>
            <a:ext cx="2743200" cy="786384"/>
          </a:xfrm>
          <a:prstGeom prst="rect">
            <a:avLst/>
          </a:prstGeom>
          <a:noFill/>
          <a:ln/>
        </p:spPr>
        <p:txBody>
          <a:bodyPr wrap="square" lIns="0" tIns="0" rIns="0" bIns="0" rtlCol="0" anchor="ctr"/>
          <a:lstStyle/>
          <a:p>
            <a:pPr marL="0" indent="0">
              <a:buNone/>
            </a:pPr>
            <a:r>
              <a:rPr lang="en-US" sz="980" dirty="0">
                <a:solidFill>
                  <a:srgbClr val="B03A2E"/>
                </a:solidFill>
                <a:latin typeface="Calibri" pitchFamily="34" charset="0"/>
                <a:ea typeface="Calibri" pitchFamily="34" charset="-122"/>
                <a:cs typeface="Calibri" pitchFamily="34" charset="-120"/>
              </a:rPr>
              <a:t>Écart-type élevé en high_load (± 350 t/h) : sensibilité aux initialisations</a:t>
            </a:r>
            <a:endParaRPr lang="en-US" sz="980" dirty="0"/>
          </a:p>
        </p:txBody>
      </p:sp>
      <p:sp>
        <p:nvSpPr>
          <p:cNvPr id="15" name="Text 13"/>
          <p:cNvSpPr/>
          <p:nvPr/>
        </p:nvSpPr>
        <p:spPr>
          <a:xfrm>
            <a:off x="5806440" y="3767328"/>
            <a:ext cx="2697480" cy="786384"/>
          </a:xfrm>
          <a:prstGeom prst="rect">
            <a:avLst/>
          </a:prstGeom>
          <a:noFill/>
          <a:ln/>
        </p:spPr>
        <p:txBody>
          <a:bodyPr wrap="square" lIns="0" tIns="0" rIns="0" bIns="0" rtlCol="0" anchor="ctr"/>
          <a:lstStyle/>
          <a:p>
            <a:pPr marL="0" indent="0">
              <a:buNone/>
            </a:pPr>
            <a:r>
              <a:rPr lang="en-US" sz="980" dirty="0">
                <a:solidFill>
                  <a:srgbClr val="2E7D32"/>
                </a:solidFill>
                <a:latin typeface="Calibri" pitchFamily="34" charset="0"/>
                <a:ea typeface="Calibri" pitchFamily="34" charset="-122"/>
                <a:cs typeface="Calibri" pitchFamily="34" charset="-120"/>
              </a:rPr>
              <a:t>Analyse comportementale (93,3 % ATTENDRE) ; DQN retenu comme alternative stable (± 65 t/h)</a:t>
            </a:r>
            <a:endParaRPr lang="en-US" sz="980" dirty="0"/>
          </a:p>
        </p:txBody>
      </p:sp>
      <p:sp>
        <p:nvSpPr>
          <p:cNvPr id="16" name="Text 14"/>
          <p:cNvSpPr/>
          <p:nvPr/>
        </p:nvSpPr>
        <p:spPr>
          <a:xfrm>
            <a:off x="457200" y="4846320"/>
            <a:ext cx="8229600" cy="292608"/>
          </a:xfrm>
          <a:prstGeom prst="rect">
            <a:avLst/>
          </a:prstGeom>
          <a:noFill/>
          <a:ln/>
        </p:spPr>
        <p:txBody>
          <a:bodyPr wrap="square" lIns="0" tIns="0" rIns="0" bIns="0" rtlCol="0" anchor="ctr"/>
          <a:lstStyle/>
          <a:p>
            <a:pPr marL="0" indent="0">
              <a:buNone/>
            </a:pPr>
            <a:r>
              <a:rPr lang="en-US" sz="1150" b="1" i="1" dirty="0">
                <a:solidFill>
                  <a:srgbClr val="8C4A1F"/>
                </a:solidFill>
                <a:latin typeface="Calibri" pitchFamily="34" charset="0"/>
                <a:ea typeface="Calibri" pitchFamily="34" charset="-122"/>
                <a:cs typeface="Calibri" pitchFamily="34" charset="-120"/>
              </a:rPr>
              <a:t>Chaque difficulté a été traitée par un diagnostic mesuré plutôt que par tâtonnement — c'est la démarche CRISP-RL en pratique.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5 · ANALYSE CRITIQUE</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Limites assumées, perspectives directes</a:t>
            </a:r>
            <a:endParaRPr lang="en-US" sz="2700" dirty="0"/>
          </a:p>
        </p:txBody>
      </p:sp>
      <p:sp>
        <p:nvSpPr>
          <p:cNvPr id="4" name="Text 2"/>
          <p:cNvSpPr/>
          <p:nvPr/>
        </p:nvSpPr>
        <p:spPr>
          <a:xfrm>
            <a:off x="2926080" y="1298448"/>
            <a:ext cx="2743200" cy="237744"/>
          </a:xfrm>
          <a:prstGeom prst="rect">
            <a:avLst/>
          </a:prstGeom>
          <a:noFill/>
          <a:ln/>
        </p:spPr>
        <p:txBody>
          <a:bodyPr wrap="square" lIns="0" tIns="0" rIns="0" bIns="0" rtlCol="0" anchor="ctr"/>
          <a:lstStyle/>
          <a:p>
            <a:pPr marL="0" indent="0">
              <a:buNone/>
            </a:pPr>
            <a:r>
              <a:rPr lang="en-US" sz="1050" b="1" kern="0" spc="200" dirty="0">
                <a:solidFill>
                  <a:srgbClr val="B03A2E"/>
                </a:solidFill>
                <a:latin typeface="Calibri" pitchFamily="34" charset="0"/>
                <a:ea typeface="Calibri" pitchFamily="34" charset="-122"/>
                <a:cs typeface="Calibri" pitchFamily="34" charset="-120"/>
              </a:rPr>
              <a:t>LIMITE</a:t>
            </a:r>
            <a:endParaRPr lang="en-US" sz="1050" dirty="0"/>
          </a:p>
        </p:txBody>
      </p:sp>
      <p:sp>
        <p:nvSpPr>
          <p:cNvPr id="5" name="Text 3"/>
          <p:cNvSpPr/>
          <p:nvPr/>
        </p:nvSpPr>
        <p:spPr>
          <a:xfrm>
            <a:off x="5806440" y="1298448"/>
            <a:ext cx="2697480" cy="237744"/>
          </a:xfrm>
          <a:prstGeom prst="rect">
            <a:avLst/>
          </a:prstGeom>
          <a:noFill/>
          <a:ln/>
        </p:spPr>
        <p:txBody>
          <a:bodyPr wrap="square" lIns="0" tIns="0" rIns="0" bIns="0" rtlCol="0" anchor="ctr"/>
          <a:lstStyle/>
          <a:p>
            <a:pPr marL="0" indent="0">
              <a:buNone/>
            </a:pPr>
            <a:r>
              <a:rPr lang="en-US" sz="1050" b="1" kern="0" spc="200" dirty="0">
                <a:solidFill>
                  <a:srgbClr val="2E7D32"/>
                </a:solidFill>
                <a:latin typeface="Calibri" pitchFamily="34" charset="0"/>
                <a:ea typeface="Calibri" pitchFamily="34" charset="-122"/>
                <a:cs typeface="Calibri" pitchFamily="34" charset="-120"/>
              </a:rPr>
              <a:t>PERSPECTIVE</a:t>
            </a:r>
            <a:endParaRPr lang="en-US" sz="1050" dirty="0"/>
          </a:p>
        </p:txBody>
      </p:sp>
      <p:sp>
        <p:nvSpPr>
          <p:cNvPr id="6" name="Shape 4"/>
          <p:cNvSpPr/>
          <p:nvPr/>
        </p:nvSpPr>
        <p:spPr>
          <a:xfrm>
            <a:off x="457200" y="1591056"/>
            <a:ext cx="8229600" cy="950976"/>
          </a:xfrm>
          <a:prstGeom prst="roundRect">
            <a:avLst>
              <a:gd name="adj" fmla="val 5769"/>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7" name="Text 5"/>
          <p:cNvSpPr/>
          <p:nvPr/>
        </p:nvSpPr>
        <p:spPr>
          <a:xfrm>
            <a:off x="685800" y="1682496"/>
            <a:ext cx="2148840" cy="768096"/>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Non-généralisation entre flottes</a:t>
            </a:r>
            <a:endParaRPr lang="en-US" sz="1150" dirty="0"/>
          </a:p>
        </p:txBody>
      </p:sp>
      <p:sp>
        <p:nvSpPr>
          <p:cNvPr id="8" name="Text 6"/>
          <p:cNvSpPr/>
          <p:nvPr/>
        </p:nvSpPr>
        <p:spPr>
          <a:xfrm>
            <a:off x="2926080" y="1682496"/>
            <a:ext cx="2743200" cy="768096"/>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Le vecteur d'état dépend de Nc : un modèle 12 camions (147 dim.) ne se déploie pas sur 18 camions (213 dim.) sans réentraînement</a:t>
            </a:r>
            <a:endParaRPr lang="en-US" sz="950" dirty="0"/>
          </a:p>
        </p:txBody>
      </p:sp>
      <p:sp>
        <p:nvSpPr>
          <p:cNvPr id="9" name="Text 7"/>
          <p:cNvSpPr/>
          <p:nvPr/>
        </p:nvSpPr>
        <p:spPr>
          <a:xfrm>
            <a:off x="5806440" y="1682496"/>
            <a:ext cx="2697480" cy="768096"/>
          </a:xfrm>
          <a:prstGeom prst="rect">
            <a:avLst/>
          </a:prstGeom>
          <a:noFill/>
          <a:ln/>
        </p:spPr>
        <p:txBody>
          <a:bodyPr wrap="square" lIns="0" tIns="0" rIns="0" bIns="0" rtlCol="0" anchor="ctr"/>
          <a:lstStyle/>
          <a:p>
            <a:pPr marL="0" indent="0">
              <a:buNone/>
            </a:pPr>
            <a:r>
              <a:rPr lang="en-US" sz="950" b="1" dirty="0">
                <a:solidFill>
                  <a:srgbClr val="8C4A1F"/>
                </a:solidFill>
                <a:latin typeface="Calibri" pitchFamily="34" charset="0"/>
                <a:ea typeface="Calibri" pitchFamily="34" charset="-122"/>
                <a:cs typeface="Calibri" pitchFamily="34" charset="-120"/>
              </a:rPr>
              <a:t>Transfer learning · meta-learning · architectures à taille variable (attention, GNN)</a:t>
            </a:r>
            <a:endParaRPr lang="en-US" sz="950" dirty="0"/>
          </a:p>
        </p:txBody>
      </p:sp>
      <p:sp>
        <p:nvSpPr>
          <p:cNvPr id="10" name="Shape 8"/>
          <p:cNvSpPr/>
          <p:nvPr/>
        </p:nvSpPr>
        <p:spPr>
          <a:xfrm>
            <a:off x="457200" y="2670048"/>
            <a:ext cx="8229600" cy="950976"/>
          </a:xfrm>
          <a:prstGeom prst="roundRect">
            <a:avLst>
              <a:gd name="adj" fmla="val 5769"/>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1" name="Text 9"/>
          <p:cNvSpPr/>
          <p:nvPr/>
        </p:nvSpPr>
        <p:spPr>
          <a:xfrm>
            <a:off x="685800" y="2761488"/>
            <a:ext cx="2148840" cy="768096"/>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Dispatching séquentiel</a:t>
            </a:r>
            <a:endParaRPr lang="en-US" sz="1150" dirty="0"/>
          </a:p>
        </p:txBody>
      </p:sp>
      <p:sp>
        <p:nvSpPr>
          <p:cNvPr id="12" name="Text 10"/>
          <p:cNvSpPr/>
          <p:nvPr/>
        </p:nvSpPr>
        <p:spPr>
          <a:xfrm>
            <a:off x="2926080" y="2761488"/>
            <a:ext cx="2743200" cy="768096"/>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Un camion à la fois : approximation tractable de l'optimisation « holistique » (l'affectation globale serait en |A|^Nc)</a:t>
            </a:r>
            <a:endParaRPr lang="en-US" sz="950" dirty="0"/>
          </a:p>
        </p:txBody>
      </p:sp>
      <p:sp>
        <p:nvSpPr>
          <p:cNvPr id="13" name="Text 11"/>
          <p:cNvSpPr/>
          <p:nvPr/>
        </p:nvSpPr>
        <p:spPr>
          <a:xfrm>
            <a:off x="5806440" y="2761488"/>
            <a:ext cx="2697480" cy="768096"/>
          </a:xfrm>
          <a:prstGeom prst="rect">
            <a:avLst/>
          </a:prstGeom>
          <a:noFill/>
          <a:ln/>
        </p:spPr>
        <p:txBody>
          <a:bodyPr wrap="square" lIns="0" tIns="0" rIns="0" bIns="0" rtlCol="0" anchor="ctr"/>
          <a:lstStyle/>
          <a:p>
            <a:pPr marL="0" indent="0">
              <a:buNone/>
            </a:pPr>
            <a:r>
              <a:rPr lang="en-US" sz="950" b="1" dirty="0">
                <a:solidFill>
                  <a:srgbClr val="8C4A1F"/>
                </a:solidFill>
                <a:latin typeface="Calibri" pitchFamily="34" charset="0"/>
                <a:ea typeface="Calibri" pitchFamily="34" charset="-122"/>
                <a:cs typeface="Calibri" pitchFamily="34" charset="-120"/>
              </a:rPr>
              <a:t>MARL — chaque camion devient un agent (entraînement centralisé, exécution décentralisée)</a:t>
            </a:r>
            <a:endParaRPr lang="en-US" sz="950" dirty="0"/>
          </a:p>
        </p:txBody>
      </p:sp>
      <p:sp>
        <p:nvSpPr>
          <p:cNvPr id="14" name="Shape 12"/>
          <p:cNvSpPr/>
          <p:nvPr/>
        </p:nvSpPr>
        <p:spPr>
          <a:xfrm>
            <a:off x="457200" y="3749040"/>
            <a:ext cx="8229600" cy="950976"/>
          </a:xfrm>
          <a:prstGeom prst="roundRect">
            <a:avLst>
              <a:gd name="adj" fmla="val 5769"/>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5" name="Text 13"/>
          <p:cNvSpPr/>
          <p:nvPr/>
        </p:nvSpPr>
        <p:spPr>
          <a:xfrm>
            <a:off x="685800" y="3840480"/>
            <a:ext cx="2148840" cy="768096"/>
          </a:xfrm>
          <a:prstGeom prst="rect">
            <a:avLst/>
          </a:prstGeom>
          <a:noFill/>
          <a:ln/>
        </p:spPr>
        <p:txBody>
          <a:bodyPr wrap="square" lIns="0" tIns="0" rIns="0" bIns="0" rtlCol="0" anchor="ctr"/>
          <a:lstStyle/>
          <a:p>
            <a:pPr marL="0" indent="0">
              <a:buNone/>
            </a:pPr>
            <a:r>
              <a:rPr lang="en-US" sz="1150" b="1" dirty="0">
                <a:solidFill>
                  <a:srgbClr val="22303F"/>
                </a:solidFill>
                <a:latin typeface="Calibri" pitchFamily="34" charset="0"/>
                <a:ea typeface="Calibri" pitchFamily="34" charset="-122"/>
                <a:cs typeface="Calibri" pitchFamily="34" charset="-120"/>
              </a:rPr>
              <a:t>Validation en simulation seule</a:t>
            </a:r>
            <a:endParaRPr lang="en-US" sz="1150" dirty="0"/>
          </a:p>
        </p:txBody>
      </p:sp>
      <p:sp>
        <p:nvSpPr>
          <p:cNvPr id="16" name="Text 14"/>
          <p:cNvSpPr/>
          <p:nvPr/>
        </p:nvSpPr>
        <p:spPr>
          <a:xfrm>
            <a:off x="2926080" y="3840480"/>
            <a:ext cx="2743200" cy="768096"/>
          </a:xfrm>
          <a:prstGeom prst="rect">
            <a:avLst/>
          </a:prstGeom>
          <a:noFill/>
          <a:ln/>
        </p:spPr>
        <p:txBody>
          <a:bodyPr wrap="square" lIns="0" tIns="0" rIns="0" bIns="0" rtlCol="0" anchor="ctr"/>
          <a:lstStyle/>
          <a:p>
            <a:pPr marL="0" indent="0">
              <a:buNone/>
            </a:pPr>
            <a:r>
              <a:rPr lang="en-US" sz="950" dirty="0">
                <a:solidFill>
                  <a:srgbClr val="5A6672"/>
                </a:solidFill>
                <a:latin typeface="Calibri" pitchFamily="34" charset="0"/>
                <a:ea typeface="Calibri" pitchFamily="34" charset="-122"/>
                <a:cs typeface="Calibri" pitchFamily="34" charset="-120"/>
              </a:rPr>
              <a:t>Paramètres issus de la littérature : météo, opérateurs et pannes d'infrastructure non modélisés</a:t>
            </a:r>
            <a:endParaRPr lang="en-US" sz="950" dirty="0"/>
          </a:p>
        </p:txBody>
      </p:sp>
      <p:sp>
        <p:nvSpPr>
          <p:cNvPr id="17" name="Text 15"/>
          <p:cNvSpPr/>
          <p:nvPr/>
        </p:nvSpPr>
        <p:spPr>
          <a:xfrm>
            <a:off x="5806440" y="3840480"/>
            <a:ext cx="2697480" cy="768096"/>
          </a:xfrm>
          <a:prstGeom prst="rect">
            <a:avLst/>
          </a:prstGeom>
          <a:noFill/>
          <a:ln/>
        </p:spPr>
        <p:txBody>
          <a:bodyPr wrap="square" lIns="0" tIns="0" rIns="0" bIns="0" rtlCol="0" anchor="ctr"/>
          <a:lstStyle/>
          <a:p>
            <a:pPr marL="0" indent="0">
              <a:buNone/>
            </a:pPr>
            <a:r>
              <a:rPr lang="en-US" sz="950" b="1" dirty="0">
                <a:solidFill>
                  <a:srgbClr val="8C4A1F"/>
                </a:solidFill>
                <a:latin typeface="Calibri" pitchFamily="34" charset="0"/>
                <a:ea typeface="Calibri" pitchFamily="34" charset="-122"/>
                <a:cs typeface="Calibri" pitchFamily="34" charset="-120"/>
              </a:rPr>
              <a:t>Partenariat avec une mine réelle — validation sur données historiques de terrain</a:t>
            </a:r>
            <a:endParaRPr lang="en-US" sz="950" dirty="0"/>
          </a:p>
        </p:txBody>
      </p:sp>
      <p:sp>
        <p:nvSpPr>
          <p:cNvPr id="18" name="Text 16"/>
          <p:cNvSpPr/>
          <p:nvPr/>
        </p:nvSpPr>
        <p:spPr>
          <a:xfrm>
            <a:off x="457200" y="4864608"/>
            <a:ext cx="8229600" cy="274320"/>
          </a:xfrm>
          <a:prstGeom prst="rect">
            <a:avLst/>
          </a:prstGeom>
          <a:noFill/>
          <a:ln/>
        </p:spPr>
        <p:txBody>
          <a:bodyPr wrap="square" lIns="0" tIns="0" rIns="0" bIns="0" rtlCol="0" anchor="ctr"/>
          <a:lstStyle/>
          <a:p>
            <a:pPr marL="0" indent="0">
              <a:buNone/>
            </a:pPr>
            <a:r>
              <a:rPr lang="en-US" sz="1150" b="1" i="1" dirty="0">
                <a:solidFill>
                  <a:srgbClr val="8C4A1F"/>
                </a:solidFill>
                <a:latin typeface="Calibri" pitchFamily="34" charset="0"/>
                <a:ea typeface="Calibri" pitchFamily="34" charset="-122"/>
                <a:cs typeface="Calibri" pitchFamily="34" charset="-120"/>
              </a:rPr>
              <a:t>Ces limites ne fragilisent pas les résultats — elles délimitent leur domaine de validité et ouvrent les travaux futurs.</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274320"/>
          </a:xfrm>
          <a:prstGeom prst="rect">
            <a:avLst/>
          </a:prstGeom>
          <a:noFill/>
          <a:ln/>
        </p:spPr>
        <p:txBody>
          <a:bodyPr wrap="square" lIns="0" tIns="0" rIns="0" bIns="0" rtlCol="0" anchor="ctr"/>
          <a:lstStyle/>
          <a:p>
            <a:pPr marL="0" indent="0">
              <a:buNone/>
            </a:pPr>
            <a:r>
              <a:rPr lang="en-US" sz="1100" b="1" kern="0" spc="300" dirty="0">
                <a:solidFill>
                  <a:srgbClr val="B4622D"/>
                </a:solidFill>
                <a:latin typeface="Calibri" pitchFamily="34" charset="0"/>
                <a:ea typeface="Calibri" pitchFamily="34" charset="-122"/>
                <a:cs typeface="Calibri" pitchFamily="34" charset="-120"/>
              </a:rPr>
              <a:t>6 · CONCLUSION</a:t>
            </a:r>
            <a:endParaRPr lang="en-US" sz="1100" dirty="0"/>
          </a:p>
        </p:txBody>
      </p:sp>
      <p:sp>
        <p:nvSpPr>
          <p:cNvPr id="3" name="Text 1"/>
          <p:cNvSpPr/>
          <p:nvPr/>
        </p:nvSpPr>
        <p:spPr>
          <a:xfrm>
            <a:off x="457200" y="502920"/>
            <a:ext cx="8229600" cy="594360"/>
          </a:xfrm>
          <a:prstGeom prst="rect">
            <a:avLst/>
          </a:prstGeom>
          <a:noFill/>
          <a:ln/>
        </p:spPr>
        <p:txBody>
          <a:bodyPr wrap="square" lIns="0" tIns="0" rIns="0" bIns="0" rtlCol="0" anchor="ctr"/>
          <a:lstStyle/>
          <a:p>
            <a:pPr marL="0" indent="0">
              <a:buNone/>
            </a:pPr>
            <a:r>
              <a:rPr lang="en-US" sz="2700" b="1" dirty="0">
                <a:solidFill>
                  <a:srgbClr val="22303F"/>
                </a:solidFill>
                <a:latin typeface="Cambria" pitchFamily="34" charset="0"/>
                <a:ea typeface="Cambria" pitchFamily="34" charset="-122"/>
                <a:cs typeface="Cambria" pitchFamily="34" charset="-120"/>
              </a:rPr>
              <a:t>Quatre contributions concrètes</a:t>
            </a:r>
            <a:endParaRPr lang="en-US" sz="2700" dirty="0"/>
          </a:p>
        </p:txBody>
      </p:sp>
      <p:sp>
        <p:nvSpPr>
          <p:cNvPr id="4" name="Shape 2"/>
          <p:cNvSpPr/>
          <p:nvPr/>
        </p:nvSpPr>
        <p:spPr>
          <a:xfrm>
            <a:off x="457200" y="1417320"/>
            <a:ext cx="4023360" cy="1463040"/>
          </a:xfrm>
          <a:prstGeom prst="roundRect">
            <a:avLst>
              <a:gd name="adj" fmla="val 375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5" name="Shape 3"/>
          <p:cNvSpPr/>
          <p:nvPr/>
        </p:nvSpPr>
        <p:spPr>
          <a:xfrm>
            <a:off x="640080" y="1600200"/>
            <a:ext cx="310896" cy="310896"/>
          </a:xfrm>
          <a:prstGeom prst="ellipse">
            <a:avLst/>
          </a:prstGeom>
          <a:solidFill>
            <a:srgbClr val="B4622D"/>
          </a:solidFill>
          <a:ln/>
        </p:spPr>
      </p:sp>
      <p:sp>
        <p:nvSpPr>
          <p:cNvPr id="6" name="Text 4"/>
          <p:cNvSpPr/>
          <p:nvPr/>
        </p:nvSpPr>
        <p:spPr>
          <a:xfrm>
            <a:off x="640080" y="1586484"/>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78992" y="1563624"/>
            <a:ext cx="3246120" cy="56692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Un simulateur Gymnasium réaliste</a:t>
            </a:r>
            <a:endParaRPr lang="en-US" sz="1250" dirty="0"/>
          </a:p>
        </p:txBody>
      </p:sp>
      <p:sp>
        <p:nvSpPr>
          <p:cNvPr id="8" name="Text 6"/>
          <p:cNvSpPr/>
          <p:nvPr/>
        </p:nvSpPr>
        <p:spPr>
          <a:xfrm>
            <a:off x="1078992" y="2112264"/>
            <a:ext cx="3246120" cy="713232"/>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7 nœuds, trajets log-normaux, pannes aléatoires, pentes — conforme à l'API standard, validé par check_env()</a:t>
            </a:r>
            <a:endParaRPr lang="en-US" sz="1000" dirty="0"/>
          </a:p>
        </p:txBody>
      </p:sp>
      <p:sp>
        <p:nvSpPr>
          <p:cNvPr id="9" name="Shape 7"/>
          <p:cNvSpPr/>
          <p:nvPr/>
        </p:nvSpPr>
        <p:spPr>
          <a:xfrm>
            <a:off x="4709160" y="1417320"/>
            <a:ext cx="4023360" cy="1463040"/>
          </a:xfrm>
          <a:prstGeom prst="roundRect">
            <a:avLst>
              <a:gd name="adj" fmla="val 375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0" name="Shape 8"/>
          <p:cNvSpPr/>
          <p:nvPr/>
        </p:nvSpPr>
        <p:spPr>
          <a:xfrm>
            <a:off x="4892040" y="1600200"/>
            <a:ext cx="310896" cy="310896"/>
          </a:xfrm>
          <a:prstGeom prst="ellipse">
            <a:avLst/>
          </a:prstGeom>
          <a:solidFill>
            <a:srgbClr val="B4622D"/>
          </a:solidFill>
          <a:ln/>
        </p:spPr>
      </p:sp>
      <p:sp>
        <p:nvSpPr>
          <p:cNvPr id="11" name="Text 9"/>
          <p:cNvSpPr/>
          <p:nvPr/>
        </p:nvSpPr>
        <p:spPr>
          <a:xfrm>
            <a:off x="4892040" y="1586484"/>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330952" y="1563624"/>
            <a:ext cx="3246120" cy="56692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Quatre agents RL implémentés et calibrés</a:t>
            </a:r>
            <a:endParaRPr lang="en-US" sz="1250" dirty="0"/>
          </a:p>
        </p:txBody>
      </p:sp>
      <p:sp>
        <p:nvSpPr>
          <p:cNvPr id="13" name="Text 11"/>
          <p:cNvSpPr/>
          <p:nvPr/>
        </p:nvSpPr>
        <p:spPr>
          <a:xfrm>
            <a:off x="5330952" y="2112264"/>
            <a:ext cx="3246120" cy="713232"/>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Tabulaires (Q-Learning, SARSA) et Deep RL (DQN, PPO) — hyperparamètres justifiés, convergence diagnostiquée</a:t>
            </a:r>
            <a:endParaRPr lang="en-US" sz="1000" dirty="0"/>
          </a:p>
        </p:txBody>
      </p:sp>
      <p:sp>
        <p:nvSpPr>
          <p:cNvPr id="14" name="Shape 12"/>
          <p:cNvSpPr/>
          <p:nvPr/>
        </p:nvSpPr>
        <p:spPr>
          <a:xfrm>
            <a:off x="457200" y="3063240"/>
            <a:ext cx="4023360" cy="1463040"/>
          </a:xfrm>
          <a:prstGeom prst="roundRect">
            <a:avLst>
              <a:gd name="adj" fmla="val 3750"/>
            </a:avLst>
          </a:prstGeom>
          <a:solidFill>
            <a:srgbClr val="F2F5F7"/>
          </a:solidFill>
          <a:ln w="9525">
            <a:solidFill>
              <a:srgbClr val="E3E7EA"/>
            </a:solidFill>
            <a:prstDash val="solid"/>
          </a:ln>
          <a:effectLst>
            <a:outerShdw blurRad="88900" dist="25400" dir="2700000" algn="bl" rotWithShape="0">
              <a:srgbClr val="000000">
                <a:alpha val="13000"/>
              </a:srgbClr>
            </a:outerShdw>
          </a:effectLst>
        </p:spPr>
      </p:sp>
      <p:sp>
        <p:nvSpPr>
          <p:cNvPr id="15" name="Shape 13"/>
          <p:cNvSpPr/>
          <p:nvPr/>
        </p:nvSpPr>
        <p:spPr>
          <a:xfrm>
            <a:off x="640080" y="3246120"/>
            <a:ext cx="310896" cy="310896"/>
          </a:xfrm>
          <a:prstGeom prst="ellipse">
            <a:avLst/>
          </a:prstGeom>
          <a:solidFill>
            <a:srgbClr val="B4622D"/>
          </a:solidFill>
          <a:ln/>
        </p:spPr>
      </p:sp>
      <p:sp>
        <p:nvSpPr>
          <p:cNvPr id="16" name="Text 14"/>
          <p:cNvSpPr/>
          <p:nvPr/>
        </p:nvSpPr>
        <p:spPr>
          <a:xfrm>
            <a:off x="640080" y="3232404"/>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078992" y="3209544"/>
            <a:ext cx="3246120" cy="56692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Un benchmark systématique et reproductible</a:t>
            </a:r>
            <a:endParaRPr lang="en-US" sz="1250" dirty="0"/>
          </a:p>
        </p:txBody>
      </p:sp>
      <p:sp>
        <p:nvSpPr>
          <p:cNvPr id="18" name="Text 16"/>
          <p:cNvSpPr/>
          <p:nvPr/>
        </p:nvSpPr>
        <p:spPr>
          <a:xfrm>
            <a:off x="1078992" y="3758184"/>
            <a:ext cx="3246120" cy="713232"/>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8 politiques × 3 scénarios × 10 réplications = 240 simulations, avec ANOVA, Tukey HSD et tests de Welch</a:t>
            </a:r>
            <a:endParaRPr lang="en-US" sz="1000" dirty="0"/>
          </a:p>
        </p:txBody>
      </p:sp>
      <p:sp>
        <p:nvSpPr>
          <p:cNvPr id="19" name="Shape 17"/>
          <p:cNvSpPr/>
          <p:nvPr/>
        </p:nvSpPr>
        <p:spPr>
          <a:xfrm>
            <a:off x="4709160" y="3063240"/>
            <a:ext cx="4023360" cy="1463040"/>
          </a:xfrm>
          <a:prstGeom prst="roundRect">
            <a:avLst>
              <a:gd name="adj" fmla="val 3750"/>
            </a:avLst>
          </a:prstGeom>
          <a:solidFill>
            <a:srgbClr val="F7F1EA"/>
          </a:solidFill>
          <a:ln w="9525">
            <a:solidFill>
              <a:srgbClr val="E3E7EA"/>
            </a:solidFill>
            <a:prstDash val="solid"/>
          </a:ln>
          <a:effectLst>
            <a:outerShdw blurRad="88900" dist="25400" dir="2700000" algn="bl" rotWithShape="0">
              <a:srgbClr val="000000">
                <a:alpha val="13000"/>
              </a:srgbClr>
            </a:outerShdw>
          </a:effectLst>
        </p:spPr>
      </p:sp>
      <p:sp>
        <p:nvSpPr>
          <p:cNvPr id="20" name="Shape 18"/>
          <p:cNvSpPr/>
          <p:nvPr/>
        </p:nvSpPr>
        <p:spPr>
          <a:xfrm>
            <a:off x="4892040" y="3246120"/>
            <a:ext cx="310896" cy="310896"/>
          </a:xfrm>
          <a:prstGeom prst="ellipse">
            <a:avLst/>
          </a:prstGeom>
          <a:solidFill>
            <a:srgbClr val="B4622D"/>
          </a:solidFill>
          <a:ln/>
        </p:spPr>
      </p:sp>
      <p:sp>
        <p:nvSpPr>
          <p:cNvPr id="21" name="Text 19"/>
          <p:cNvSpPr/>
          <p:nvPr/>
        </p:nvSpPr>
        <p:spPr>
          <a:xfrm>
            <a:off x="4892040" y="3232404"/>
            <a:ext cx="310896"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5330952" y="3209544"/>
            <a:ext cx="3246120" cy="566928"/>
          </a:xfrm>
          <a:prstGeom prst="rect">
            <a:avLst/>
          </a:prstGeom>
          <a:noFill/>
          <a:ln/>
        </p:spPr>
        <p:txBody>
          <a:bodyPr wrap="square" lIns="0" tIns="0" rIns="0" bIns="0" rtlCol="0" anchor="ctr"/>
          <a:lstStyle/>
          <a:p>
            <a:pPr marL="0" indent="0">
              <a:buNone/>
            </a:pPr>
            <a:r>
              <a:rPr lang="en-US" sz="1250" b="1" dirty="0">
                <a:solidFill>
                  <a:srgbClr val="22303F"/>
                </a:solidFill>
                <a:latin typeface="Calibri" pitchFamily="34" charset="0"/>
                <a:ea typeface="Calibri" pitchFamily="34" charset="-122"/>
                <a:cs typeface="Calibri" pitchFamily="34" charset="-120"/>
              </a:rPr>
              <a:t>La calibration du signal de récompense</a:t>
            </a:r>
            <a:endParaRPr lang="en-US" sz="1250" dirty="0"/>
          </a:p>
        </p:txBody>
      </p:sp>
      <p:sp>
        <p:nvSpPr>
          <p:cNvPr id="23" name="Text 21"/>
          <p:cNvSpPr/>
          <p:nvPr/>
        </p:nvSpPr>
        <p:spPr>
          <a:xfrm>
            <a:off x="5330952" y="3758184"/>
            <a:ext cx="3246120" cy="713232"/>
          </a:xfrm>
          <a:prstGeom prst="rect">
            <a:avLst/>
          </a:prstGeom>
          <a:noFill/>
          <a:ln/>
        </p:spPr>
        <p:txBody>
          <a:bodyPr wrap="square" lIns="0" tIns="0" rIns="0" bIns="0" rtlCol="0" anchor="ctr"/>
          <a:lstStyle/>
          <a:p>
            <a:pPr marL="0" indent="0">
              <a:buNone/>
            </a:pPr>
            <a:r>
              <a:rPr lang="en-US" sz="1000" dirty="0">
                <a:solidFill>
                  <a:srgbClr val="5A6672"/>
                </a:solidFill>
                <a:latin typeface="Calibri" pitchFamily="34" charset="0"/>
                <a:ea typeface="Calibri" pitchFamily="34" charset="-122"/>
                <a:cs typeface="Calibri" pitchFamily="34" charset="-120"/>
              </a:rPr>
              <a:t>Diagnostic ΔR : de &lt; 6×10⁻⁴ à 3,2×10⁻² grâce au terme w₄ = 0,3 — condition sine qua non de l'apprentissage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2A38"/>
        </a:solidFill>
        <a:effectLst/>
      </p:bgPr>
    </p:bg>
    <p:spTree>
      <p:nvGrpSpPr>
        <p:cNvPr id="1" name=""/>
        <p:cNvGrpSpPr/>
        <p:nvPr/>
      </p:nvGrpSpPr>
      <p:grpSpPr>
        <a:xfrm>
          <a:off x="0" y="0"/>
          <a:ext cx="0" cy="0"/>
          <a:chOff x="0" y="0"/>
          <a:chExt cx="0" cy="0"/>
        </a:xfrm>
      </p:grpSpPr>
      <p:sp>
        <p:nvSpPr>
          <p:cNvPr id="2" name="Shape 0"/>
          <p:cNvSpPr/>
          <p:nvPr/>
        </p:nvSpPr>
        <p:spPr>
          <a:xfrm>
            <a:off x="7589520" y="3566160"/>
            <a:ext cx="3108960" cy="3108960"/>
          </a:xfrm>
          <a:prstGeom prst="ellipse">
            <a:avLst/>
          </a:prstGeom>
          <a:solidFill>
            <a:srgbClr val="2A3A4D"/>
          </a:solidFill>
          <a:ln/>
        </p:spPr>
      </p:sp>
      <p:sp>
        <p:nvSpPr>
          <p:cNvPr id="3" name="Shape 1"/>
          <p:cNvSpPr/>
          <p:nvPr/>
        </p:nvSpPr>
        <p:spPr>
          <a:xfrm>
            <a:off x="-1280160" y="-1554480"/>
            <a:ext cx="3200400" cy="3200400"/>
          </a:xfrm>
          <a:prstGeom prst="ellipse">
            <a:avLst/>
          </a:prstGeom>
          <a:solidFill>
            <a:srgbClr val="2A3A4D"/>
          </a:solidFill>
          <a:ln/>
        </p:spPr>
      </p:sp>
      <p:sp>
        <p:nvSpPr>
          <p:cNvPr id="4" name="Text 2"/>
          <p:cNvSpPr/>
          <p:nvPr/>
        </p:nvSpPr>
        <p:spPr>
          <a:xfrm>
            <a:off x="457200" y="548640"/>
            <a:ext cx="8229600" cy="274320"/>
          </a:xfrm>
          <a:prstGeom prst="rect">
            <a:avLst/>
          </a:prstGeom>
          <a:noFill/>
          <a:ln/>
        </p:spPr>
        <p:txBody>
          <a:bodyPr wrap="square" lIns="0" tIns="0" rIns="0" bIns="0" rtlCol="0" anchor="ctr"/>
          <a:lstStyle/>
          <a:p>
            <a:pPr marL="0" indent="0" algn="ctr">
              <a:buNone/>
            </a:pPr>
            <a:r>
              <a:rPr lang="en-US" sz="1200" b="1" kern="0" spc="400" dirty="0">
                <a:solidFill>
                  <a:srgbClr val="B4622D"/>
                </a:solidFill>
                <a:latin typeface="Calibri" pitchFamily="34" charset="0"/>
                <a:ea typeface="Calibri" pitchFamily="34" charset="-122"/>
                <a:cs typeface="Calibri" pitchFamily="34" charset="-120"/>
              </a:rPr>
              <a:t>CONCLUSION</a:t>
            </a:r>
            <a:endParaRPr lang="en-US" sz="1200" dirty="0"/>
          </a:p>
        </p:txBody>
      </p:sp>
      <p:sp>
        <p:nvSpPr>
          <p:cNvPr id="5" name="Text 3"/>
          <p:cNvSpPr/>
          <p:nvPr/>
        </p:nvSpPr>
        <p:spPr>
          <a:xfrm>
            <a:off x="731520" y="960120"/>
            <a:ext cx="7680960" cy="9144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Un agent RL n'est pas meilleur qu'une heuristique dans tous les cas.</a:t>
            </a:r>
            <a:endParaRPr lang="en-US" sz="2100" dirty="0"/>
          </a:p>
          <a:p>
            <a:pPr marL="0" indent="0" algn="ctr">
              <a:buNone/>
            </a:pPr>
            <a:r>
              <a:rPr lang="en-US" sz="2100" b="1" dirty="0">
                <a:solidFill>
                  <a:srgbClr val="FFFFFF"/>
                </a:solidFill>
                <a:latin typeface="Cambria" pitchFamily="34" charset="0"/>
                <a:ea typeface="Cambria" pitchFamily="34" charset="-122"/>
                <a:cs typeface="Cambria" pitchFamily="34" charset="-120"/>
              </a:rPr>
              <a:t>Il est massivement supérieur là où les heuristiques s'effondrent.</a:t>
            </a:r>
            <a:endParaRPr lang="en-US" sz="2100" dirty="0"/>
          </a:p>
        </p:txBody>
      </p:sp>
      <p:sp>
        <p:nvSpPr>
          <p:cNvPr id="6" name="Shape 4"/>
          <p:cNvSpPr/>
          <p:nvPr/>
        </p:nvSpPr>
        <p:spPr>
          <a:xfrm>
            <a:off x="640080" y="2148840"/>
            <a:ext cx="2560320" cy="1143000"/>
          </a:xfrm>
          <a:prstGeom prst="roundRect">
            <a:avLst>
              <a:gd name="adj" fmla="val 4800"/>
            </a:avLst>
          </a:prstGeom>
          <a:solidFill>
            <a:srgbClr val="2A3A4D"/>
          </a:solidFill>
          <a:ln w="9525">
            <a:solidFill>
              <a:srgbClr val="3C4E63"/>
            </a:solidFill>
            <a:prstDash val="solid"/>
          </a:ln>
        </p:spPr>
      </p:sp>
      <p:sp>
        <p:nvSpPr>
          <p:cNvPr id="7" name="Text 5"/>
          <p:cNvSpPr/>
          <p:nvPr/>
        </p:nvSpPr>
        <p:spPr>
          <a:xfrm>
            <a:off x="731520" y="2304288"/>
            <a:ext cx="2377440" cy="457200"/>
          </a:xfrm>
          <a:prstGeom prst="rect">
            <a:avLst/>
          </a:prstGeom>
          <a:noFill/>
          <a:ln/>
        </p:spPr>
        <p:txBody>
          <a:bodyPr wrap="square" lIns="0" tIns="0" rIns="0" bIns="0" rtlCol="0" anchor="ctr"/>
          <a:lstStyle/>
          <a:p>
            <a:pPr marL="0" indent="0" algn="ctr">
              <a:buNone/>
            </a:pPr>
            <a:r>
              <a:rPr lang="en-US" sz="2300" b="1" dirty="0">
                <a:solidFill>
                  <a:srgbClr val="E0A874"/>
                </a:solidFill>
                <a:latin typeface="Cambria" pitchFamily="34" charset="0"/>
                <a:ea typeface="Cambria" pitchFamily="34" charset="-122"/>
                <a:cs typeface="Cambria" pitchFamily="34" charset="-120"/>
              </a:rPr>
              <a:t>+1 725 t/h</a:t>
            </a:r>
            <a:endParaRPr lang="en-US" sz="2300" dirty="0"/>
          </a:p>
        </p:txBody>
      </p:sp>
      <p:sp>
        <p:nvSpPr>
          <p:cNvPr id="8" name="Text 6"/>
          <p:cNvSpPr/>
          <p:nvPr/>
        </p:nvSpPr>
        <p:spPr>
          <a:xfrm>
            <a:off x="777240" y="2788920"/>
            <a:ext cx="2286000" cy="438912"/>
          </a:xfrm>
          <a:prstGeom prst="rect">
            <a:avLst/>
          </a:prstGeom>
          <a:noFill/>
          <a:ln/>
        </p:spPr>
        <p:txBody>
          <a:bodyPr wrap="square" lIns="0" tIns="0" rIns="0" bIns="0" rtlCol="0" anchor="ctr"/>
          <a:lstStyle/>
          <a:p>
            <a:pPr marL="0" indent="0" algn="ctr">
              <a:buNone/>
            </a:pPr>
            <a:r>
              <a:rPr lang="en-US" sz="1050" dirty="0">
                <a:solidFill>
                  <a:srgbClr val="AEB9C4"/>
                </a:solidFill>
                <a:latin typeface="Calibri" pitchFamily="34" charset="0"/>
                <a:ea typeface="Calibri" pitchFamily="34" charset="-122"/>
                <a:cs typeface="Calibri" pitchFamily="34" charset="-120"/>
              </a:rPr>
              <a:t>vs Nearest Shovel en surcharge</a:t>
            </a:r>
            <a:endParaRPr lang="en-US" sz="1050" dirty="0"/>
          </a:p>
        </p:txBody>
      </p:sp>
      <p:sp>
        <p:nvSpPr>
          <p:cNvPr id="9" name="Shape 7"/>
          <p:cNvSpPr/>
          <p:nvPr/>
        </p:nvSpPr>
        <p:spPr>
          <a:xfrm>
            <a:off x="3383280" y="2148840"/>
            <a:ext cx="2560320" cy="1143000"/>
          </a:xfrm>
          <a:prstGeom prst="roundRect">
            <a:avLst>
              <a:gd name="adj" fmla="val 4800"/>
            </a:avLst>
          </a:prstGeom>
          <a:solidFill>
            <a:srgbClr val="2A3A4D"/>
          </a:solidFill>
          <a:ln w="9525">
            <a:solidFill>
              <a:srgbClr val="3C4E63"/>
            </a:solidFill>
            <a:prstDash val="solid"/>
          </a:ln>
        </p:spPr>
      </p:sp>
      <p:sp>
        <p:nvSpPr>
          <p:cNvPr id="10" name="Text 8"/>
          <p:cNvSpPr/>
          <p:nvPr/>
        </p:nvSpPr>
        <p:spPr>
          <a:xfrm>
            <a:off x="3474720" y="2304288"/>
            <a:ext cx="2377440" cy="457200"/>
          </a:xfrm>
          <a:prstGeom prst="rect">
            <a:avLst/>
          </a:prstGeom>
          <a:noFill/>
          <a:ln/>
        </p:spPr>
        <p:txBody>
          <a:bodyPr wrap="square" lIns="0" tIns="0" rIns="0" bIns="0" rtlCol="0" anchor="ctr"/>
          <a:lstStyle/>
          <a:p>
            <a:pPr marL="0" indent="0" algn="ctr">
              <a:buNone/>
            </a:pPr>
            <a:r>
              <a:rPr lang="en-US" sz="2300" b="1" dirty="0">
                <a:solidFill>
                  <a:srgbClr val="E0A874"/>
                </a:solidFill>
                <a:latin typeface="Cambria" pitchFamily="34" charset="0"/>
                <a:ea typeface="Cambria" pitchFamily="34" charset="-122"/>
                <a:cs typeface="Cambria" pitchFamily="34" charset="-120"/>
              </a:rPr>
              <a:t>−7,4 %</a:t>
            </a:r>
            <a:endParaRPr lang="en-US" sz="2300" dirty="0"/>
          </a:p>
        </p:txBody>
      </p:sp>
      <p:sp>
        <p:nvSpPr>
          <p:cNvPr id="11" name="Text 9"/>
          <p:cNvSpPr/>
          <p:nvPr/>
        </p:nvSpPr>
        <p:spPr>
          <a:xfrm>
            <a:off x="3520440" y="2788920"/>
            <a:ext cx="2286000" cy="438912"/>
          </a:xfrm>
          <a:prstGeom prst="rect">
            <a:avLst/>
          </a:prstGeom>
          <a:noFill/>
          <a:ln/>
        </p:spPr>
        <p:txBody>
          <a:bodyPr wrap="square" lIns="0" tIns="0" rIns="0" bIns="0" rtlCol="0" anchor="ctr"/>
          <a:lstStyle/>
          <a:p>
            <a:pPr marL="0" indent="0" algn="ctr">
              <a:buNone/>
            </a:pPr>
            <a:r>
              <a:rPr lang="en-US" sz="1050" dirty="0">
                <a:solidFill>
                  <a:srgbClr val="AEB9C4"/>
                </a:solidFill>
                <a:latin typeface="Calibri" pitchFamily="34" charset="0"/>
                <a:ea typeface="Calibri" pitchFamily="34" charset="-122"/>
                <a:cs typeface="Calibri" pitchFamily="34" charset="-120"/>
              </a:rPr>
              <a:t>de carburant vs Fixed sous pannes</a:t>
            </a:r>
            <a:endParaRPr lang="en-US" sz="1050" dirty="0"/>
          </a:p>
        </p:txBody>
      </p:sp>
      <p:sp>
        <p:nvSpPr>
          <p:cNvPr id="12" name="Shape 10"/>
          <p:cNvSpPr/>
          <p:nvPr/>
        </p:nvSpPr>
        <p:spPr>
          <a:xfrm>
            <a:off x="6126480" y="2148840"/>
            <a:ext cx="2560320" cy="1143000"/>
          </a:xfrm>
          <a:prstGeom prst="roundRect">
            <a:avLst>
              <a:gd name="adj" fmla="val 4800"/>
            </a:avLst>
          </a:prstGeom>
          <a:solidFill>
            <a:srgbClr val="2A3A4D"/>
          </a:solidFill>
          <a:ln w="9525">
            <a:solidFill>
              <a:srgbClr val="3C4E63"/>
            </a:solidFill>
            <a:prstDash val="solid"/>
          </a:ln>
        </p:spPr>
      </p:sp>
      <p:sp>
        <p:nvSpPr>
          <p:cNvPr id="13" name="Text 11"/>
          <p:cNvSpPr/>
          <p:nvPr/>
        </p:nvSpPr>
        <p:spPr>
          <a:xfrm>
            <a:off x="6217920" y="2304288"/>
            <a:ext cx="2377440" cy="457200"/>
          </a:xfrm>
          <a:prstGeom prst="rect">
            <a:avLst/>
          </a:prstGeom>
          <a:noFill/>
          <a:ln/>
        </p:spPr>
        <p:txBody>
          <a:bodyPr wrap="square" lIns="0" tIns="0" rIns="0" bIns="0" rtlCol="0" anchor="ctr"/>
          <a:lstStyle/>
          <a:p>
            <a:pPr marL="0" indent="0" algn="ctr">
              <a:buNone/>
            </a:pPr>
            <a:r>
              <a:rPr lang="en-US" sz="2300" b="1" dirty="0">
                <a:solidFill>
                  <a:srgbClr val="E0A874"/>
                </a:solidFill>
                <a:latin typeface="Cambria" pitchFamily="34" charset="0"/>
                <a:ea typeface="Cambria" pitchFamily="34" charset="-122"/>
                <a:cs typeface="Cambria" pitchFamily="34" charset="-120"/>
              </a:rPr>
              <a:t>p = 3×10⁻⁶</a:t>
            </a:r>
            <a:endParaRPr lang="en-US" sz="2300" dirty="0"/>
          </a:p>
        </p:txBody>
      </p:sp>
      <p:sp>
        <p:nvSpPr>
          <p:cNvPr id="14" name="Text 12"/>
          <p:cNvSpPr/>
          <p:nvPr/>
        </p:nvSpPr>
        <p:spPr>
          <a:xfrm>
            <a:off x="6263640" y="2788920"/>
            <a:ext cx="2286000" cy="438912"/>
          </a:xfrm>
          <a:prstGeom prst="rect">
            <a:avLst/>
          </a:prstGeom>
          <a:noFill/>
          <a:ln/>
        </p:spPr>
        <p:txBody>
          <a:bodyPr wrap="square" lIns="0" tIns="0" rIns="0" bIns="0" rtlCol="0" anchor="ctr"/>
          <a:lstStyle/>
          <a:p>
            <a:pPr marL="0" indent="0" algn="ctr">
              <a:buNone/>
            </a:pPr>
            <a:r>
              <a:rPr lang="en-US" sz="1050" dirty="0">
                <a:solidFill>
                  <a:srgbClr val="AEB9C4"/>
                </a:solidFill>
                <a:latin typeface="Calibri" pitchFamily="34" charset="0"/>
                <a:ea typeface="Calibri" pitchFamily="34" charset="-122"/>
                <a:cs typeface="Calibri" pitchFamily="34" charset="-120"/>
              </a:rPr>
              <a:t>significativité PPO &gt; Fixed en nominal</a:t>
            </a:r>
            <a:endParaRPr lang="en-US" sz="1050" dirty="0"/>
          </a:p>
        </p:txBody>
      </p:sp>
      <p:sp>
        <p:nvSpPr>
          <p:cNvPr id="15" name="Text 13"/>
          <p:cNvSpPr/>
          <p:nvPr/>
        </p:nvSpPr>
        <p:spPr>
          <a:xfrm>
            <a:off x="1097280" y="3520440"/>
            <a:ext cx="6949440" cy="548640"/>
          </a:xfrm>
          <a:prstGeom prst="rect">
            <a:avLst/>
          </a:prstGeom>
          <a:noFill/>
          <a:ln/>
        </p:spPr>
        <p:txBody>
          <a:bodyPr wrap="square" lIns="0" tIns="0" rIns="0" bIns="0" rtlCol="0" anchor="ctr"/>
          <a:lstStyle/>
          <a:p>
            <a:pPr marL="0" indent="0" algn="ctr">
              <a:buNone/>
            </a:pPr>
            <a:r>
              <a:rPr lang="en-US" sz="1350" i="1" dirty="0">
                <a:solidFill>
                  <a:srgbClr val="D8C4B0"/>
                </a:solidFill>
                <a:latin typeface="Calibri" pitchFamily="34" charset="0"/>
                <a:ea typeface="Calibri" pitchFamily="34" charset="-122"/>
                <a:cs typeface="Calibri" pitchFamily="34" charset="-120"/>
              </a:rPr>
              <a:t>Ce mémoire montre que le Deep RL est une approche compétitive et scientifiquement rigoureuse pour le dispatching minier dynamique.</a:t>
            </a:r>
            <a:endParaRPr lang="en-US" sz="1350" dirty="0"/>
          </a:p>
        </p:txBody>
      </p:sp>
      <p:sp>
        <p:nvSpPr>
          <p:cNvPr id="16" name="Shape 14"/>
          <p:cNvSpPr/>
          <p:nvPr/>
        </p:nvSpPr>
        <p:spPr>
          <a:xfrm>
            <a:off x="3977640" y="4224528"/>
            <a:ext cx="1188720" cy="0"/>
          </a:xfrm>
          <a:prstGeom prst="line">
            <a:avLst/>
          </a:prstGeom>
          <a:noFill/>
          <a:ln w="25400">
            <a:solidFill>
              <a:srgbClr val="B4622D"/>
            </a:solidFill>
            <a:prstDash val="solid"/>
          </a:ln>
        </p:spPr>
      </p:sp>
      <p:sp>
        <p:nvSpPr>
          <p:cNvPr id="17" name="Text 15"/>
          <p:cNvSpPr/>
          <p:nvPr/>
        </p:nvSpPr>
        <p:spPr>
          <a:xfrm>
            <a:off x="457200" y="4370832"/>
            <a:ext cx="8229600" cy="384048"/>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Merci pour votre attention — Questions ?</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5671</Words>
  <Application>Microsoft Office PowerPoint</Application>
  <PresentationFormat>Affichage à l'écran (16:9)</PresentationFormat>
  <Paragraphs>390</Paragraphs>
  <Slides>26</Slides>
  <Notes>26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26</vt:i4>
      </vt:variant>
    </vt:vector>
  </HeadingPairs>
  <TitlesOfParts>
    <vt:vector size="31" baseType="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Au-delà des heuristiques statiques — Soutenance M2 Data Science</dc:title>
  <dc:subject>PptxGenJS Presentation</dc:subject>
  <dc:creator>Jean-Luc MUPASA KALUNGA</dc:creator>
  <cp:lastModifiedBy>Jean-Luc Mupasa</cp:lastModifiedBy>
  <cp:revision>2</cp:revision>
  <dcterms:created xsi:type="dcterms:W3CDTF">2026-07-06T04:05:17Z</dcterms:created>
  <dcterms:modified xsi:type="dcterms:W3CDTF">2026-07-06T05:39:25Z</dcterms:modified>
</cp:coreProperties>
</file>