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453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4" y="502920"/>
            <a:ext cx="1298448" cy="13533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img/logoud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557784"/>
            <a:ext cx="1170432" cy="1243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DON BOSCO DE LUBUMBASHI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2304288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Faculté des Sciences Informatiques — Master Data Science, Supply Chain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2788920"/>
            <a:ext cx="10725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Au-delà des heuristiques statiques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520440"/>
            <a:ext cx="9445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E8A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mise en œuvre d'un agent d'apprentissage par renforcement pour l'optimisation holistique et dynamique de la logistique minière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800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MUPASA KALUNGA Jean-Luc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519379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Dirigé par :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Olfa FERCHICHI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58978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B85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Mémoire de Master — Juillet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95528" y="1655064"/>
            <a:ext cx="548640" cy="54864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655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49961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19019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enjeux de la logistique minière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9088" y="1655064"/>
            <a:ext cx="548640" cy="54864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1655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78040" y="149961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78040" y="19019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camion-pelle en mine à ciel ouvert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69748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5528" y="2980944"/>
            <a:ext cx="548640" cy="54864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2980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28254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État de l'art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2278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critique des méthodes d'optimisation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69748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19088" y="2980944"/>
            <a:ext cx="548640" cy="54864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20" name="Text 18"/>
          <p:cNvSpPr/>
          <p:nvPr/>
        </p:nvSpPr>
        <p:spPr>
          <a:xfrm>
            <a:off x="6419088" y="2980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78040" y="28254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78040" y="32278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de recherche et hypothèse centrale H1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02336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5528" y="4306824"/>
            <a:ext cx="548640" cy="54864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54480" y="41513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Approche proposée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54480" y="45537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CRISP-RL, MDP et algorithmes RL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02336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19088" y="4306824"/>
            <a:ext cx="548640" cy="54864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088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178040" y="41513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Expérimentation &amp; résultats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178040" y="45537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 8 politiques sur 3 scénarios, limites du travail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" y="534924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95528" y="5632704"/>
            <a:ext cx="548640" cy="54864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35" name="Text 33"/>
          <p:cNvSpPr/>
          <p:nvPr/>
        </p:nvSpPr>
        <p:spPr>
          <a:xfrm>
            <a:off x="795528" y="5632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554480" y="54772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554480" y="58795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et travaux futurs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— contexte et enjeux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6675120" cy="2377440"/>
          </a:xfrm>
          <a:prstGeom prst="roundRect">
            <a:avLst>
              <a:gd name="adj" fmla="val 307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5361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transport, pilier critique de la mine à ciel ouvert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1938528"/>
            <a:ext cx="6172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logistique du transport peut représenter jusqu'à 60 % des coûts opérationnels totaux d'une mine à ciel ouvert.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optimisation génère des économies en millions de dollars et réduit l'empreinte environnementale (carburant, usure).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" y="3977640"/>
            <a:ext cx="6675120" cy="2286000"/>
          </a:xfrm>
          <a:prstGeom prst="roundRect">
            <a:avLst>
              <a:gd name="adj" fmla="val 3200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414223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des systèmes actuels (FMS)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544568"/>
            <a:ext cx="6172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Heuristiques statiques et règles prédéfinies, efficaces en conditions stables…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…mais myopes face à la variabilité réelle : pannes, congestion, dégradation des routes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Pertes d'efficacité et sous-utilisation des ressources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35240" y="1371600"/>
            <a:ext cx="3977640" cy="4892040"/>
          </a:xfrm>
          <a:prstGeom prst="roundRect">
            <a:avLst>
              <a:gd name="adj" fmla="val 1839"/>
            </a:avLst>
          </a:prstGeom>
          <a:solidFill>
            <a:srgbClr val="26221E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192024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E88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60 %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8001000" y="30632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coûts opérationnels d'une mine à ciel ouvert proviennent du transport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0" y="4160520"/>
            <a:ext cx="1874520" cy="0"/>
          </a:xfrm>
          <a:prstGeom prst="line">
            <a:avLst/>
          </a:prstGeom>
          <a:noFill/>
          <a:ln w="12700">
            <a:solidFill>
              <a:srgbClr val="5A51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4343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88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mémoire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470916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ED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agent autonome de dispatching qui adapte ses décisions en temps réel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Domaine — la logistique minière à ciel ouvert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69037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7" name="Image 0" descr="img/Description_du_système_de_transport_minier_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360"/>
            <a:ext cx="6537960" cy="31382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7091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opérationnel camion-pelle : le levier de l'agent est la décision d'affectation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0" y="1417320"/>
            <a:ext cx="3886200" cy="841248"/>
          </a:xfrm>
          <a:prstGeom prst="roundRect">
            <a:avLst>
              <a:gd name="adj" fmla="val 8696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0100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Pelles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0100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chargement (front de taille)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0" y="2404872"/>
            <a:ext cx="3886200" cy="841248"/>
          </a:xfrm>
          <a:prstGeom prst="roundRect">
            <a:avLst>
              <a:gd name="adj" fmla="val 8696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01000" y="2496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Flotte de camions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001000" y="2816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chargé / retour à vide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0" y="3392424"/>
            <a:ext cx="3886200" cy="841248"/>
          </a:xfrm>
          <a:prstGeom prst="roundRect">
            <a:avLst>
              <a:gd name="adj" fmla="val 8696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001000" y="34838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Réseau routier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001000" y="38039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jonctions, points de déchargement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772400" y="4379976"/>
            <a:ext cx="3886200" cy="841248"/>
          </a:xfrm>
          <a:prstGeom prst="roundRect">
            <a:avLst>
              <a:gd name="adj" fmla="val 8696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001000" y="44714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Dispatching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001000" y="47914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Camion → Pelle → Dump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9436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maximiser le tonnage transporté (t/h) sous contraintes de files, disponibilité et coûts — dans un environnement stochastique.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État de l'art des méthodes d'optimisation</a:t>
            </a:r>
            <a:endParaRPr lang="en-US" sz="3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843797"/>
              </p:ext>
            </p:extLst>
          </p:nvPr>
        </p:nvGraphicFramePr>
        <p:xfrm>
          <a:off x="594360" y="1417320"/>
          <a:ext cx="11018518" cy="3950208"/>
        </p:xfrm>
        <a:graphic>
          <a:graphicData uri="http://schemas.openxmlformats.org/drawingml/2006/table">
            <a:tbl>
              <a:tblPr/>
              <a:tblGrid>
                <a:gridCol w="228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Famille d'approches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Limites principales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Opportunité pour le RL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 err="1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Heuristiques</a:t>
                      </a: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b="1" dirty="0" err="1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statiques</a:t>
                      </a: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[4]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FIFO, Nearest Shovel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Myopes, peu adaptatives, ignorent l'incertitude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Apprendre une politique globale et adaptative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 err="1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Systèmes</a:t>
                      </a: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b="1" dirty="0" err="1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industriels</a:t>
                      </a: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[2, 14]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DISPATCH, MineStar, Jigsaw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Déterministes, rigides, peu réactifs aux perturbations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Adaptation dynamique en temps réel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Méta-</a:t>
                      </a:r>
                      <a:r>
                        <a:rPr lang="en-US" sz="1150" b="1" dirty="0" err="1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heuristiques</a:t>
                      </a: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[15, 16]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Algo. génétiques, colonies de fourmis, recuit simulé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Optimisation hors-ligne, peu robustes en temps réel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de l'incertitude et adaptation continue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 err="1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Optimisation</a:t>
                      </a: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b="1" dirty="0" err="1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exacte</a:t>
                      </a:r>
                      <a:r>
                        <a:rPr lang="en-US" sz="1150" b="1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[17, 18]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MILP, programmation par contraintes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 computationnelle, peu scalable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scalable et flexible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F3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Apprentissage par </a:t>
                      </a:r>
                      <a:r>
                        <a:rPr lang="en-US" sz="1150" b="1" dirty="0" err="1">
                          <a:solidFill>
                            <a:srgbClr val="8F3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renforcement</a:t>
                      </a:r>
                      <a:r>
                        <a:rPr lang="en-US" sz="1150" b="1" dirty="0">
                          <a:solidFill>
                            <a:srgbClr val="8F3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[7, 10]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pour VRP / JSSP, RL minier récent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 d'un simulateur et d'une modélisation réaliste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F3F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Cadre état / action / récompense retenu dans ce mémoire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6035040"/>
            <a:ext cx="11018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8F3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l'optimisation globale et dynamique de la flotte reste un défi — le RL offre l'adaptation temps réel qui manque aux approches existantes.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 et hypothèse de recherche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6903720" cy="731520"/>
          </a:xfrm>
          <a:prstGeom prst="roundRect">
            <a:avLst>
              <a:gd name="adj" fmla="val 10000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444752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modéliser l'environnement minier (réseau, files, aléas) dans un cadre RL 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212848"/>
            <a:ext cx="6903720" cy="731520"/>
          </a:xfrm>
          <a:prstGeom prst="roundRect">
            <a:avLst>
              <a:gd name="adj" fmla="val 10000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350008"/>
            <a:ext cx="457200" cy="45720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286000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architecture d'agent RL pour une politique de dispatching adaptative 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054096"/>
            <a:ext cx="6903720" cy="731520"/>
          </a:xfrm>
          <a:prstGeom prst="roundRect">
            <a:avLst>
              <a:gd name="adj" fmla="val 10000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191256"/>
            <a:ext cx="457200" cy="45720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127248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 une récompense fidèle aux coûts réels (carburant, usure, temps) 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3895344"/>
            <a:ext cx="6903720" cy="731520"/>
          </a:xfrm>
          <a:prstGeom prst="roundRect">
            <a:avLst>
              <a:gd name="adj" fmla="val 10000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032504"/>
            <a:ext cx="457200" cy="45720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3968496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métriques et protocoles pour démontrer quantitativement la supériorité du RL 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4736592"/>
            <a:ext cx="6903720" cy="731520"/>
          </a:xfrm>
          <a:prstGeom prst="roundRect">
            <a:avLst>
              <a:gd name="adj" fmla="val 10000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873752"/>
            <a:ext cx="457200" cy="45720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17320" y="4809744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intégrer l'agent aux FMS existants sans remplacer l'infrastructure ?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1371600"/>
            <a:ext cx="3886200" cy="4114800"/>
          </a:xfrm>
          <a:prstGeom prst="roundRect">
            <a:avLst>
              <a:gd name="adj" fmla="val 1882"/>
            </a:avLst>
          </a:prstGeom>
          <a:solidFill>
            <a:srgbClr val="26221E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16459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88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CENTRALE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01000" y="205740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8046720" y="2971800"/>
            <a:ext cx="3337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D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RL autonome peut surpasser les heuristiques classiques : productivité, temps d'attente, carburant et adaptabilité aux perturbations.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0" y="571500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: comparaison rigoureuse de 8 politiques sur 3 scénarios représentatifs, 10 réplications indépendantes.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Approche proposée — vue d'ensemble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75895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7" name="Image 0" descr="img/Architecture_fonctionnelle_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7223760" cy="32382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8006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fonctionnelle : boucle Agent ↔ Environnement ↔ Récompense ↔ Évaluation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458200" y="141732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4108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641080" y="18288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Cerveau décisionnel : choisit l'affectation Camion → Pelle → Dump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458200" y="26060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4108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 simulé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641080" y="30175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physique Gymnasium : camions, pelles, routes, files FIFO, aléas η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458200" y="379476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6410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 de récompense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641080" y="4206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Rt = rendement + équité + coût (+ attente)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458200" y="49834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641080" y="5074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d'évaluation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641080" y="53949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vs baselines, suivi des KPIs (t/h, min, L/t)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11480" y="6080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n'agit pas sur la physique du transport : il optimise uniquement la décision d'affectation — intégrable comme couche d'intelligence au-dessus d'un FMS.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56616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  <p:txBody>
          <a:bodyPr/>
          <a:lstStyle/>
          <a:p>
            <a:endParaRPr lang="fr-CD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 — le cycle CRISP-RL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603504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7" name="Image 0" descr="img/cycle_CRISPRL_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72768"/>
            <a:ext cx="548640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Définition des buts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Traduire les KPIs métier en fonction de récompense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949440" y="22128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Modélisation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49440" y="25328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Gymnasium, topologie et stochasticité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949440" y="30540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Formulation MDP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49440" y="33741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États s, actions a, transition P, récompense 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949440" y="38953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Conception de l'agent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49440" y="42153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DRL (PPO), MLP 128×2, ReLU/Softmax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949440" y="4736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Entraînement &amp; test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949440" y="5056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Exploration/exploitation, hyperparamètres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949440" y="5577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Évaluation robustesse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949440" y="5897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vs heuristiques, analyse des KPIs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949440" y="6400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itératif adapté aux systèmes apprenant par interaction dynamique (Szatmári)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 — formulation en MDP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6309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7" name="Image 0" descr="img/Formulation_du_problème_en_tant_que_MDP_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5852160" cy="32287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8920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fermée agent–environnement : la politique se construit par essais successifs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178040" y="1371600"/>
            <a:ext cx="4434840" cy="1078992"/>
          </a:xfrm>
          <a:prstGeom prst="roundRect">
            <a:avLst>
              <a:gd name="adj" fmla="val 6780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88352" y="14630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État  sₜ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388352" y="181051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d'attente aux pelles, positions des camions, disponibilité des ressources, temps courant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178040" y="2578608"/>
            <a:ext cx="4434840" cy="1078992"/>
          </a:xfrm>
          <a:prstGeom prst="roundRect">
            <a:avLst>
              <a:gd name="adj" fmla="val 6780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88352" y="26700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 aₜ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388352" y="3017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Camion → Pelle → Dump, ou ATTENDRE (7 actions discrètes)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78040" y="3785616"/>
            <a:ext cx="4434840" cy="1078992"/>
          </a:xfrm>
          <a:prstGeom prst="roundRect">
            <a:avLst>
              <a:gd name="adj" fmla="val 6780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88352" y="38770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  P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388352" y="422452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événementiel : trajets log-normaux (σ = 0,12), pannes Bernoulli(pᵦ)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178040" y="4992624"/>
            <a:ext cx="4434840" cy="1078992"/>
          </a:xfrm>
          <a:prstGeom prst="roundRect">
            <a:avLst>
              <a:gd name="adj" fmla="val 6780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88352" y="50840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Récompense  Rₜ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388352" y="543153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Multi-objectif pondérée : rendement, équité, coût, attente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4360" y="6263640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à horizon fini : un poste de 480 min = 1 épisode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 — récompense et simulateur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7" name="Image 0" descr="img/Fonction_de_récompense_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5029200" cy="26942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11153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3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= w1·R rendement + w2·R équité + w3·R coût + w4·R attente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480060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4937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du signal (contribution clé)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52578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formulation à 3 termes produisait un signal non discriminant (ΔR &lt; 6×10⁻⁴). L'ajout du terme d'attente w₄ = 0,3 rend l'apprentissage tabulaire effectif.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37160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13" name="Image 1" descr="img/graphe_reseau_min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00200"/>
            <a:ext cx="4983480" cy="287508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46520" y="45720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routier G = (V, E) : 7 nœuds, 24 arêtes — 3 pelles, 2 dumps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63640" y="544068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492240" y="55595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Python conforme à l'interface Gymnasium (reset, step, render) — base reproductible du benchmark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Algorithmes utilisés — une progression scientifique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2569464" cy="3017520"/>
          </a:xfrm>
          <a:prstGeom prst="roundRect">
            <a:avLst>
              <a:gd name="adj" fmla="val 2730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0020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Tabulaire · off-policy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 l'action optimale (max Q). 30 000 épisodes, α = 0,2, ε-greedy 1,0 → 0,01.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63824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85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566160" y="1417320"/>
            <a:ext cx="2459736" cy="3017520"/>
          </a:xfrm>
          <a:prstGeom prst="roundRect">
            <a:avLst>
              <a:gd name="adj" fmla="val 2730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39312" y="160020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SARSA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39312" y="201168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Tabulaire · on-policy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9312" y="2377440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 la politique réellement suivie : plus conservateur, sous-optimal ici.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2589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85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91656" y="1417320"/>
            <a:ext cx="2496312" cy="3017520"/>
          </a:xfrm>
          <a:prstGeom prst="roundRect">
            <a:avLst>
              <a:gd name="adj" fmla="val 2730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01384" y="160020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01384" y="201168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· off-policy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01384" y="2377440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Q + experience replay (200 k) + réseau cible. 2 M steps d'entraînement.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88796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85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253728" y="1417320"/>
            <a:ext cx="2606040" cy="3017520"/>
          </a:xfrm>
          <a:prstGeom prst="roundRect">
            <a:avLst>
              <a:gd name="adj" fmla="val 2730"/>
            </a:avLst>
          </a:prstGeom>
          <a:solidFill>
            <a:srgbClr val="26221E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63456" y="160020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8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363456" y="201168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B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· actor-critic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63456" y="2377440"/>
            <a:ext cx="2313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tronqué, stable et robuste au réglage. Approche finale retenue. 2 M steps.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4709160"/>
            <a:ext cx="11018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26" name="Image 0" descr="img/Architecture_du_réseau_de_neurones_MLP_de_lagent_PPO_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4892040"/>
            <a:ext cx="5669280" cy="1463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229600" y="4892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3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MLP 128 × 128 (ReLU)
</a:t>
            </a: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vecteur d'état normalisé (147 dim.)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Softmax : probabilités d'affectation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Expérimentation — protocole d'évaluation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5528" y="157276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Nominal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95528" y="1956816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camions · 3 pelles · 2 dumps · pᵦ = 2 %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2359152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: calibration et cohérence du simulateur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0288" y="157276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load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90288" y="1956816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camions · 3 pelles · surcharge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90288" y="2359152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l'équilibrage de charge au-delà du Match Factor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85048" y="157276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breakdown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385048" y="1956816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Pannes fréquentes · pᵦ = 10 %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85048" y="2359152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aux perturbations — cœur de l'hypothèse H1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365760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politiques comparées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224528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heuristiques industrielles : FIFO, Fixed Assignment, Nearest Shovel, Shortest Path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 RL : Q-Learning, SARSA, DQN, PPO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réplications indépendantes par scénario (seeds 42–51)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365760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38221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et validation statistique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224528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Productivité (t/h) · Attente (min) · Carburant (L/t) · Utilisation (%)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 de Welch, ANOVA à un facteur, post-hoc Tukey HSD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d'apprentissage : convergence, erreur TD, entropie, pertes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— productivité comparative (t/h)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7863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7" name="Image 0" descr="img/barplot_productivite_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40180"/>
            <a:ext cx="749808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5166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Productivité moyenne des 8 politiques sur les 3 scénarios (10 réplications)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86800" y="137160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887968" y="1481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Nominal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887968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4 209 et DQN 4 169 t/h &gt; Fixed 4 074 t/h  (+3,3 % / +2,3 %)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686800" y="297180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887968" y="3081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breakdown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3429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3 992 et PPO 3 946 t/h &gt; Fixed 3 861 t/h — le RL gagne quand l'environnement se dégrade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686800" y="457200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887968" y="46817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load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887968" y="5029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domine (Match Factor optimal) ; DQN reste compétitif à −3,6 %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13006" y="6053328"/>
            <a:ext cx="11018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8F3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Deep RL surpassent Fixed Assignment dans 2 scénarios sur 3 — et consomment 4 à 8 % de carburant en moins.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— temps d'attente et heuristiques myopes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7" name="Image 0" descr="img/wait_tim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6126480" cy="38468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4864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d'attente moyen — Fixed / PPO / DQN (seuil cible : 30 min)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80960" y="15361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 productivité / attente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80960" y="19202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Deep RL acceptent une attente légèrement supérieure à Fixed, mais produisent davantage en exploitant plus agressivement les ressources disponibles.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52360" y="3749040"/>
            <a:ext cx="4160520" cy="2514600"/>
          </a:xfrm>
          <a:prstGeom prst="roundRect">
            <a:avLst>
              <a:gd name="adj" fmla="val 2909"/>
            </a:avLst>
          </a:prstGeom>
          <a:solidFill>
            <a:srgbClr val="26221E"/>
          </a:solidFill>
          <a:ln/>
        </p:spPr>
      </p:sp>
      <p:sp>
        <p:nvSpPr>
          <p:cNvPr id="13" name="Text 10"/>
          <p:cNvSpPr/>
          <p:nvPr/>
        </p:nvSpPr>
        <p:spPr>
          <a:xfrm>
            <a:off x="7452360" y="406908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8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200 min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7726680" y="4937760"/>
            <a:ext cx="3611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d'attente pour Nearest Shovel et Shortest Path en surcharge : les heuristiques myopes s'effondrent, validant la problématique du mémoire.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— convergence des agents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72237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pic>
        <p:nvPicPr>
          <p:cNvPr id="7" name="Image 0" descr="img/learning_curves_deeprl_no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676656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029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de DQN et PPO — scénario nominal (productivité lissée, 2 M steps)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92440" y="13716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02752" y="1481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Tabulaires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302752" y="18288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(off-policy) converge à 175 vs 145 pour SARSA (+20 %) : l'estimation de l'action optimale l'emporte.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92440" y="306324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02752" y="31729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RL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302752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et PPO plafonnent ≈ 4 000 t/h en nominal ; DQN plus stable en surcharge (σ = 65 vs 350).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92440" y="475488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02752" y="48646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Comportement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302752" y="5212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concentre 80 % de ses choix sur 2 actions ; PPO répartit sur les 7 — politique plus diversifiée.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4360" y="6235426"/>
            <a:ext cx="11018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 Q-Learning → SARSA → DQN → PPO confirme empiriquement les prédictions théoriques.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statistique de l'hypothèse H1</a:t>
            </a:r>
            <a:endParaRPr lang="en-US" sz="3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11018520" cy="3108960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Comparaison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vs Fixed (nominal)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6,36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 × 10⁻⁶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significativement supérieur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 vs Fixed (high_breakdown)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5,86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 × 10⁻⁵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 significativement supérieur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 — 8 méthodes (3 scénarios)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F(7,72) ≥ 299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10⁻⁵⁰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Différences globales significatives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Carburant : DQN/PPO vs Fixed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−10,0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2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Gains de −4,4 % à −7,8 % L/t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892040"/>
            <a:ext cx="11018520" cy="1371600"/>
          </a:xfrm>
          <a:prstGeom prst="roundRect">
            <a:avLst>
              <a:gd name="adj" fmla="val 5333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5074920"/>
            <a:ext cx="10469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validée dans 2 scénarios sur 3 </a:t>
            </a:r>
            <a:r>
              <a:rPr lang="en-US" sz="14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(nominal et high_breakdown). En surcharge, la rigidité de Fixed Assignment devient un avantage structurel — le RL n'est pas universellement supérieur, mais décisif dans les contextes dynamiques et perturbés des mines réelles.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du travail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11018520" cy="1325880"/>
          </a:xfrm>
          <a:prstGeom prst="roundRect">
            <a:avLst>
              <a:gd name="adj" fmla="val 551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55648"/>
            <a:ext cx="566928" cy="566928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27632" y="148132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Non-généralisation entre flottes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27632" y="186537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entraîné sur 12 camions (147 dimensions) ne peut pas être déployé directement sur 18 camions : tout changement de flotte impose un réentraînement complet.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09560" y="1536192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B854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609344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3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transfer learning et architectures à taille variable (attention, GNN)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852928"/>
            <a:ext cx="11018520" cy="1325880"/>
          </a:xfrm>
          <a:prstGeom prst="roundRect">
            <a:avLst>
              <a:gd name="adj" fmla="val 551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3236976"/>
            <a:ext cx="566928" cy="566928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236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27632" y="296265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Dispatching séquentiel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627632" y="334670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affecte un camion à la fois — une approximation tractable du problème d'affectation global, qui serait de complexité combinatoire exponentielle.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09560" y="301752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B854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30906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3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Multi-Agent RL, où chaque camion devient un agent décisionnel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334256"/>
            <a:ext cx="11018520" cy="1325880"/>
          </a:xfrm>
          <a:prstGeom prst="roundRect">
            <a:avLst>
              <a:gd name="adj" fmla="val 5517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718304"/>
            <a:ext cx="566928" cy="566928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718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627632" y="444398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en simulation seulement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627632" y="482803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paramètres réels comme la météo, le comportement des opérateurs ou les pannes d'infrastructure n'ont pas été modélisés.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09560" y="4498848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B854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45720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3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partenariat avec une mine réelle pour une validation terrain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5943600"/>
            <a:ext cx="11018520" cy="685800"/>
          </a:xfrm>
          <a:prstGeom prst="roundRect">
            <a:avLst>
              <a:gd name="adj" fmla="val 10667"/>
            </a:avLst>
          </a:prstGeom>
          <a:solidFill>
            <a:srgbClr val="26221E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94360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E88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limites délimitent le domaine de validité des résultats — elles ne les remettent pas en cause.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62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— quatre contributions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332E29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719072"/>
            <a:ext cx="502920" cy="50292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8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Simulateur réaliste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Gymnasium reproductible : graphe pondéré 7 nœuds, trajets log-normaux, pannes, dégradation des routes.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332E29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1719072"/>
            <a:ext cx="502920" cy="50292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3232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8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 algorithmique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23317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Q-Learning, SARSA, DQN et PPO implémentés et calibrés — chaque transition justifiée par les limites de la précédente.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56616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332E29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822192"/>
            <a:ext cx="502920" cy="50292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3840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8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à 8 stratégies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60120" y="44348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heuristiques industrielles vs 4 agents RL, 3 scénarios, 10 réplications : résultats statistiquement robustes.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332E29"/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3822192"/>
            <a:ext cx="502920" cy="50292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132320" y="3840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8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de la récompense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492240" y="44348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du signal non discriminant et ajout du terme d'attente (w₄ = 0,3) : le reward shaping rendu effectif.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8978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9B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Deep RL constitue une approche compétitive et prometteuse pour le dispatching minier dynamique.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320040"/>
            <a:ext cx="713232" cy="713232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62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7498080" cy="1024128"/>
          </a:xfrm>
          <a:prstGeom prst="roundRect">
            <a:avLst>
              <a:gd name="adj" fmla="val 7143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73352"/>
            <a:ext cx="502920" cy="50292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508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Apprentissage multi-agent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508760" y="1874520"/>
            <a:ext cx="6446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camion devient un agent autonome (MARL, entraînement centralisé / exécution décentralisée) — vers une optimisation réellement holistique.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587752"/>
            <a:ext cx="7498080" cy="1024128"/>
          </a:xfrm>
          <a:prstGeom prst="roundRect">
            <a:avLst>
              <a:gd name="adj" fmla="val 7143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843784"/>
            <a:ext cx="502920" cy="50292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43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26791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Généralisation par transfer learning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508760" y="3044952"/>
            <a:ext cx="6446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à taille variable </a:t>
            </a:r>
            <a:r>
              <a:rPr lang="en-US" sz="110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(attention(GAT), </a:t>
            </a:r>
            <a:r>
              <a:rPr lang="en-US" sz="11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GNN) pour déployer un modèle unique sur des flottes différentes sans réentraînement.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758184"/>
            <a:ext cx="7498080" cy="1024128"/>
          </a:xfrm>
          <a:prstGeom prst="roundRect">
            <a:avLst>
              <a:gd name="adj" fmla="val 7143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014216"/>
            <a:ext cx="502920" cy="50292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8496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sur données terrain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508760" y="4215384"/>
            <a:ext cx="6446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 avec une mine opérationnelle : météo, opérateurs, pannes d'infrastructure — indispensable avant tout déploiement.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4928616"/>
            <a:ext cx="7498080" cy="1024128"/>
          </a:xfrm>
          <a:prstGeom prst="roundRect">
            <a:avLst>
              <a:gd name="adj" fmla="val 7143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5184648"/>
            <a:ext cx="502920" cy="502920"/>
          </a:xfrm>
          <a:prstGeom prst="ellipse">
            <a:avLst/>
          </a:prstGeom>
          <a:solidFill>
            <a:srgbClr val="B8541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08760" y="502005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F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des scénarios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508760" y="5385816"/>
            <a:ext cx="6446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Pannes de pelles, topologies plus complexes, contraintes de qualité du minerai.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66760" y="1417320"/>
            <a:ext cx="3246120" cy="4754880"/>
          </a:xfrm>
          <a:prstGeom prst="roundRect">
            <a:avLst>
              <a:gd name="adj" fmla="val 2254"/>
            </a:avLst>
          </a:prstGeom>
          <a:solidFill>
            <a:srgbClr val="26221E"/>
          </a:solidFill>
          <a:ln/>
        </p:spPr>
      </p:sp>
      <p:sp>
        <p:nvSpPr>
          <p:cNvPr id="27" name="Text 25"/>
          <p:cNvSpPr/>
          <p:nvPr/>
        </p:nvSpPr>
        <p:spPr>
          <a:xfrm>
            <a:off x="8549640" y="16916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88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l'industrie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49640" y="21945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 + RL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8595360" y="3108960"/>
            <a:ext cx="2788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D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couche d'intelligence additionnelle au-dessus des systèmes existants : module de recommandation d'affectation à chaque cycle camion, sans remplacer l'infrastructure.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62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4" y="1234440"/>
            <a:ext cx="1298448" cy="13533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img/logoud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289304"/>
            <a:ext cx="1170432" cy="1243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7180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88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aux questions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57607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MUPASA KALUNGA Jean-Luc — Master Data Science, Supply Chain — UDBL, Juillet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2161</Words>
  <Application>Microsoft Office PowerPoint</Application>
  <PresentationFormat>Grand écran</PresentationFormat>
  <Paragraphs>319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Jean-Luc Mupasa</cp:lastModifiedBy>
  <cp:revision>16</cp:revision>
  <dcterms:created xsi:type="dcterms:W3CDTF">2026-07-15T06:31:37Z</dcterms:created>
  <dcterms:modified xsi:type="dcterms:W3CDTF">2026-07-17T07:47:12Z</dcterms:modified>
</cp:coreProperties>
</file>